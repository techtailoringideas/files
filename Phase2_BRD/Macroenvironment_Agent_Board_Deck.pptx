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session: explain what the Macroenvironment Agent will do, what it will not do, and how it guarantees that every number is official and traceable, so the Board can authorise the architecture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Board remembers one thing: the agent reports official figures, it does not create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with the Board: we are not claiming zero error in the absolute. We are claiming the design gives numbers only one route into a document, and every route is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Valuations and financial models are out of scope here because they belong to Phases 3 and 4, which will use the Key Indicators Database as their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image" Target="../media/image-14-16.png"/><Relationship Id="rId17" Type="http://schemas.openxmlformats.org/officeDocument/2006/relationships/slideLayout" Target="../slideLayouts/slideLayout1.xml"/><Relationship Id="rId1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43B"/>
        </a:solidFill>
      </p:bgPr>
    </p:bg>
    <p:spTree>
      <p:nvGrpSpPr>
        <p:cNvPr id="1" name=""/>
        <p:cNvGrpSpPr/>
        <p:nvPr/>
      </p:nvGrpSpPr>
      <p:grpSpPr>
        <a:xfrm>
          <a:off x="0" y="0"/>
          <a:ext cx="0" cy="0"/>
          <a:chOff x="0" y="0"/>
          <a:chExt cx="0" cy="0"/>
        </a:xfrm>
      </p:grpSpPr>
      <p:sp>
        <p:nvSpPr>
          <p:cNvPr id="2" name="Shape 0"/>
          <p:cNvSpPr/>
          <p:nvPr/>
        </p:nvSpPr>
        <p:spPr>
          <a:xfrm>
            <a:off x="8138160" y="1097280"/>
            <a:ext cx="4937760" cy="4937760"/>
          </a:xfrm>
          <a:prstGeom prst="ellipse">
            <a:avLst/>
          </a:prstGeom>
          <a:solidFill>
            <a:srgbClr val="18444C"/>
          </a:solidFill>
          <a:ln w="12700">
            <a:solidFill>
              <a:srgbClr val="18444C"/>
            </a:solidFill>
            <a:prstDash val="solid"/>
          </a:ln>
        </p:spPr>
      </p:sp>
      <p:sp>
        <p:nvSpPr>
          <p:cNvPr id="3" name="Shape 1"/>
          <p:cNvSpPr/>
          <p:nvPr/>
        </p:nvSpPr>
        <p:spPr>
          <a:xfrm>
            <a:off x="9052560" y="2011680"/>
            <a:ext cx="3108960" cy="3108960"/>
          </a:xfrm>
          <a:prstGeom prst="ellipse">
            <a:avLst/>
          </a:prstGeom>
          <a:solidFill>
            <a:srgbClr val="1D525B"/>
          </a:solidFill>
          <a:ln w="12700">
            <a:solidFill>
              <a:srgbClr val="1D525B"/>
            </a:solidFill>
            <a:prstDash val="solid"/>
          </a:ln>
        </p:spPr>
      </p:sp>
      <p:pic>
        <p:nvPicPr>
          <p:cNvPr id="4" name="Image 0" descr="preencoded.png">    </p:cNvPr>
          <p:cNvPicPr>
            <a:picLocks noChangeAspect="1"/>
          </p:cNvPicPr>
          <p:nvPr/>
        </p:nvPicPr>
        <p:blipFill>
          <a:blip r:embed="rId1">
            <a:alphaModFix amt="90000"/>
          </a:blip>
          <a:stretch>
            <a:fillRect/>
          </a:stretch>
        </p:blipFill>
        <p:spPr>
          <a:xfrm>
            <a:off x="9921240" y="2880360"/>
            <a:ext cx="1371600" cy="1371600"/>
          </a:xfrm>
          <a:prstGeom prst="rect">
            <a:avLst/>
          </a:prstGeom>
        </p:spPr>
      </p:pic>
      <p:sp>
        <p:nvSpPr>
          <p:cNvPr id="5" name="Text 2"/>
          <p:cNvSpPr txBox="1"/>
          <p:nvPr/>
        </p:nvSpPr>
        <p:spPr>
          <a:xfrm>
            <a:off x="640080" y="1417320"/>
            <a:ext cx="7315200" cy="320040"/>
          </a:xfrm>
          <a:prstGeom prst="rect">
            <a:avLst/>
          </a:prstGeom>
          <a:noFill/>
          <a:ln/>
        </p:spPr>
        <p:txBody>
          <a:bodyPr wrap="square" lIns="0" tIns="0" rIns="0" bIns="0" rtlCol="0" anchor="t"/>
          <a:lstStyle/>
          <a:p>
            <a:pPr indent="0" marL="0">
              <a:buNone/>
            </a:pPr>
            <a:r>
              <a:rPr lang="en-US" sz="1300" b="1" spc="300" kern="0" dirty="0">
                <a:solidFill>
                  <a:srgbClr val="E2B863"/>
                </a:solidFill>
                <a:latin typeface="Calibri" pitchFamily="34" charset="0"/>
                <a:ea typeface="Calibri" pitchFamily="34" charset="-122"/>
                <a:cs typeface="Calibri" pitchFamily="34" charset="-120"/>
              </a:rPr>
              <a:t>DISCOVERY &amp; STRATEGIC DEFINITION PHASE</a:t>
            </a:r>
            <a:endParaRPr lang="en-US" sz="1300" dirty="0"/>
          </a:p>
        </p:txBody>
      </p:sp>
      <p:sp>
        <p:nvSpPr>
          <p:cNvPr id="6" name="Text 3"/>
          <p:cNvSpPr txBox="1"/>
          <p:nvPr/>
        </p:nvSpPr>
        <p:spPr>
          <a:xfrm>
            <a:off x="640080" y="1874520"/>
            <a:ext cx="7680960" cy="100584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Macroenvironment Agent</a:t>
            </a:r>
            <a:endParaRPr lang="en-US" sz="4800" dirty="0"/>
          </a:p>
        </p:txBody>
      </p:sp>
      <p:sp>
        <p:nvSpPr>
          <p:cNvPr id="7" name="Text 4"/>
          <p:cNvSpPr txBox="1"/>
          <p:nvPr/>
        </p:nvSpPr>
        <p:spPr>
          <a:xfrm>
            <a:off x="640080" y="2834640"/>
            <a:ext cx="7315200" cy="548640"/>
          </a:xfrm>
          <a:prstGeom prst="rect">
            <a:avLst/>
          </a:prstGeom>
          <a:noFill/>
          <a:ln/>
        </p:spPr>
        <p:txBody>
          <a:bodyPr wrap="square" lIns="0" tIns="0" rIns="0" bIns="0" rtlCol="0" anchor="t"/>
          <a:lstStyle/>
          <a:p>
            <a:pPr indent="0" marL="0">
              <a:buNone/>
            </a:pPr>
            <a:r>
              <a:rPr lang="en-US" sz="2600" dirty="0">
                <a:solidFill>
                  <a:srgbClr val="CFE3E2"/>
                </a:solidFill>
                <a:latin typeface="Calibri" pitchFamily="34" charset="0"/>
                <a:ea typeface="Calibri" pitchFamily="34" charset="-122"/>
                <a:cs typeface="Calibri" pitchFamily="34" charset="-120"/>
              </a:rPr>
              <a:t>Economic Study</a:t>
            </a:r>
            <a:endParaRPr lang="en-US" sz="2600" dirty="0"/>
          </a:p>
        </p:txBody>
      </p:sp>
      <p:sp>
        <p:nvSpPr>
          <p:cNvPr id="8" name="Text 5"/>
          <p:cNvSpPr txBox="1"/>
          <p:nvPr/>
        </p:nvSpPr>
        <p:spPr>
          <a:xfrm>
            <a:off x="640080" y="3749040"/>
            <a:ext cx="6949440" cy="73152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Business requirements for Board review: value, scope and how it works</a:t>
            </a:r>
            <a:endParaRPr lang="en-US" sz="1700" dirty="0"/>
          </a:p>
        </p:txBody>
      </p:sp>
      <p:sp>
        <p:nvSpPr>
          <p:cNvPr id="9" name="Text 6"/>
          <p:cNvSpPr txBox="1"/>
          <p:nvPr/>
        </p:nvSpPr>
        <p:spPr>
          <a:xfrm>
            <a:off x="640080" y="5760720"/>
            <a:ext cx="7315200" cy="320040"/>
          </a:xfrm>
          <a:prstGeom prst="rect">
            <a:avLst/>
          </a:prstGeom>
          <a:noFill/>
          <a:ln/>
        </p:spPr>
        <p:txBody>
          <a:bodyPr wrap="square" lIns="0" tIns="0" rIns="0" bIns="0" rtlCol="0" anchor="t"/>
          <a:lstStyle/>
          <a:p>
            <a:pPr indent="0" marL="0">
              <a:buNone/>
            </a:pPr>
            <a:r>
              <a:rPr lang="en-US" sz="1200" dirty="0">
                <a:solidFill>
                  <a:srgbClr val="8FB3B2"/>
                </a:solidFill>
                <a:latin typeface="Calibri" pitchFamily="34" charset="0"/>
                <a:ea typeface="Calibri" pitchFamily="34" charset="-122"/>
                <a:cs typeface="Calibri" pitchFamily="34" charset="-120"/>
              </a:rPr>
              <a:t>Version 1.0  ·  September 2026  ·  Draft for approval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11094415" cy="685800"/>
          </a:xfrm>
          <a:prstGeom prst="rect">
            <a:avLst/>
          </a:prstGeom>
          <a:noFill/>
          <a:ln/>
        </p:spPr>
        <p:txBody>
          <a:bodyPr wrap="square" lIns="0" tIns="0" rIns="0" bIns="0" rtlCol="0" anchor="ctr"/>
          <a:lstStyle/>
          <a:p>
            <a:pPr indent="0" marL="0">
              <a:buNone/>
            </a:pPr>
            <a:r>
              <a:rPr lang="en-US" sz="3000" b="1" dirty="0">
                <a:solidFill>
                  <a:srgbClr val="12343B"/>
                </a:solidFill>
                <a:latin typeface="Cambria" pitchFamily="34" charset="0"/>
                <a:ea typeface="Cambria" pitchFamily="34" charset="-122"/>
                <a:cs typeface="Cambria" pitchFamily="34" charset="-120"/>
              </a:rPr>
              <a:t>The agent at a glance</a:t>
            </a:r>
            <a:endParaRPr lang="en-US" sz="3000" dirty="0"/>
          </a:p>
        </p:txBody>
      </p:sp>
      <p:sp>
        <p:nvSpPr>
          <p:cNvPr id="3" name="Text 1"/>
          <p:cNvSpPr txBox="1"/>
          <p:nvPr/>
        </p:nvSpPr>
        <p:spPr>
          <a:xfrm>
            <a:off x="548640" y="1069848"/>
            <a:ext cx="11094415" cy="411480"/>
          </a:xfrm>
          <a:prstGeom prst="rect">
            <a:avLst/>
          </a:prstGeom>
          <a:noFill/>
          <a:ln/>
        </p:spPr>
        <p:txBody>
          <a:bodyPr wrap="square" lIns="0" tIns="0" rIns="0" bIns="0" rtlCol="0" anchor="t"/>
          <a:lstStyle/>
          <a:p>
            <a:pPr indent="0" marL="0">
              <a:buNone/>
            </a:pPr>
            <a:r>
              <a:rPr lang="en-US" sz="1500" dirty="0">
                <a:solidFill>
                  <a:srgbClr val="5B6770"/>
                </a:solidFill>
                <a:latin typeface="Calibri" pitchFamily="34" charset="0"/>
                <a:ea typeface="Calibri" pitchFamily="34" charset="-122"/>
                <a:cs typeface="Calibri" pitchFamily="34" charset="-120"/>
              </a:rPr>
              <a:t>A country economic study, built from official figures, in three consistent documents</a:t>
            </a:r>
            <a:endParaRPr lang="en-US" sz="1500" dirty="0"/>
          </a:p>
        </p:txBody>
      </p:sp>
      <p:sp>
        <p:nvSpPr>
          <p:cNvPr id="4" name="Text 2"/>
          <p:cNvSpPr txBox="1"/>
          <p:nvPr/>
        </p:nvSpPr>
        <p:spPr>
          <a:xfrm>
            <a:off x="548640" y="1783080"/>
            <a:ext cx="5120640" cy="3108960"/>
          </a:xfrm>
          <a:prstGeom prst="rect">
            <a:avLst/>
          </a:prstGeom>
          <a:noFill/>
          <a:ln/>
        </p:spPr>
        <p:txBody>
          <a:bodyPr wrap="square" lIns="0" tIns="0" rIns="0" bIns="0" rtlCol="0" anchor="t"/>
          <a:lstStyle/>
          <a:p>
            <a:pPr indent="0" marL="0">
              <a:lnSpc>
                <a:spcPct val="110000"/>
              </a:lnSpc>
              <a:buNone/>
            </a:pPr>
            <a:r>
              <a:rPr lang="en-US" sz="1500" b="1" dirty="0">
                <a:solidFill>
                  <a:srgbClr val="1F7A7A"/>
                </a:solidFill>
                <a:latin typeface="Calibri" pitchFamily="34" charset="0"/>
                <a:ea typeface="Calibri" pitchFamily="34" charset="-122"/>
                <a:cs typeface="Calibri" pitchFamily="34" charset="-120"/>
              </a:rPr>
              <a:t>What it does</a:t>
            </a:r>
            <a:endParaRPr lang="en-US" sz="1500" dirty="0"/>
          </a:p>
          <a:p>
            <a:pPr indent="0" marL="0">
              <a:lnSpc>
                <a:spcPct val="110000"/>
              </a:lnSpc>
              <a:buNone/>
            </a:pPr>
            <a:r>
              <a:rPr lang="en-US" sz="1600" dirty="0">
                <a:solidFill>
                  <a:srgbClr val="1E2A30"/>
                </a:solidFill>
                <a:latin typeface="Calibri" pitchFamily="34" charset="0"/>
                <a:ea typeface="Calibri" pitchFamily="34" charset="-122"/>
                <a:cs typeface="Calibri" pitchFamily="34" charset="-120"/>
              </a:rPr>
              <a:t>A client tells us the country, currency, sector and time period they care about. The agent collects the official economic figures for that country, checks them, and produces a written outlook, a risk and opportunities plan, and a clean data file for our financial models.</a:t>
            </a:r>
            <a:endParaRPr lang="en-US" sz="1500" dirty="0"/>
          </a:p>
          <a:p>
            <a:pPr indent="0" marL="0">
              <a:lnSpc>
                <a:spcPct val="110000"/>
              </a:lnSpc>
              <a:buNone/>
            </a:pPr>
            <a:r>
              <a:rPr lang="en-US" sz="1000" dirty="0">
                <a:solidFill>
                  <a:srgbClr val="1E2A30"/>
                </a:solidFill>
                <a:latin typeface="Calibri" pitchFamily="34" charset="0"/>
                <a:ea typeface="Calibri" pitchFamily="34" charset="-122"/>
                <a:cs typeface="Calibri" pitchFamily="34" charset="-120"/>
              </a:rPr>
              <a:t> </a:t>
            </a:r>
            <a:endParaRPr lang="en-US" sz="1500" dirty="0"/>
          </a:p>
          <a:p>
            <a:pPr indent="0" marL="0">
              <a:lnSpc>
                <a:spcPct val="110000"/>
              </a:lnSpc>
              <a:buNone/>
            </a:pPr>
            <a:r>
              <a:rPr lang="en-US" sz="1500" b="1" dirty="0">
                <a:solidFill>
                  <a:srgbClr val="1F7A7A"/>
                </a:solidFill>
                <a:latin typeface="Calibri" pitchFamily="34" charset="0"/>
                <a:ea typeface="Calibri" pitchFamily="34" charset="-122"/>
                <a:cs typeface="Calibri" pitchFamily="34" charset="-120"/>
              </a:rPr>
              <a:t>Why it matters</a:t>
            </a:r>
            <a:endParaRPr lang="en-US" sz="1500" dirty="0"/>
          </a:p>
          <a:p>
            <a:pPr indent="0" marL="0">
              <a:lnSpc>
                <a:spcPct val="110000"/>
              </a:lnSpc>
              <a:buNone/>
            </a:pPr>
            <a:r>
              <a:rPr lang="en-US" sz="1600" dirty="0">
                <a:solidFill>
                  <a:srgbClr val="1E2A30"/>
                </a:solidFill>
                <a:latin typeface="Calibri" pitchFamily="34" charset="0"/>
                <a:ea typeface="Calibri" pitchFamily="34" charset="-122"/>
                <a:cs typeface="Calibri" pitchFamily="34" charset="-120"/>
              </a:rPr>
              <a:t>Faster studies, one consistent set of numbers across every document, and a source on record for each figure.</a:t>
            </a:r>
            <a:endParaRPr lang="en-US" sz="1500" dirty="0"/>
          </a:p>
        </p:txBody>
      </p:sp>
      <p:sp>
        <p:nvSpPr>
          <p:cNvPr id="5" name="Shape 3"/>
          <p:cNvSpPr/>
          <p:nvPr/>
        </p:nvSpPr>
        <p:spPr>
          <a:xfrm>
            <a:off x="6172200" y="1783080"/>
            <a:ext cx="2606040" cy="1417320"/>
          </a:xfrm>
          <a:prstGeom prst="roundRect">
            <a:avLst>
              <a:gd name="adj" fmla="val 5161"/>
            </a:avLst>
          </a:prstGeom>
          <a:solidFill>
            <a:srgbClr val="EFF6F5"/>
          </a:solidFill>
          <a:ln w="12700">
            <a:solidFill>
              <a:srgbClr val="EFF6F5"/>
            </a:solidFill>
            <a:prstDash val="solid"/>
          </a:ln>
        </p:spPr>
      </p:sp>
      <p:sp>
        <p:nvSpPr>
          <p:cNvPr id="6" name="Text 4"/>
          <p:cNvSpPr txBox="1"/>
          <p:nvPr/>
        </p:nvSpPr>
        <p:spPr>
          <a:xfrm>
            <a:off x="6172200" y="1920240"/>
            <a:ext cx="2606040" cy="731520"/>
          </a:xfrm>
          <a:prstGeom prst="rect">
            <a:avLst/>
          </a:prstGeom>
          <a:noFill/>
          <a:ln/>
        </p:spPr>
        <p:txBody>
          <a:bodyPr wrap="square" lIns="0" tIns="0" rIns="0" bIns="0" rtlCol="0" anchor="ctr"/>
          <a:lstStyle/>
          <a:p>
            <a:pPr algn="ctr" indent="0" marL="0">
              <a:buNone/>
            </a:pPr>
            <a:r>
              <a:rPr lang="en-US" sz="4000" b="1" dirty="0">
                <a:solidFill>
                  <a:srgbClr val="B8862B"/>
                </a:solidFill>
                <a:latin typeface="Cambria" pitchFamily="34" charset="0"/>
                <a:ea typeface="Cambria" pitchFamily="34" charset="-122"/>
                <a:cs typeface="Cambria" pitchFamily="34" charset="-120"/>
              </a:rPr>
              <a:t>3</a:t>
            </a:r>
            <a:endParaRPr lang="en-US" sz="4000" dirty="0"/>
          </a:p>
        </p:txBody>
      </p:sp>
      <p:sp>
        <p:nvSpPr>
          <p:cNvPr id="7" name="Text 5"/>
          <p:cNvSpPr txBox="1"/>
          <p:nvPr/>
        </p:nvSpPr>
        <p:spPr>
          <a:xfrm>
            <a:off x="6355080" y="2651760"/>
            <a:ext cx="2240280" cy="411480"/>
          </a:xfrm>
          <a:prstGeom prst="rect">
            <a:avLst/>
          </a:prstGeom>
          <a:noFill/>
          <a:ln/>
        </p:spPr>
        <p:txBody>
          <a:bodyPr wrap="square" lIns="0" tIns="0" rIns="0" bIns="0" rtlCol="0" anchor="t"/>
          <a:lstStyle/>
          <a:p>
            <a:pPr algn="ctr" indent="0" marL="0">
              <a:buNone/>
            </a:pPr>
            <a:r>
              <a:rPr lang="en-US" sz="1300" dirty="0">
                <a:solidFill>
                  <a:srgbClr val="12343B"/>
                </a:solidFill>
                <a:latin typeface="Calibri" pitchFamily="34" charset="0"/>
                <a:ea typeface="Calibri" pitchFamily="34" charset="-122"/>
                <a:cs typeface="Calibri" pitchFamily="34" charset="-120"/>
              </a:rPr>
              <a:t>deliverables from one request</a:t>
            </a:r>
            <a:endParaRPr lang="en-US" sz="1300" dirty="0"/>
          </a:p>
        </p:txBody>
      </p:sp>
      <p:sp>
        <p:nvSpPr>
          <p:cNvPr id="8" name="Shape 6"/>
          <p:cNvSpPr/>
          <p:nvPr/>
        </p:nvSpPr>
        <p:spPr>
          <a:xfrm>
            <a:off x="8961120" y="1783080"/>
            <a:ext cx="2606040" cy="1417320"/>
          </a:xfrm>
          <a:prstGeom prst="roundRect">
            <a:avLst>
              <a:gd name="adj" fmla="val 5161"/>
            </a:avLst>
          </a:prstGeom>
          <a:solidFill>
            <a:srgbClr val="EFF6F5"/>
          </a:solidFill>
          <a:ln w="12700">
            <a:solidFill>
              <a:srgbClr val="EFF6F5"/>
            </a:solidFill>
            <a:prstDash val="solid"/>
          </a:ln>
        </p:spPr>
      </p:sp>
      <p:sp>
        <p:nvSpPr>
          <p:cNvPr id="9" name="Text 7"/>
          <p:cNvSpPr txBox="1"/>
          <p:nvPr/>
        </p:nvSpPr>
        <p:spPr>
          <a:xfrm>
            <a:off x="8961120" y="1920240"/>
            <a:ext cx="2606040" cy="731520"/>
          </a:xfrm>
          <a:prstGeom prst="rect">
            <a:avLst/>
          </a:prstGeom>
          <a:noFill/>
          <a:ln/>
        </p:spPr>
        <p:txBody>
          <a:bodyPr wrap="square" lIns="0" tIns="0" rIns="0" bIns="0" rtlCol="0" anchor="ctr"/>
          <a:lstStyle/>
          <a:p>
            <a:pPr algn="ctr" indent="0" marL="0">
              <a:buNone/>
            </a:pPr>
            <a:r>
              <a:rPr lang="en-US" sz="4000" b="1" dirty="0">
                <a:solidFill>
                  <a:srgbClr val="B8862B"/>
                </a:solidFill>
                <a:latin typeface="Cambria" pitchFamily="34" charset="0"/>
                <a:ea typeface="Cambria" pitchFamily="34" charset="-122"/>
                <a:cs typeface="Cambria" pitchFamily="34" charset="-120"/>
              </a:rPr>
              <a:t>4</a:t>
            </a:r>
            <a:endParaRPr lang="en-US" sz="4000" dirty="0"/>
          </a:p>
        </p:txBody>
      </p:sp>
      <p:sp>
        <p:nvSpPr>
          <p:cNvPr id="10" name="Text 8"/>
          <p:cNvSpPr txBox="1"/>
          <p:nvPr/>
        </p:nvSpPr>
        <p:spPr>
          <a:xfrm>
            <a:off x="9144000" y="2651760"/>
            <a:ext cx="2240280" cy="411480"/>
          </a:xfrm>
          <a:prstGeom prst="rect">
            <a:avLst/>
          </a:prstGeom>
          <a:noFill/>
          <a:ln/>
        </p:spPr>
        <p:txBody>
          <a:bodyPr wrap="square" lIns="0" tIns="0" rIns="0" bIns="0" rtlCol="0" anchor="t"/>
          <a:lstStyle/>
          <a:p>
            <a:pPr algn="ctr" indent="0" marL="0">
              <a:buNone/>
            </a:pPr>
            <a:r>
              <a:rPr lang="en-US" sz="1300" dirty="0">
                <a:solidFill>
                  <a:srgbClr val="12343B"/>
                </a:solidFill>
                <a:latin typeface="Calibri" pitchFamily="34" charset="0"/>
                <a:ea typeface="Calibri" pitchFamily="34" charset="-122"/>
                <a:cs typeface="Calibri" pitchFamily="34" charset="-120"/>
              </a:rPr>
              <a:t>mandatory client inputs</a:t>
            </a:r>
            <a:endParaRPr lang="en-US" sz="1300" dirty="0"/>
          </a:p>
        </p:txBody>
      </p:sp>
      <p:sp>
        <p:nvSpPr>
          <p:cNvPr id="11" name="Shape 9"/>
          <p:cNvSpPr/>
          <p:nvPr/>
        </p:nvSpPr>
        <p:spPr>
          <a:xfrm>
            <a:off x="6172200" y="3383280"/>
            <a:ext cx="2606040" cy="1417320"/>
          </a:xfrm>
          <a:prstGeom prst="roundRect">
            <a:avLst>
              <a:gd name="adj" fmla="val 5161"/>
            </a:avLst>
          </a:prstGeom>
          <a:solidFill>
            <a:srgbClr val="EFF6F5"/>
          </a:solidFill>
          <a:ln w="12700">
            <a:solidFill>
              <a:srgbClr val="EFF6F5"/>
            </a:solidFill>
            <a:prstDash val="solid"/>
          </a:ln>
        </p:spPr>
      </p:sp>
      <p:sp>
        <p:nvSpPr>
          <p:cNvPr id="12" name="Text 10"/>
          <p:cNvSpPr txBox="1"/>
          <p:nvPr/>
        </p:nvSpPr>
        <p:spPr>
          <a:xfrm>
            <a:off x="6172200" y="3520440"/>
            <a:ext cx="2606040" cy="731520"/>
          </a:xfrm>
          <a:prstGeom prst="rect">
            <a:avLst/>
          </a:prstGeom>
          <a:noFill/>
          <a:ln/>
        </p:spPr>
        <p:txBody>
          <a:bodyPr wrap="square" lIns="0" tIns="0" rIns="0" bIns="0" rtlCol="0" anchor="ctr"/>
          <a:lstStyle/>
          <a:p>
            <a:pPr algn="ctr" indent="0" marL="0">
              <a:buNone/>
            </a:pPr>
            <a:r>
              <a:rPr lang="en-US" sz="4000" b="1" dirty="0">
                <a:solidFill>
                  <a:srgbClr val="B8862B"/>
                </a:solidFill>
                <a:latin typeface="Cambria" pitchFamily="34" charset="0"/>
                <a:ea typeface="Cambria" pitchFamily="34" charset="-122"/>
                <a:cs typeface="Cambria" pitchFamily="34" charset="-120"/>
              </a:rPr>
              <a:t>6</a:t>
            </a:r>
            <a:endParaRPr lang="en-US" sz="4000" dirty="0"/>
          </a:p>
        </p:txBody>
      </p:sp>
      <p:sp>
        <p:nvSpPr>
          <p:cNvPr id="13" name="Text 11"/>
          <p:cNvSpPr txBox="1"/>
          <p:nvPr/>
        </p:nvSpPr>
        <p:spPr>
          <a:xfrm>
            <a:off x="6355080" y="4251960"/>
            <a:ext cx="2240280" cy="411480"/>
          </a:xfrm>
          <a:prstGeom prst="rect">
            <a:avLst/>
          </a:prstGeom>
          <a:noFill/>
          <a:ln/>
        </p:spPr>
        <p:txBody>
          <a:bodyPr wrap="square" lIns="0" tIns="0" rIns="0" bIns="0" rtlCol="0" anchor="t"/>
          <a:lstStyle/>
          <a:p>
            <a:pPr algn="ctr" indent="0" marL="0">
              <a:buNone/>
            </a:pPr>
            <a:r>
              <a:rPr lang="en-US" sz="1300" dirty="0">
                <a:solidFill>
                  <a:srgbClr val="12343B"/>
                </a:solidFill>
                <a:latin typeface="Calibri" pitchFamily="34" charset="0"/>
                <a:ea typeface="Calibri" pitchFamily="34" charset="-122"/>
                <a:cs typeface="Calibri" pitchFamily="34" charset="-120"/>
              </a:rPr>
              <a:t>steps from request to release</a:t>
            </a:r>
            <a:endParaRPr lang="en-US" sz="1300" dirty="0"/>
          </a:p>
        </p:txBody>
      </p:sp>
      <p:sp>
        <p:nvSpPr>
          <p:cNvPr id="14" name="Shape 12"/>
          <p:cNvSpPr/>
          <p:nvPr/>
        </p:nvSpPr>
        <p:spPr>
          <a:xfrm>
            <a:off x="8961120" y="3383280"/>
            <a:ext cx="2606040" cy="1417320"/>
          </a:xfrm>
          <a:prstGeom prst="roundRect">
            <a:avLst>
              <a:gd name="adj" fmla="val 5161"/>
            </a:avLst>
          </a:prstGeom>
          <a:solidFill>
            <a:srgbClr val="EFF6F5"/>
          </a:solidFill>
          <a:ln w="12700">
            <a:solidFill>
              <a:srgbClr val="EFF6F5"/>
            </a:solidFill>
            <a:prstDash val="solid"/>
          </a:ln>
        </p:spPr>
      </p:sp>
      <p:sp>
        <p:nvSpPr>
          <p:cNvPr id="15" name="Text 13"/>
          <p:cNvSpPr txBox="1"/>
          <p:nvPr/>
        </p:nvSpPr>
        <p:spPr>
          <a:xfrm>
            <a:off x="8961120" y="3520440"/>
            <a:ext cx="2606040" cy="731520"/>
          </a:xfrm>
          <a:prstGeom prst="rect">
            <a:avLst/>
          </a:prstGeom>
          <a:noFill/>
          <a:ln/>
        </p:spPr>
        <p:txBody>
          <a:bodyPr wrap="square" lIns="0" tIns="0" rIns="0" bIns="0" rtlCol="0" anchor="ctr"/>
          <a:lstStyle/>
          <a:p>
            <a:pPr algn="ctr" indent="0" marL="0">
              <a:buNone/>
            </a:pPr>
            <a:r>
              <a:rPr lang="en-US" sz="4000" b="1" dirty="0">
                <a:solidFill>
                  <a:srgbClr val="B8862B"/>
                </a:solidFill>
                <a:latin typeface="Cambria" pitchFamily="34" charset="0"/>
                <a:ea typeface="Cambria" pitchFamily="34" charset="-122"/>
                <a:cs typeface="Cambria" pitchFamily="34" charset="-120"/>
              </a:rPr>
              <a:t>100%</a:t>
            </a:r>
            <a:endParaRPr lang="en-US" sz="4000" dirty="0"/>
          </a:p>
        </p:txBody>
      </p:sp>
      <p:sp>
        <p:nvSpPr>
          <p:cNvPr id="16" name="Text 14"/>
          <p:cNvSpPr txBox="1"/>
          <p:nvPr/>
        </p:nvSpPr>
        <p:spPr>
          <a:xfrm>
            <a:off x="9144000" y="4251960"/>
            <a:ext cx="2240280" cy="411480"/>
          </a:xfrm>
          <a:prstGeom prst="rect">
            <a:avLst/>
          </a:prstGeom>
          <a:noFill/>
          <a:ln/>
        </p:spPr>
        <p:txBody>
          <a:bodyPr wrap="square" lIns="0" tIns="0" rIns="0" bIns="0" rtlCol="0" anchor="t"/>
          <a:lstStyle/>
          <a:p>
            <a:pPr algn="ctr" indent="0" marL="0">
              <a:buNone/>
            </a:pPr>
            <a:r>
              <a:rPr lang="en-US" sz="1300" dirty="0">
                <a:solidFill>
                  <a:srgbClr val="12343B"/>
                </a:solidFill>
                <a:latin typeface="Calibri" pitchFamily="34" charset="0"/>
                <a:ea typeface="Calibri" pitchFamily="34" charset="-122"/>
                <a:cs typeface="Calibri" pitchFamily="34" charset="-120"/>
              </a:rPr>
              <a:t>of figures show source and date</a:t>
            </a:r>
            <a:endParaRPr lang="en-US" sz="1300" dirty="0"/>
          </a:p>
        </p:txBody>
      </p:sp>
      <p:sp>
        <p:nvSpPr>
          <p:cNvPr id="17" name="Shape 15"/>
          <p:cNvSpPr/>
          <p:nvPr/>
        </p:nvSpPr>
        <p:spPr>
          <a:xfrm>
            <a:off x="548640" y="5257800"/>
            <a:ext cx="11094415" cy="868680"/>
          </a:xfrm>
          <a:prstGeom prst="roundRect">
            <a:avLst>
              <a:gd name="adj" fmla="val 8421"/>
            </a:avLst>
          </a:prstGeom>
          <a:solidFill>
            <a:srgbClr val="12343B"/>
          </a:solidFill>
          <a:ln w="12700">
            <a:solidFill>
              <a:srgbClr val="12343B"/>
            </a:solidFill>
            <a:prstDash val="solid"/>
          </a:ln>
        </p:spPr>
      </p:sp>
      <p:sp>
        <p:nvSpPr>
          <p:cNvPr id="18" name="Shape 16"/>
          <p:cNvSpPr/>
          <p:nvPr/>
        </p:nvSpPr>
        <p:spPr>
          <a:xfrm>
            <a:off x="777240" y="5422392"/>
            <a:ext cx="548640" cy="548640"/>
          </a:xfrm>
          <a:prstGeom prst="ellipse">
            <a:avLst/>
          </a:prstGeom>
          <a:solidFill>
            <a:srgbClr val="B8862B"/>
          </a:solidFill>
          <a:ln w="12700">
            <a:solidFill>
              <a:srgbClr val="B8862B"/>
            </a:solidFill>
            <a:prstDash val="solid"/>
          </a:ln>
        </p:spPr>
      </p:sp>
      <p:pic>
        <p:nvPicPr>
          <p:cNvPr id="19" name="Image 0" descr="preencoded.png">    </p:cNvPr>
          <p:cNvPicPr>
            <a:picLocks noChangeAspect="1"/>
          </p:cNvPicPr>
          <p:nvPr/>
        </p:nvPicPr>
        <p:blipFill>
          <a:blip r:embed="rId1"/>
          <a:stretch>
            <a:fillRect/>
          </a:stretch>
        </p:blipFill>
        <p:spPr>
          <a:xfrm>
            <a:off x="919886" y="5565038"/>
            <a:ext cx="263347" cy="263347"/>
          </a:xfrm>
          <a:prstGeom prst="rect">
            <a:avLst/>
          </a:prstGeom>
        </p:spPr>
      </p:pic>
      <p:sp>
        <p:nvSpPr>
          <p:cNvPr id="20" name="Text 17"/>
          <p:cNvSpPr txBox="1"/>
          <p:nvPr/>
        </p:nvSpPr>
        <p:spPr>
          <a:xfrm>
            <a:off x="1554480" y="5257800"/>
            <a:ext cx="9875520" cy="868680"/>
          </a:xfrm>
          <a:prstGeom prst="rect">
            <a:avLst/>
          </a:prstGeom>
          <a:noFill/>
          <a:ln/>
        </p:spPr>
        <p:txBody>
          <a:bodyPr wrap="square" lIns="0" tIns="0" rIns="0" bIns="0" rtlCol="0" anchor="ctr"/>
          <a:lstStyle/>
          <a:p>
            <a:pPr indent="0" marL="0">
              <a:buNone/>
            </a:pPr>
            <a:r>
              <a:rPr lang="en-US" sz="1700" b="1" dirty="0">
                <a:solidFill>
                  <a:srgbClr val="E2B863"/>
                </a:solidFill>
                <a:latin typeface="Calibri" pitchFamily="34" charset="0"/>
                <a:ea typeface="Calibri" pitchFamily="34" charset="-122"/>
                <a:cs typeface="Calibri" pitchFamily="34" charset="-120"/>
              </a:rPr>
              <a:t>One rule above all:  </a:t>
            </a:r>
            <a:pPr indent="0" marL="0">
              <a:buNone/>
            </a:pPr>
            <a:r>
              <a:rPr lang="en-US" sz="1700" dirty="0">
                <a:solidFill>
                  <a:srgbClr val="FFFFFF"/>
                </a:solidFill>
                <a:latin typeface="Calibri" pitchFamily="34" charset="0"/>
                <a:ea typeface="Calibri" pitchFamily="34" charset="-122"/>
                <a:cs typeface="Calibri" pitchFamily="34" charset="-120"/>
              </a:rPr>
              <a:t>the agent does not invent numbers. Every figure comes from an official publisher and keeps its source.</a:t>
            </a:r>
            <a:endParaRPr lang="en-US" sz="1700" dirty="0"/>
          </a:p>
        </p:txBody>
      </p:sp>
      <p:sp>
        <p:nvSpPr>
          <p:cNvPr id="21" name="Text 18"/>
          <p:cNvSpPr txBox="1"/>
          <p:nvPr/>
        </p:nvSpPr>
        <p:spPr>
          <a:xfrm>
            <a:off x="548640" y="6473952"/>
            <a:ext cx="6400800" cy="228600"/>
          </a:xfrm>
          <a:prstGeom prst="rect">
            <a:avLst/>
          </a:prstGeom>
          <a:noFill/>
          <a:ln/>
        </p:spPr>
        <p:txBody>
          <a:bodyPr wrap="square" lIns="0" tIns="0" rIns="0" bIns="0" rtlCol="0" anchor="t"/>
          <a:lstStyle/>
          <a:p>
            <a:pPr indent="0" marL="0">
              <a:buNone/>
            </a:pPr>
            <a:r>
              <a:rPr lang="en-US" sz="900" dirty="0">
                <a:solidFill>
                  <a:srgbClr val="95A1A8"/>
                </a:solidFill>
                <a:latin typeface="Calibri" pitchFamily="34" charset="0"/>
                <a:ea typeface="Calibri" pitchFamily="34" charset="-122"/>
                <a:cs typeface="Calibri" pitchFamily="34" charset="-120"/>
              </a:rPr>
              <a:t>Macroenvironment Agent · Business Requirements · Board review</a:t>
            </a:r>
            <a:endParaRPr lang="en-US" sz="900" dirty="0"/>
          </a:p>
        </p:txBody>
      </p:sp>
      <p:sp>
        <p:nvSpPr>
          <p:cNvPr id="22" name="Text 19"/>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95A1A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11094415" cy="685800"/>
          </a:xfrm>
          <a:prstGeom prst="rect">
            <a:avLst/>
          </a:prstGeom>
          <a:noFill/>
          <a:ln/>
        </p:spPr>
        <p:txBody>
          <a:bodyPr wrap="square" lIns="0" tIns="0" rIns="0" bIns="0" rtlCol="0" anchor="ctr"/>
          <a:lstStyle/>
          <a:p>
            <a:pPr indent="0" marL="0">
              <a:buNone/>
            </a:pPr>
            <a:r>
              <a:rPr lang="en-US" sz="3000" b="1" dirty="0">
                <a:solidFill>
                  <a:srgbClr val="12343B"/>
                </a:solidFill>
                <a:latin typeface="Cambria" pitchFamily="34" charset="0"/>
                <a:ea typeface="Cambria" pitchFamily="34" charset="-122"/>
                <a:cs typeface="Cambria" pitchFamily="34" charset="-120"/>
              </a:rPr>
              <a:t>Why we need it</a:t>
            </a:r>
            <a:endParaRPr lang="en-US" sz="3000" dirty="0"/>
          </a:p>
        </p:txBody>
      </p:sp>
      <p:sp>
        <p:nvSpPr>
          <p:cNvPr id="3" name="Text 1"/>
          <p:cNvSpPr txBox="1"/>
          <p:nvPr/>
        </p:nvSpPr>
        <p:spPr>
          <a:xfrm>
            <a:off x="548640" y="1069848"/>
            <a:ext cx="11094415" cy="411480"/>
          </a:xfrm>
          <a:prstGeom prst="rect">
            <a:avLst/>
          </a:prstGeom>
          <a:noFill/>
          <a:ln/>
        </p:spPr>
        <p:txBody>
          <a:bodyPr wrap="square" lIns="0" tIns="0" rIns="0" bIns="0" rtlCol="0" anchor="t"/>
          <a:lstStyle/>
          <a:p>
            <a:pPr indent="0" marL="0">
              <a:buNone/>
            </a:pPr>
            <a:r>
              <a:rPr lang="en-US" sz="1500" dirty="0">
                <a:solidFill>
                  <a:srgbClr val="5B6770"/>
                </a:solidFill>
                <a:latin typeface="Calibri" pitchFamily="34" charset="0"/>
                <a:ea typeface="Calibri" pitchFamily="34" charset="-122"/>
                <a:cs typeface="Calibri" pitchFamily="34" charset="-120"/>
              </a:rPr>
              <a:t>Manual country studies are slow, and one wrong number damages credibility</a:t>
            </a:r>
            <a:endParaRPr lang="en-US" sz="1500" dirty="0"/>
          </a:p>
        </p:txBody>
      </p:sp>
      <p:sp>
        <p:nvSpPr>
          <p:cNvPr id="4" name="Text 2"/>
          <p:cNvSpPr txBox="1"/>
          <p:nvPr/>
        </p:nvSpPr>
        <p:spPr>
          <a:xfrm>
            <a:off x="1371600" y="1691640"/>
            <a:ext cx="4389120" cy="274320"/>
          </a:xfrm>
          <a:prstGeom prst="rect">
            <a:avLst/>
          </a:prstGeom>
          <a:noFill/>
          <a:ln/>
        </p:spPr>
        <p:txBody>
          <a:bodyPr wrap="square" lIns="0" tIns="0" rIns="0" bIns="0" rtlCol="0" anchor="t"/>
          <a:lstStyle/>
          <a:p>
            <a:pPr indent="0" marL="0">
              <a:buNone/>
            </a:pPr>
            <a:r>
              <a:rPr lang="en-US" sz="1200" b="1" spc="200" kern="0" dirty="0">
                <a:solidFill>
                  <a:srgbClr val="5B6770"/>
                </a:solidFill>
                <a:latin typeface="Calibri" pitchFamily="34" charset="0"/>
                <a:ea typeface="Calibri" pitchFamily="34" charset="-122"/>
                <a:cs typeface="Calibri" pitchFamily="34" charset="-120"/>
              </a:rPr>
              <a:t>TODAY</a:t>
            </a:r>
            <a:endParaRPr lang="en-US" sz="1200" dirty="0"/>
          </a:p>
        </p:txBody>
      </p:sp>
      <p:sp>
        <p:nvSpPr>
          <p:cNvPr id="5" name="Text 3"/>
          <p:cNvSpPr txBox="1"/>
          <p:nvPr/>
        </p:nvSpPr>
        <p:spPr>
          <a:xfrm>
            <a:off x="6720840" y="1691640"/>
            <a:ext cx="4754880" cy="274320"/>
          </a:xfrm>
          <a:prstGeom prst="rect">
            <a:avLst/>
          </a:prstGeom>
          <a:noFill/>
          <a:ln/>
        </p:spPr>
        <p:txBody>
          <a:bodyPr wrap="square" lIns="0" tIns="0" rIns="0" bIns="0" rtlCol="0" anchor="t"/>
          <a:lstStyle/>
          <a:p>
            <a:pPr indent="0" marL="0">
              <a:buNone/>
            </a:pPr>
            <a:r>
              <a:rPr lang="en-US" sz="1200" b="1" spc="200" kern="0" dirty="0">
                <a:solidFill>
                  <a:srgbClr val="1F7A7A"/>
                </a:solidFill>
                <a:latin typeface="Calibri" pitchFamily="34" charset="0"/>
                <a:ea typeface="Calibri" pitchFamily="34" charset="-122"/>
                <a:cs typeface="Calibri" pitchFamily="34" charset="-120"/>
              </a:rPr>
              <a:t>WITH THE AGENT</a:t>
            </a:r>
            <a:endParaRPr lang="en-US" sz="1200" dirty="0"/>
          </a:p>
        </p:txBody>
      </p:sp>
      <p:sp>
        <p:nvSpPr>
          <p:cNvPr id="6" name="Shape 4"/>
          <p:cNvSpPr/>
          <p:nvPr/>
        </p:nvSpPr>
        <p:spPr>
          <a:xfrm>
            <a:off x="548640" y="2112264"/>
            <a:ext cx="566928" cy="566928"/>
          </a:xfrm>
          <a:prstGeom prst="ellipse">
            <a:avLst/>
          </a:prstGeom>
          <a:solidFill>
            <a:srgbClr val="1F7A7A"/>
          </a:solidFill>
          <a:ln w="12700">
            <a:solidFill>
              <a:srgbClr val="1F7A7A"/>
            </a:solidFill>
            <a:prstDash val="solid"/>
          </a:ln>
        </p:spPr>
      </p:sp>
      <p:pic>
        <p:nvPicPr>
          <p:cNvPr id="7" name="Image 0" descr="preencoded.png">    </p:cNvPr>
          <p:cNvPicPr>
            <a:picLocks noChangeAspect="1"/>
          </p:cNvPicPr>
          <p:nvPr/>
        </p:nvPicPr>
        <p:blipFill>
          <a:blip r:embed="rId1"/>
          <a:stretch>
            <a:fillRect/>
          </a:stretch>
        </p:blipFill>
        <p:spPr>
          <a:xfrm>
            <a:off x="696041" y="2259665"/>
            <a:ext cx="272125" cy="272125"/>
          </a:xfrm>
          <a:prstGeom prst="rect">
            <a:avLst/>
          </a:prstGeom>
        </p:spPr>
      </p:pic>
      <p:sp>
        <p:nvSpPr>
          <p:cNvPr id="8" name="Shape 5"/>
          <p:cNvSpPr/>
          <p:nvPr/>
        </p:nvSpPr>
        <p:spPr>
          <a:xfrm>
            <a:off x="1371600" y="2057400"/>
            <a:ext cx="4617720" cy="676656"/>
          </a:xfrm>
          <a:prstGeom prst="roundRect">
            <a:avLst>
              <a:gd name="adj" fmla="val 10811"/>
            </a:avLst>
          </a:prstGeom>
          <a:solidFill>
            <a:srgbClr val="F4F6F7"/>
          </a:solidFill>
          <a:ln w="12700">
            <a:solidFill>
              <a:srgbClr val="F4F6F7"/>
            </a:solidFill>
            <a:prstDash val="solid"/>
          </a:ln>
        </p:spPr>
      </p:sp>
      <p:sp>
        <p:nvSpPr>
          <p:cNvPr id="9" name="Text 6"/>
          <p:cNvSpPr txBox="1"/>
          <p:nvPr/>
        </p:nvSpPr>
        <p:spPr>
          <a:xfrm>
            <a:off x="1554480" y="2057400"/>
            <a:ext cx="4297680" cy="676656"/>
          </a:xfrm>
          <a:prstGeom prst="rect">
            <a:avLst/>
          </a:prstGeom>
          <a:noFill/>
          <a:ln/>
        </p:spPr>
        <p:txBody>
          <a:bodyPr wrap="square" lIns="0" tIns="0" rIns="0" bIns="0" rtlCol="0" anchor="ctr"/>
          <a:lstStyle/>
          <a:p>
            <a:pPr indent="0" marL="0">
              <a:buNone/>
            </a:pPr>
            <a:r>
              <a:rPr lang="en-US" sz="1500" dirty="0">
                <a:solidFill>
                  <a:srgbClr val="1E2A30"/>
                </a:solidFill>
                <a:latin typeface="Calibri" pitchFamily="34" charset="0"/>
                <a:ea typeface="Calibri" pitchFamily="34" charset="-122"/>
                <a:cs typeface="Calibri" pitchFamily="34" charset="-120"/>
              </a:rPr>
              <a:t>Figures gathered by hand from many places</a:t>
            </a:r>
            <a:endParaRPr lang="en-US" sz="1500" dirty="0"/>
          </a:p>
        </p:txBody>
      </p:sp>
      <p:sp>
        <p:nvSpPr>
          <p:cNvPr id="10" name="Shape 7"/>
          <p:cNvSpPr/>
          <p:nvPr/>
        </p:nvSpPr>
        <p:spPr>
          <a:xfrm>
            <a:off x="6126480" y="2258568"/>
            <a:ext cx="411480" cy="274320"/>
          </a:xfrm>
          <a:prstGeom prst="rightArrow">
            <a:avLst/>
          </a:prstGeom>
          <a:solidFill>
            <a:srgbClr val="B8862B"/>
          </a:solidFill>
          <a:ln w="12700">
            <a:solidFill>
              <a:srgbClr val="B8862B"/>
            </a:solidFill>
            <a:prstDash val="solid"/>
          </a:ln>
        </p:spPr>
      </p:sp>
      <p:sp>
        <p:nvSpPr>
          <p:cNvPr id="11" name="Shape 8"/>
          <p:cNvSpPr/>
          <p:nvPr/>
        </p:nvSpPr>
        <p:spPr>
          <a:xfrm>
            <a:off x="6720840" y="2057400"/>
            <a:ext cx="4919472" cy="676656"/>
          </a:xfrm>
          <a:prstGeom prst="roundRect">
            <a:avLst>
              <a:gd name="adj" fmla="val 10811"/>
            </a:avLst>
          </a:prstGeom>
          <a:solidFill>
            <a:srgbClr val="EFF6F5"/>
          </a:solidFill>
          <a:ln w="12700">
            <a:solidFill>
              <a:srgbClr val="EFF6F5"/>
            </a:solidFill>
            <a:prstDash val="solid"/>
          </a:ln>
        </p:spPr>
      </p:sp>
      <p:sp>
        <p:nvSpPr>
          <p:cNvPr id="12" name="Text 9"/>
          <p:cNvSpPr txBox="1"/>
          <p:nvPr/>
        </p:nvSpPr>
        <p:spPr>
          <a:xfrm>
            <a:off x="6903720" y="2057400"/>
            <a:ext cx="4572000" cy="676656"/>
          </a:xfrm>
          <a:prstGeom prst="rect">
            <a:avLst/>
          </a:prstGeom>
          <a:noFill/>
          <a:ln/>
        </p:spPr>
        <p:txBody>
          <a:bodyPr wrap="square" lIns="0" tIns="0" rIns="0" bIns="0" rtlCol="0" anchor="ctr"/>
          <a:lstStyle/>
          <a:p>
            <a:pPr indent="0" marL="0">
              <a:buNone/>
            </a:pPr>
            <a:r>
              <a:rPr lang="en-US" sz="1500" b="1" dirty="0">
                <a:solidFill>
                  <a:srgbClr val="12343B"/>
                </a:solidFill>
                <a:latin typeface="Calibri" pitchFamily="34" charset="0"/>
                <a:ea typeface="Calibri" pitchFamily="34" charset="-122"/>
                <a:cs typeface="Calibri" pitchFamily="34" charset="-120"/>
              </a:rPr>
              <a:t>Collected directly from official publishers</a:t>
            </a:r>
            <a:endParaRPr lang="en-US" sz="1500" dirty="0"/>
          </a:p>
        </p:txBody>
      </p:sp>
      <p:sp>
        <p:nvSpPr>
          <p:cNvPr id="13" name="Shape 10"/>
          <p:cNvSpPr/>
          <p:nvPr/>
        </p:nvSpPr>
        <p:spPr>
          <a:xfrm>
            <a:off x="548640" y="2935224"/>
            <a:ext cx="566928" cy="566928"/>
          </a:xfrm>
          <a:prstGeom prst="ellipse">
            <a:avLst/>
          </a:prstGeom>
          <a:solidFill>
            <a:srgbClr val="1F7A7A"/>
          </a:solidFill>
          <a:ln w="12700">
            <a:solidFill>
              <a:srgbClr val="1F7A7A"/>
            </a:solidFill>
            <a:prstDash val="solid"/>
          </a:ln>
        </p:spPr>
      </p:sp>
      <p:pic>
        <p:nvPicPr>
          <p:cNvPr id="14" name="Image 1" descr="preencoded.png">    </p:cNvPr>
          <p:cNvPicPr>
            <a:picLocks noChangeAspect="1"/>
          </p:cNvPicPr>
          <p:nvPr/>
        </p:nvPicPr>
        <p:blipFill>
          <a:blip r:embed="rId2"/>
          <a:stretch>
            <a:fillRect/>
          </a:stretch>
        </p:blipFill>
        <p:spPr>
          <a:xfrm>
            <a:off x="696041" y="3082625"/>
            <a:ext cx="272125" cy="272125"/>
          </a:xfrm>
          <a:prstGeom prst="rect">
            <a:avLst/>
          </a:prstGeom>
        </p:spPr>
      </p:pic>
      <p:sp>
        <p:nvSpPr>
          <p:cNvPr id="15" name="Shape 11"/>
          <p:cNvSpPr/>
          <p:nvPr/>
        </p:nvSpPr>
        <p:spPr>
          <a:xfrm>
            <a:off x="1371600" y="2880360"/>
            <a:ext cx="4617720" cy="676656"/>
          </a:xfrm>
          <a:prstGeom prst="roundRect">
            <a:avLst>
              <a:gd name="adj" fmla="val 10811"/>
            </a:avLst>
          </a:prstGeom>
          <a:solidFill>
            <a:srgbClr val="F4F6F7"/>
          </a:solidFill>
          <a:ln w="12700">
            <a:solidFill>
              <a:srgbClr val="F4F6F7"/>
            </a:solidFill>
            <a:prstDash val="solid"/>
          </a:ln>
        </p:spPr>
      </p:sp>
      <p:sp>
        <p:nvSpPr>
          <p:cNvPr id="16" name="Text 12"/>
          <p:cNvSpPr txBox="1"/>
          <p:nvPr/>
        </p:nvSpPr>
        <p:spPr>
          <a:xfrm>
            <a:off x="1554480" y="2880360"/>
            <a:ext cx="4297680" cy="676656"/>
          </a:xfrm>
          <a:prstGeom prst="rect">
            <a:avLst/>
          </a:prstGeom>
          <a:noFill/>
          <a:ln/>
        </p:spPr>
        <p:txBody>
          <a:bodyPr wrap="square" lIns="0" tIns="0" rIns="0" bIns="0" rtlCol="0" anchor="ctr"/>
          <a:lstStyle/>
          <a:p>
            <a:pPr indent="0" marL="0">
              <a:buNone/>
            </a:pPr>
            <a:r>
              <a:rPr lang="en-US" sz="1500" dirty="0">
                <a:solidFill>
                  <a:srgbClr val="1E2A30"/>
                </a:solidFill>
                <a:latin typeface="Calibri" pitchFamily="34" charset="0"/>
                <a:ea typeface="Calibri" pitchFamily="34" charset="-122"/>
                <a:cs typeface="Calibri" pitchFamily="34" charset="-120"/>
              </a:rPr>
              <a:t>Documents quoting different numbers for the same thing</a:t>
            </a:r>
            <a:endParaRPr lang="en-US" sz="1500" dirty="0"/>
          </a:p>
        </p:txBody>
      </p:sp>
      <p:sp>
        <p:nvSpPr>
          <p:cNvPr id="17" name="Shape 13"/>
          <p:cNvSpPr/>
          <p:nvPr/>
        </p:nvSpPr>
        <p:spPr>
          <a:xfrm>
            <a:off x="6126480" y="3081528"/>
            <a:ext cx="411480" cy="274320"/>
          </a:xfrm>
          <a:prstGeom prst="rightArrow">
            <a:avLst/>
          </a:prstGeom>
          <a:solidFill>
            <a:srgbClr val="B8862B"/>
          </a:solidFill>
          <a:ln w="12700">
            <a:solidFill>
              <a:srgbClr val="B8862B"/>
            </a:solidFill>
            <a:prstDash val="solid"/>
          </a:ln>
        </p:spPr>
      </p:sp>
      <p:sp>
        <p:nvSpPr>
          <p:cNvPr id="18" name="Shape 14"/>
          <p:cNvSpPr/>
          <p:nvPr/>
        </p:nvSpPr>
        <p:spPr>
          <a:xfrm>
            <a:off x="6720840" y="2880360"/>
            <a:ext cx="4919472" cy="676656"/>
          </a:xfrm>
          <a:prstGeom prst="roundRect">
            <a:avLst>
              <a:gd name="adj" fmla="val 10811"/>
            </a:avLst>
          </a:prstGeom>
          <a:solidFill>
            <a:srgbClr val="EFF6F5"/>
          </a:solidFill>
          <a:ln w="12700">
            <a:solidFill>
              <a:srgbClr val="EFF6F5"/>
            </a:solidFill>
            <a:prstDash val="solid"/>
          </a:ln>
        </p:spPr>
      </p:sp>
      <p:sp>
        <p:nvSpPr>
          <p:cNvPr id="19" name="Text 15"/>
          <p:cNvSpPr txBox="1"/>
          <p:nvPr/>
        </p:nvSpPr>
        <p:spPr>
          <a:xfrm>
            <a:off x="6903720" y="2880360"/>
            <a:ext cx="4572000" cy="676656"/>
          </a:xfrm>
          <a:prstGeom prst="rect">
            <a:avLst/>
          </a:prstGeom>
          <a:noFill/>
          <a:ln/>
        </p:spPr>
        <p:txBody>
          <a:bodyPr wrap="square" lIns="0" tIns="0" rIns="0" bIns="0" rtlCol="0" anchor="ctr"/>
          <a:lstStyle/>
          <a:p>
            <a:pPr indent="0" marL="0">
              <a:buNone/>
            </a:pPr>
            <a:r>
              <a:rPr lang="en-US" sz="1500" b="1" dirty="0">
                <a:solidFill>
                  <a:srgbClr val="12343B"/>
                </a:solidFill>
                <a:latin typeface="Calibri" pitchFamily="34" charset="0"/>
                <a:ea typeface="Calibri" pitchFamily="34" charset="-122"/>
                <a:cs typeface="Calibri" pitchFamily="34" charset="-120"/>
              </a:rPr>
              <a:t>Each figure decided once, reused everywhere</a:t>
            </a:r>
            <a:endParaRPr lang="en-US" sz="1500" dirty="0"/>
          </a:p>
        </p:txBody>
      </p:sp>
      <p:sp>
        <p:nvSpPr>
          <p:cNvPr id="20" name="Shape 16"/>
          <p:cNvSpPr/>
          <p:nvPr/>
        </p:nvSpPr>
        <p:spPr>
          <a:xfrm>
            <a:off x="548640" y="3758184"/>
            <a:ext cx="566928" cy="566928"/>
          </a:xfrm>
          <a:prstGeom prst="ellipse">
            <a:avLst/>
          </a:prstGeom>
          <a:solidFill>
            <a:srgbClr val="1F7A7A"/>
          </a:solidFill>
          <a:ln w="12700">
            <a:solidFill>
              <a:srgbClr val="1F7A7A"/>
            </a:solidFill>
            <a:prstDash val="solid"/>
          </a:ln>
        </p:spPr>
      </p:sp>
      <p:pic>
        <p:nvPicPr>
          <p:cNvPr id="21" name="Image 2" descr="preencoded.png">    </p:cNvPr>
          <p:cNvPicPr>
            <a:picLocks noChangeAspect="1"/>
          </p:cNvPicPr>
          <p:nvPr/>
        </p:nvPicPr>
        <p:blipFill>
          <a:blip r:embed="rId3"/>
          <a:stretch>
            <a:fillRect/>
          </a:stretch>
        </p:blipFill>
        <p:spPr>
          <a:xfrm>
            <a:off x="696041" y="3905585"/>
            <a:ext cx="272125" cy="272125"/>
          </a:xfrm>
          <a:prstGeom prst="rect">
            <a:avLst/>
          </a:prstGeom>
        </p:spPr>
      </p:pic>
      <p:sp>
        <p:nvSpPr>
          <p:cNvPr id="22" name="Shape 17"/>
          <p:cNvSpPr/>
          <p:nvPr/>
        </p:nvSpPr>
        <p:spPr>
          <a:xfrm>
            <a:off x="1371600" y="3703320"/>
            <a:ext cx="4617720" cy="676656"/>
          </a:xfrm>
          <a:prstGeom prst="roundRect">
            <a:avLst>
              <a:gd name="adj" fmla="val 10811"/>
            </a:avLst>
          </a:prstGeom>
          <a:solidFill>
            <a:srgbClr val="F4F6F7"/>
          </a:solidFill>
          <a:ln w="12700">
            <a:solidFill>
              <a:srgbClr val="F4F6F7"/>
            </a:solidFill>
            <a:prstDash val="solid"/>
          </a:ln>
        </p:spPr>
      </p:sp>
      <p:sp>
        <p:nvSpPr>
          <p:cNvPr id="23" name="Text 18"/>
          <p:cNvSpPr txBox="1"/>
          <p:nvPr/>
        </p:nvSpPr>
        <p:spPr>
          <a:xfrm>
            <a:off x="1554480" y="3703320"/>
            <a:ext cx="4297680" cy="676656"/>
          </a:xfrm>
          <a:prstGeom prst="rect">
            <a:avLst/>
          </a:prstGeom>
          <a:noFill/>
          <a:ln/>
        </p:spPr>
        <p:txBody>
          <a:bodyPr wrap="square" lIns="0" tIns="0" rIns="0" bIns="0" rtlCol="0" anchor="ctr"/>
          <a:lstStyle/>
          <a:p>
            <a:pPr indent="0" marL="0">
              <a:buNone/>
            </a:pPr>
            <a:r>
              <a:rPr lang="en-US" sz="1500" dirty="0">
                <a:solidFill>
                  <a:srgbClr val="1E2A30"/>
                </a:solidFill>
                <a:latin typeface="Calibri" pitchFamily="34" charset="0"/>
                <a:ea typeface="Calibri" pitchFamily="34" charset="-122"/>
                <a:cs typeface="Calibri" pitchFamily="34" charset="-120"/>
              </a:rPr>
              <a:t>Forecasts mistaken for actual results</a:t>
            </a:r>
            <a:endParaRPr lang="en-US" sz="1500" dirty="0"/>
          </a:p>
        </p:txBody>
      </p:sp>
      <p:sp>
        <p:nvSpPr>
          <p:cNvPr id="24" name="Shape 19"/>
          <p:cNvSpPr/>
          <p:nvPr/>
        </p:nvSpPr>
        <p:spPr>
          <a:xfrm>
            <a:off x="6126480" y="3904488"/>
            <a:ext cx="411480" cy="274320"/>
          </a:xfrm>
          <a:prstGeom prst="rightArrow">
            <a:avLst/>
          </a:prstGeom>
          <a:solidFill>
            <a:srgbClr val="B8862B"/>
          </a:solidFill>
          <a:ln w="12700">
            <a:solidFill>
              <a:srgbClr val="B8862B"/>
            </a:solidFill>
            <a:prstDash val="solid"/>
          </a:ln>
        </p:spPr>
      </p:sp>
      <p:sp>
        <p:nvSpPr>
          <p:cNvPr id="25" name="Shape 20"/>
          <p:cNvSpPr/>
          <p:nvPr/>
        </p:nvSpPr>
        <p:spPr>
          <a:xfrm>
            <a:off x="6720840" y="3703320"/>
            <a:ext cx="4919472" cy="676656"/>
          </a:xfrm>
          <a:prstGeom prst="roundRect">
            <a:avLst>
              <a:gd name="adj" fmla="val 10811"/>
            </a:avLst>
          </a:prstGeom>
          <a:solidFill>
            <a:srgbClr val="EFF6F5"/>
          </a:solidFill>
          <a:ln w="12700">
            <a:solidFill>
              <a:srgbClr val="EFF6F5"/>
            </a:solidFill>
            <a:prstDash val="solid"/>
          </a:ln>
        </p:spPr>
      </p:sp>
      <p:sp>
        <p:nvSpPr>
          <p:cNvPr id="26" name="Text 21"/>
          <p:cNvSpPr txBox="1"/>
          <p:nvPr/>
        </p:nvSpPr>
        <p:spPr>
          <a:xfrm>
            <a:off x="6903720" y="3703320"/>
            <a:ext cx="4572000" cy="676656"/>
          </a:xfrm>
          <a:prstGeom prst="rect">
            <a:avLst/>
          </a:prstGeom>
          <a:noFill/>
          <a:ln/>
        </p:spPr>
        <p:txBody>
          <a:bodyPr wrap="square" lIns="0" tIns="0" rIns="0" bIns="0" rtlCol="0" anchor="ctr"/>
          <a:lstStyle/>
          <a:p>
            <a:pPr indent="0" marL="0">
              <a:buNone/>
            </a:pPr>
            <a:r>
              <a:rPr lang="en-US" sz="1500" b="1" dirty="0">
                <a:solidFill>
                  <a:srgbClr val="12343B"/>
                </a:solidFill>
                <a:latin typeface="Calibri" pitchFamily="34" charset="0"/>
                <a:ea typeface="Calibri" pitchFamily="34" charset="-122"/>
                <a:cs typeface="Calibri" pitchFamily="34" charset="-120"/>
              </a:rPr>
              <a:t>Every figure labelled actual or forecast</a:t>
            </a:r>
            <a:endParaRPr lang="en-US" sz="1500" dirty="0"/>
          </a:p>
        </p:txBody>
      </p:sp>
      <p:sp>
        <p:nvSpPr>
          <p:cNvPr id="27" name="Shape 22"/>
          <p:cNvSpPr/>
          <p:nvPr/>
        </p:nvSpPr>
        <p:spPr>
          <a:xfrm>
            <a:off x="548640" y="4581144"/>
            <a:ext cx="566928" cy="566928"/>
          </a:xfrm>
          <a:prstGeom prst="ellipse">
            <a:avLst/>
          </a:prstGeom>
          <a:solidFill>
            <a:srgbClr val="1F7A7A"/>
          </a:solidFill>
          <a:ln w="12700">
            <a:solidFill>
              <a:srgbClr val="1F7A7A"/>
            </a:solidFill>
            <a:prstDash val="solid"/>
          </a:ln>
        </p:spPr>
      </p:sp>
      <p:pic>
        <p:nvPicPr>
          <p:cNvPr id="28" name="Image 3" descr="preencoded.png">    </p:cNvPr>
          <p:cNvPicPr>
            <a:picLocks noChangeAspect="1"/>
          </p:cNvPicPr>
          <p:nvPr/>
        </p:nvPicPr>
        <p:blipFill>
          <a:blip r:embed="rId4"/>
          <a:stretch>
            <a:fillRect/>
          </a:stretch>
        </p:blipFill>
        <p:spPr>
          <a:xfrm>
            <a:off x="696041" y="4728545"/>
            <a:ext cx="272125" cy="272125"/>
          </a:xfrm>
          <a:prstGeom prst="rect">
            <a:avLst/>
          </a:prstGeom>
        </p:spPr>
      </p:pic>
      <p:sp>
        <p:nvSpPr>
          <p:cNvPr id="29" name="Shape 23"/>
          <p:cNvSpPr/>
          <p:nvPr/>
        </p:nvSpPr>
        <p:spPr>
          <a:xfrm>
            <a:off x="1371600" y="4526280"/>
            <a:ext cx="4617720" cy="676656"/>
          </a:xfrm>
          <a:prstGeom prst="roundRect">
            <a:avLst>
              <a:gd name="adj" fmla="val 10811"/>
            </a:avLst>
          </a:prstGeom>
          <a:solidFill>
            <a:srgbClr val="F4F6F7"/>
          </a:solidFill>
          <a:ln w="12700">
            <a:solidFill>
              <a:srgbClr val="F4F6F7"/>
            </a:solidFill>
            <a:prstDash val="solid"/>
          </a:ln>
        </p:spPr>
      </p:sp>
      <p:sp>
        <p:nvSpPr>
          <p:cNvPr id="30" name="Text 24"/>
          <p:cNvSpPr txBox="1"/>
          <p:nvPr/>
        </p:nvSpPr>
        <p:spPr>
          <a:xfrm>
            <a:off x="1554480" y="4526280"/>
            <a:ext cx="4297680" cy="676656"/>
          </a:xfrm>
          <a:prstGeom prst="rect">
            <a:avLst/>
          </a:prstGeom>
          <a:noFill/>
          <a:ln/>
        </p:spPr>
        <p:txBody>
          <a:bodyPr wrap="square" lIns="0" tIns="0" rIns="0" bIns="0" rtlCol="0" anchor="ctr"/>
          <a:lstStyle/>
          <a:p>
            <a:pPr indent="0" marL="0">
              <a:buNone/>
            </a:pPr>
            <a:r>
              <a:rPr lang="en-US" sz="1500" dirty="0">
                <a:solidFill>
                  <a:srgbClr val="1E2A30"/>
                </a:solidFill>
                <a:latin typeface="Calibri" pitchFamily="34" charset="0"/>
                <a:ea typeface="Calibri" pitchFamily="34" charset="-122"/>
                <a:cs typeface="Calibri" pitchFamily="34" charset="-120"/>
              </a:rPr>
              <a:t>Numbers in client work hard to verify later</a:t>
            </a:r>
            <a:endParaRPr lang="en-US" sz="1500" dirty="0"/>
          </a:p>
        </p:txBody>
      </p:sp>
      <p:sp>
        <p:nvSpPr>
          <p:cNvPr id="31" name="Shape 25"/>
          <p:cNvSpPr/>
          <p:nvPr/>
        </p:nvSpPr>
        <p:spPr>
          <a:xfrm>
            <a:off x="6126480" y="4727448"/>
            <a:ext cx="411480" cy="274320"/>
          </a:xfrm>
          <a:prstGeom prst="rightArrow">
            <a:avLst/>
          </a:prstGeom>
          <a:solidFill>
            <a:srgbClr val="B8862B"/>
          </a:solidFill>
          <a:ln w="12700">
            <a:solidFill>
              <a:srgbClr val="B8862B"/>
            </a:solidFill>
            <a:prstDash val="solid"/>
          </a:ln>
        </p:spPr>
      </p:sp>
      <p:sp>
        <p:nvSpPr>
          <p:cNvPr id="32" name="Shape 26"/>
          <p:cNvSpPr/>
          <p:nvPr/>
        </p:nvSpPr>
        <p:spPr>
          <a:xfrm>
            <a:off x="6720840" y="4526280"/>
            <a:ext cx="4919472" cy="676656"/>
          </a:xfrm>
          <a:prstGeom prst="roundRect">
            <a:avLst>
              <a:gd name="adj" fmla="val 10811"/>
            </a:avLst>
          </a:prstGeom>
          <a:solidFill>
            <a:srgbClr val="EFF6F5"/>
          </a:solidFill>
          <a:ln w="12700">
            <a:solidFill>
              <a:srgbClr val="EFF6F5"/>
            </a:solidFill>
            <a:prstDash val="solid"/>
          </a:ln>
        </p:spPr>
      </p:sp>
      <p:sp>
        <p:nvSpPr>
          <p:cNvPr id="33" name="Text 27"/>
          <p:cNvSpPr txBox="1"/>
          <p:nvPr/>
        </p:nvSpPr>
        <p:spPr>
          <a:xfrm>
            <a:off x="6903720" y="4526280"/>
            <a:ext cx="4572000" cy="676656"/>
          </a:xfrm>
          <a:prstGeom prst="rect">
            <a:avLst/>
          </a:prstGeom>
          <a:noFill/>
          <a:ln/>
        </p:spPr>
        <p:txBody>
          <a:bodyPr wrap="square" lIns="0" tIns="0" rIns="0" bIns="0" rtlCol="0" anchor="ctr"/>
          <a:lstStyle/>
          <a:p>
            <a:pPr indent="0" marL="0">
              <a:buNone/>
            </a:pPr>
            <a:r>
              <a:rPr lang="en-US" sz="1500" b="1" dirty="0">
                <a:solidFill>
                  <a:srgbClr val="12343B"/>
                </a:solidFill>
                <a:latin typeface="Calibri" pitchFamily="34" charset="0"/>
                <a:ea typeface="Calibri" pitchFamily="34" charset="-122"/>
                <a:cs typeface="Calibri" pitchFamily="34" charset="-120"/>
              </a:rPr>
              <a:t>Source, link and date kept with each figure</a:t>
            </a:r>
            <a:endParaRPr lang="en-US" sz="1500" dirty="0"/>
          </a:p>
        </p:txBody>
      </p:sp>
      <p:sp>
        <p:nvSpPr>
          <p:cNvPr id="34" name="Shape 28"/>
          <p:cNvSpPr/>
          <p:nvPr/>
        </p:nvSpPr>
        <p:spPr>
          <a:xfrm>
            <a:off x="548640" y="5404104"/>
            <a:ext cx="566928" cy="566928"/>
          </a:xfrm>
          <a:prstGeom prst="ellipse">
            <a:avLst/>
          </a:prstGeom>
          <a:solidFill>
            <a:srgbClr val="1F7A7A"/>
          </a:solidFill>
          <a:ln w="12700">
            <a:solidFill>
              <a:srgbClr val="1F7A7A"/>
            </a:solidFill>
            <a:prstDash val="solid"/>
          </a:ln>
        </p:spPr>
      </p:sp>
      <p:pic>
        <p:nvPicPr>
          <p:cNvPr id="35" name="Image 4" descr="preencoded.png">    </p:cNvPr>
          <p:cNvPicPr>
            <a:picLocks noChangeAspect="1"/>
          </p:cNvPicPr>
          <p:nvPr/>
        </p:nvPicPr>
        <p:blipFill>
          <a:blip r:embed="rId5"/>
          <a:stretch>
            <a:fillRect/>
          </a:stretch>
        </p:blipFill>
        <p:spPr>
          <a:xfrm>
            <a:off x="696041" y="5551505"/>
            <a:ext cx="272125" cy="272125"/>
          </a:xfrm>
          <a:prstGeom prst="rect">
            <a:avLst/>
          </a:prstGeom>
        </p:spPr>
      </p:pic>
      <p:sp>
        <p:nvSpPr>
          <p:cNvPr id="36" name="Shape 29"/>
          <p:cNvSpPr/>
          <p:nvPr/>
        </p:nvSpPr>
        <p:spPr>
          <a:xfrm>
            <a:off x="1371600" y="5349240"/>
            <a:ext cx="4617720" cy="676656"/>
          </a:xfrm>
          <a:prstGeom prst="roundRect">
            <a:avLst>
              <a:gd name="adj" fmla="val 10811"/>
            </a:avLst>
          </a:prstGeom>
          <a:solidFill>
            <a:srgbClr val="F4F6F7"/>
          </a:solidFill>
          <a:ln w="12700">
            <a:solidFill>
              <a:srgbClr val="F4F6F7"/>
            </a:solidFill>
            <a:prstDash val="solid"/>
          </a:ln>
        </p:spPr>
      </p:sp>
      <p:sp>
        <p:nvSpPr>
          <p:cNvPr id="37" name="Text 30"/>
          <p:cNvSpPr txBox="1"/>
          <p:nvPr/>
        </p:nvSpPr>
        <p:spPr>
          <a:xfrm>
            <a:off x="1554480" y="5349240"/>
            <a:ext cx="4297680" cy="676656"/>
          </a:xfrm>
          <a:prstGeom prst="rect">
            <a:avLst/>
          </a:prstGeom>
          <a:noFill/>
          <a:ln/>
        </p:spPr>
        <p:txBody>
          <a:bodyPr wrap="square" lIns="0" tIns="0" rIns="0" bIns="0" rtlCol="0" anchor="ctr"/>
          <a:lstStyle/>
          <a:p>
            <a:pPr indent="0" marL="0">
              <a:buNone/>
            </a:pPr>
            <a:r>
              <a:rPr lang="en-US" sz="1500" dirty="0">
                <a:solidFill>
                  <a:srgbClr val="1E2A30"/>
                </a:solidFill>
                <a:latin typeface="Calibri" pitchFamily="34" charset="0"/>
                <a:ea typeface="Calibri" pitchFamily="34" charset="-122"/>
                <a:cs typeface="Calibri" pitchFamily="34" charset="-120"/>
              </a:rPr>
              <a:t>Written analysis can't feed financial models</a:t>
            </a:r>
            <a:endParaRPr lang="en-US" sz="1500" dirty="0"/>
          </a:p>
        </p:txBody>
      </p:sp>
      <p:sp>
        <p:nvSpPr>
          <p:cNvPr id="38" name="Shape 31"/>
          <p:cNvSpPr/>
          <p:nvPr/>
        </p:nvSpPr>
        <p:spPr>
          <a:xfrm>
            <a:off x="6126480" y="5550408"/>
            <a:ext cx="411480" cy="274320"/>
          </a:xfrm>
          <a:prstGeom prst="rightArrow">
            <a:avLst/>
          </a:prstGeom>
          <a:solidFill>
            <a:srgbClr val="B8862B"/>
          </a:solidFill>
          <a:ln w="12700">
            <a:solidFill>
              <a:srgbClr val="B8862B"/>
            </a:solidFill>
            <a:prstDash val="solid"/>
          </a:ln>
        </p:spPr>
      </p:sp>
      <p:sp>
        <p:nvSpPr>
          <p:cNvPr id="39" name="Shape 32"/>
          <p:cNvSpPr/>
          <p:nvPr/>
        </p:nvSpPr>
        <p:spPr>
          <a:xfrm>
            <a:off x="6720840" y="5349240"/>
            <a:ext cx="4919472" cy="676656"/>
          </a:xfrm>
          <a:prstGeom prst="roundRect">
            <a:avLst>
              <a:gd name="adj" fmla="val 10811"/>
            </a:avLst>
          </a:prstGeom>
          <a:solidFill>
            <a:srgbClr val="EFF6F5"/>
          </a:solidFill>
          <a:ln w="12700">
            <a:solidFill>
              <a:srgbClr val="EFF6F5"/>
            </a:solidFill>
            <a:prstDash val="solid"/>
          </a:ln>
        </p:spPr>
      </p:sp>
      <p:sp>
        <p:nvSpPr>
          <p:cNvPr id="40" name="Text 33"/>
          <p:cNvSpPr txBox="1"/>
          <p:nvPr/>
        </p:nvSpPr>
        <p:spPr>
          <a:xfrm>
            <a:off x="6903720" y="5349240"/>
            <a:ext cx="4572000" cy="676656"/>
          </a:xfrm>
          <a:prstGeom prst="rect">
            <a:avLst/>
          </a:prstGeom>
          <a:noFill/>
          <a:ln/>
        </p:spPr>
        <p:txBody>
          <a:bodyPr wrap="square" lIns="0" tIns="0" rIns="0" bIns="0" rtlCol="0" anchor="ctr"/>
          <a:lstStyle/>
          <a:p>
            <a:pPr indent="0" marL="0">
              <a:buNone/>
            </a:pPr>
            <a:r>
              <a:rPr lang="en-US" sz="1500" b="1" dirty="0">
                <a:solidFill>
                  <a:srgbClr val="12343B"/>
                </a:solidFill>
                <a:latin typeface="Calibri" pitchFamily="34" charset="0"/>
                <a:ea typeface="Calibri" pitchFamily="34" charset="-122"/>
                <a:cs typeface="Calibri" pitchFamily="34" charset="-120"/>
              </a:rPr>
              <a:t>A structured data file is produced alongside</a:t>
            </a:r>
            <a:endParaRPr lang="en-US" sz="1500" dirty="0"/>
          </a:p>
        </p:txBody>
      </p:sp>
      <p:sp>
        <p:nvSpPr>
          <p:cNvPr id="41" name="Text 34"/>
          <p:cNvSpPr txBox="1"/>
          <p:nvPr/>
        </p:nvSpPr>
        <p:spPr>
          <a:xfrm>
            <a:off x="548640" y="6473952"/>
            <a:ext cx="6400800" cy="228600"/>
          </a:xfrm>
          <a:prstGeom prst="rect">
            <a:avLst/>
          </a:prstGeom>
          <a:noFill/>
          <a:ln/>
        </p:spPr>
        <p:txBody>
          <a:bodyPr wrap="square" lIns="0" tIns="0" rIns="0" bIns="0" rtlCol="0" anchor="t"/>
          <a:lstStyle/>
          <a:p>
            <a:pPr indent="0" marL="0">
              <a:buNone/>
            </a:pPr>
            <a:r>
              <a:rPr lang="en-US" sz="900" dirty="0">
                <a:solidFill>
                  <a:srgbClr val="95A1A8"/>
                </a:solidFill>
                <a:latin typeface="Calibri" pitchFamily="34" charset="0"/>
                <a:ea typeface="Calibri" pitchFamily="34" charset="-122"/>
                <a:cs typeface="Calibri" pitchFamily="34" charset="-120"/>
              </a:rPr>
              <a:t>Macroenvironment Agent · Business Requirements · Board review</a:t>
            </a:r>
            <a:endParaRPr lang="en-US" sz="900" dirty="0"/>
          </a:p>
        </p:txBody>
      </p:sp>
      <p:sp>
        <p:nvSpPr>
          <p:cNvPr id="42" name="Text 35"/>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95A1A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11094415" cy="685800"/>
          </a:xfrm>
          <a:prstGeom prst="rect">
            <a:avLst/>
          </a:prstGeom>
          <a:noFill/>
          <a:ln/>
        </p:spPr>
        <p:txBody>
          <a:bodyPr wrap="square" lIns="0" tIns="0" rIns="0" bIns="0" rtlCol="0" anchor="ctr"/>
          <a:lstStyle/>
          <a:p>
            <a:pPr indent="0" marL="0">
              <a:buNone/>
            </a:pPr>
            <a:r>
              <a:rPr lang="en-US" sz="3000" b="1" dirty="0">
                <a:solidFill>
                  <a:srgbClr val="12343B"/>
                </a:solidFill>
                <a:latin typeface="Cambria" pitchFamily="34" charset="0"/>
                <a:ea typeface="Cambria" pitchFamily="34" charset="-122"/>
                <a:cs typeface="Cambria" pitchFamily="34" charset="-120"/>
              </a:rPr>
              <a:t>Built on IMF and World Bank practice</a:t>
            </a:r>
            <a:endParaRPr lang="en-US" sz="3000" dirty="0"/>
          </a:p>
        </p:txBody>
      </p:sp>
      <p:sp>
        <p:nvSpPr>
          <p:cNvPr id="3" name="Text 1"/>
          <p:cNvSpPr txBox="1"/>
          <p:nvPr/>
        </p:nvSpPr>
        <p:spPr>
          <a:xfrm>
            <a:off x="548640" y="1069848"/>
            <a:ext cx="11094415" cy="411480"/>
          </a:xfrm>
          <a:prstGeom prst="rect">
            <a:avLst/>
          </a:prstGeom>
          <a:noFill/>
          <a:ln/>
        </p:spPr>
        <p:txBody>
          <a:bodyPr wrap="square" lIns="0" tIns="0" rIns="0" bIns="0" rtlCol="0" anchor="t"/>
          <a:lstStyle/>
          <a:p>
            <a:pPr indent="0" marL="0">
              <a:buNone/>
            </a:pPr>
            <a:r>
              <a:rPr lang="en-US" sz="1500" dirty="0">
                <a:solidFill>
                  <a:srgbClr val="5B6770"/>
                </a:solidFill>
                <a:latin typeface="Calibri" pitchFamily="34" charset="0"/>
                <a:ea typeface="Calibri" pitchFamily="34" charset="-122"/>
                <a:cs typeface="Calibri" pitchFamily="34" charset="-120"/>
              </a:rPr>
              <a:t>Their reports are the reference governments, central banks and investors already trust</a:t>
            </a:r>
            <a:endParaRPr lang="en-US" sz="1500" dirty="0"/>
          </a:p>
        </p:txBody>
      </p:sp>
      <p:sp>
        <p:nvSpPr>
          <p:cNvPr id="4" name="Shape 2"/>
          <p:cNvSpPr/>
          <p:nvPr/>
        </p:nvSpPr>
        <p:spPr>
          <a:xfrm>
            <a:off x="548640" y="1691640"/>
            <a:ext cx="3703320" cy="4526280"/>
          </a:xfrm>
          <a:prstGeom prst="roundRect">
            <a:avLst>
              <a:gd name="adj" fmla="val 1975"/>
            </a:avLst>
          </a:prstGeom>
          <a:solidFill>
            <a:srgbClr val="EFF6F5"/>
          </a:solidFill>
          <a:ln w="12700">
            <a:solidFill>
              <a:srgbClr val="EFF6F5"/>
            </a:solidFill>
            <a:prstDash val="solid"/>
          </a:ln>
        </p:spPr>
      </p:sp>
      <p:sp>
        <p:nvSpPr>
          <p:cNvPr id="5" name="Shape 3"/>
          <p:cNvSpPr/>
          <p:nvPr/>
        </p:nvSpPr>
        <p:spPr>
          <a:xfrm>
            <a:off x="777240" y="1892808"/>
            <a:ext cx="548640" cy="548640"/>
          </a:xfrm>
          <a:prstGeom prst="ellipse">
            <a:avLst/>
          </a:prstGeom>
          <a:solidFill>
            <a:srgbClr val="12343B"/>
          </a:solidFill>
          <a:ln w="12700">
            <a:solidFill>
              <a:srgbClr val="12343B"/>
            </a:solidFill>
            <a:prstDash val="solid"/>
          </a:ln>
        </p:spPr>
      </p:sp>
      <p:pic>
        <p:nvPicPr>
          <p:cNvPr id="6" name="Image 0" descr="preencoded.png">    </p:cNvPr>
          <p:cNvPicPr>
            <a:picLocks noChangeAspect="1"/>
          </p:cNvPicPr>
          <p:nvPr/>
        </p:nvPicPr>
        <p:blipFill>
          <a:blip r:embed="rId1"/>
          <a:stretch>
            <a:fillRect/>
          </a:stretch>
        </p:blipFill>
        <p:spPr>
          <a:xfrm>
            <a:off x="919886" y="2035454"/>
            <a:ext cx="263347" cy="263347"/>
          </a:xfrm>
          <a:prstGeom prst="rect">
            <a:avLst/>
          </a:prstGeom>
        </p:spPr>
      </p:pic>
      <p:sp>
        <p:nvSpPr>
          <p:cNvPr id="7" name="Text 4"/>
          <p:cNvSpPr txBox="1"/>
          <p:nvPr/>
        </p:nvSpPr>
        <p:spPr>
          <a:xfrm>
            <a:off x="1463040" y="1892808"/>
            <a:ext cx="2697480" cy="548640"/>
          </a:xfrm>
          <a:prstGeom prst="rect">
            <a:avLst/>
          </a:prstGeom>
          <a:noFill/>
          <a:ln/>
        </p:spPr>
        <p:txBody>
          <a:bodyPr wrap="square" lIns="0" tIns="0" rIns="0" bIns="0" rtlCol="0" anchor="ctr"/>
          <a:lstStyle/>
          <a:p>
            <a:pPr indent="0" marL="0">
              <a:buNone/>
            </a:pPr>
            <a:r>
              <a:rPr lang="en-US" sz="1700" b="1" dirty="0">
                <a:solidFill>
                  <a:srgbClr val="12343B"/>
                </a:solidFill>
                <a:latin typeface="Calibri" pitchFamily="34" charset="0"/>
                <a:ea typeface="Calibri" pitchFamily="34" charset="-122"/>
                <a:cs typeface="Calibri" pitchFamily="34" charset="-120"/>
              </a:rPr>
              <a:t>International Monetary Fund</a:t>
            </a:r>
            <a:endParaRPr lang="en-US" sz="1700" dirty="0"/>
          </a:p>
        </p:txBody>
      </p:sp>
      <p:sp>
        <p:nvSpPr>
          <p:cNvPr id="8" name="Text 5"/>
          <p:cNvSpPr txBox="1"/>
          <p:nvPr/>
        </p:nvSpPr>
        <p:spPr>
          <a:xfrm>
            <a:off x="822960" y="2651760"/>
            <a:ext cx="3246120" cy="274320"/>
          </a:xfrm>
          <a:prstGeom prst="rect">
            <a:avLst/>
          </a:prstGeom>
          <a:noFill/>
          <a:ln/>
        </p:spPr>
        <p:txBody>
          <a:bodyPr wrap="square" lIns="0" tIns="0" rIns="0" bIns="0" rtlCol="0" anchor="t"/>
          <a:lstStyle/>
          <a:p>
            <a:pPr indent="0" marL="0">
              <a:buNone/>
            </a:pPr>
            <a:r>
              <a:rPr lang="en-US" sz="1400" b="1" dirty="0">
                <a:solidFill>
                  <a:srgbClr val="1F7A7A"/>
                </a:solidFill>
                <a:latin typeface="Calibri" pitchFamily="34" charset="0"/>
                <a:ea typeface="Calibri" pitchFamily="34" charset="-122"/>
                <a:cs typeface="Calibri" pitchFamily="34" charset="-120"/>
              </a:rPr>
              <a:t>World Economic Outlook</a:t>
            </a:r>
            <a:endParaRPr lang="en-US" sz="1400" dirty="0"/>
          </a:p>
        </p:txBody>
      </p:sp>
      <p:sp>
        <p:nvSpPr>
          <p:cNvPr id="9" name="Text 6"/>
          <p:cNvSpPr txBox="1"/>
          <p:nvPr/>
        </p:nvSpPr>
        <p:spPr>
          <a:xfrm>
            <a:off x="822960" y="2944368"/>
            <a:ext cx="3246120" cy="822960"/>
          </a:xfrm>
          <a:prstGeom prst="rect">
            <a:avLst/>
          </a:prstGeom>
          <a:noFill/>
          <a:ln/>
        </p:spPr>
        <p:txBody>
          <a:bodyPr wrap="square" lIns="0" tIns="0" rIns="0" bIns="0" rtlCol="0" anchor="t"/>
          <a:lstStyle/>
          <a:p>
            <a:pPr indent="0" marL="0">
              <a:buNone/>
            </a:pPr>
            <a:r>
              <a:rPr lang="en-US" sz="1250" dirty="0">
                <a:solidFill>
                  <a:srgbClr val="1E2A30"/>
                </a:solidFill>
                <a:latin typeface="Calibri" pitchFamily="34" charset="0"/>
                <a:ea typeface="Calibri" pitchFamily="34" charset="-122"/>
                <a:cs typeface="Calibri" pitchFamily="34" charset="-120"/>
              </a:rPr>
              <a:t>Twice a year (April, October), updates usually in January and July. Public database of history and projections, about five years ahead.</a:t>
            </a:r>
            <a:endParaRPr lang="en-US" sz="1250" dirty="0"/>
          </a:p>
        </p:txBody>
      </p:sp>
      <p:sp>
        <p:nvSpPr>
          <p:cNvPr id="10" name="Text 7"/>
          <p:cNvSpPr txBox="1"/>
          <p:nvPr/>
        </p:nvSpPr>
        <p:spPr>
          <a:xfrm>
            <a:off x="822960" y="3822192"/>
            <a:ext cx="3246120" cy="274320"/>
          </a:xfrm>
          <a:prstGeom prst="rect">
            <a:avLst/>
          </a:prstGeom>
          <a:noFill/>
          <a:ln/>
        </p:spPr>
        <p:txBody>
          <a:bodyPr wrap="square" lIns="0" tIns="0" rIns="0" bIns="0" rtlCol="0" anchor="t"/>
          <a:lstStyle/>
          <a:p>
            <a:pPr indent="0" marL="0">
              <a:buNone/>
            </a:pPr>
            <a:r>
              <a:rPr lang="en-US" sz="1400" b="1" dirty="0">
                <a:solidFill>
                  <a:srgbClr val="1F7A7A"/>
                </a:solidFill>
                <a:latin typeface="Calibri" pitchFamily="34" charset="0"/>
                <a:ea typeface="Calibri" pitchFamily="34" charset="-122"/>
                <a:cs typeface="Calibri" pitchFamily="34" charset="-120"/>
              </a:rPr>
              <a:t>Article IV consultations</a:t>
            </a:r>
            <a:endParaRPr lang="en-US" sz="1400" dirty="0"/>
          </a:p>
        </p:txBody>
      </p:sp>
      <p:sp>
        <p:nvSpPr>
          <p:cNvPr id="11" name="Text 8"/>
          <p:cNvSpPr txBox="1"/>
          <p:nvPr/>
        </p:nvSpPr>
        <p:spPr>
          <a:xfrm>
            <a:off x="822960" y="4114800"/>
            <a:ext cx="3246120" cy="822960"/>
          </a:xfrm>
          <a:prstGeom prst="rect">
            <a:avLst/>
          </a:prstGeom>
          <a:noFill/>
          <a:ln/>
        </p:spPr>
        <p:txBody>
          <a:bodyPr wrap="square" lIns="0" tIns="0" rIns="0" bIns="0" rtlCol="0" anchor="t"/>
          <a:lstStyle/>
          <a:p>
            <a:pPr indent="0" marL="0">
              <a:buNone/>
            </a:pPr>
            <a:r>
              <a:rPr lang="en-US" sz="1250" dirty="0">
                <a:solidFill>
                  <a:srgbClr val="1E2A30"/>
                </a:solidFill>
                <a:latin typeface="Calibri" pitchFamily="34" charset="0"/>
                <a:ea typeface="Calibri" pitchFamily="34" charset="-122"/>
                <a:cs typeface="Calibri" pitchFamily="34" charset="-120"/>
              </a:rPr>
              <a:t>Usually annual review of each member economy: developments, outlook and risks, policy, staff appraisal.</a:t>
            </a:r>
            <a:endParaRPr lang="en-US" sz="1250" dirty="0"/>
          </a:p>
        </p:txBody>
      </p:sp>
      <p:sp>
        <p:nvSpPr>
          <p:cNvPr id="12" name="Text 9"/>
          <p:cNvSpPr txBox="1"/>
          <p:nvPr/>
        </p:nvSpPr>
        <p:spPr>
          <a:xfrm>
            <a:off x="822960" y="4992624"/>
            <a:ext cx="3246120" cy="274320"/>
          </a:xfrm>
          <a:prstGeom prst="rect">
            <a:avLst/>
          </a:prstGeom>
          <a:noFill/>
          <a:ln/>
        </p:spPr>
        <p:txBody>
          <a:bodyPr wrap="square" lIns="0" tIns="0" rIns="0" bIns="0" rtlCol="0" anchor="t"/>
          <a:lstStyle/>
          <a:p>
            <a:pPr indent="0" marL="0">
              <a:buNone/>
            </a:pPr>
            <a:r>
              <a:rPr lang="en-US" sz="1400" b="1" dirty="0">
                <a:solidFill>
                  <a:srgbClr val="1F7A7A"/>
                </a:solidFill>
                <a:latin typeface="Calibri" pitchFamily="34" charset="0"/>
                <a:ea typeface="Calibri" pitchFamily="34" charset="-122"/>
                <a:cs typeface="Calibri" pitchFamily="34" charset="-120"/>
              </a:rPr>
              <a:t>Risk Assessment Matrix</a:t>
            </a:r>
            <a:endParaRPr lang="en-US" sz="1400" dirty="0"/>
          </a:p>
        </p:txBody>
      </p:sp>
      <p:sp>
        <p:nvSpPr>
          <p:cNvPr id="13" name="Text 10"/>
          <p:cNvSpPr txBox="1"/>
          <p:nvPr/>
        </p:nvSpPr>
        <p:spPr>
          <a:xfrm>
            <a:off x="822960" y="5285232"/>
            <a:ext cx="3246120" cy="822960"/>
          </a:xfrm>
          <a:prstGeom prst="rect">
            <a:avLst/>
          </a:prstGeom>
          <a:noFill/>
          <a:ln/>
        </p:spPr>
        <p:txBody>
          <a:bodyPr wrap="square" lIns="0" tIns="0" rIns="0" bIns="0" rtlCol="0" anchor="t"/>
          <a:lstStyle/>
          <a:p>
            <a:pPr indent="0" marL="0">
              <a:buNone/>
            </a:pPr>
            <a:r>
              <a:rPr lang="en-US" sz="1250" dirty="0">
                <a:solidFill>
                  <a:srgbClr val="1E2A30"/>
                </a:solidFill>
                <a:latin typeface="Calibri" pitchFamily="34" charset="0"/>
                <a:ea typeface="Calibri" pitchFamily="34" charset="-122"/>
                <a:cs typeface="Calibri" pitchFamily="34" charset="-120"/>
              </a:rPr>
              <a:t>Each risk rated by likelihood and impact, with a policy response.</a:t>
            </a:r>
            <a:endParaRPr lang="en-US" sz="1250" dirty="0"/>
          </a:p>
        </p:txBody>
      </p:sp>
      <p:sp>
        <p:nvSpPr>
          <p:cNvPr id="14" name="Shape 11"/>
          <p:cNvSpPr/>
          <p:nvPr/>
        </p:nvSpPr>
        <p:spPr>
          <a:xfrm>
            <a:off x="4434840" y="1691640"/>
            <a:ext cx="3703320" cy="4526280"/>
          </a:xfrm>
          <a:prstGeom prst="roundRect">
            <a:avLst>
              <a:gd name="adj" fmla="val 1975"/>
            </a:avLst>
          </a:prstGeom>
          <a:solidFill>
            <a:srgbClr val="EFF6F5"/>
          </a:solidFill>
          <a:ln w="12700">
            <a:solidFill>
              <a:srgbClr val="EFF6F5"/>
            </a:solidFill>
            <a:prstDash val="solid"/>
          </a:ln>
        </p:spPr>
      </p:sp>
      <p:sp>
        <p:nvSpPr>
          <p:cNvPr id="15" name="Shape 12"/>
          <p:cNvSpPr/>
          <p:nvPr/>
        </p:nvSpPr>
        <p:spPr>
          <a:xfrm>
            <a:off x="4663440" y="1892808"/>
            <a:ext cx="548640" cy="548640"/>
          </a:xfrm>
          <a:prstGeom prst="ellipse">
            <a:avLst/>
          </a:prstGeom>
          <a:solidFill>
            <a:srgbClr val="12343B"/>
          </a:solidFill>
          <a:ln w="12700">
            <a:solidFill>
              <a:srgbClr val="12343B"/>
            </a:solidFill>
            <a:prstDash val="solid"/>
          </a:ln>
        </p:spPr>
      </p:sp>
      <p:pic>
        <p:nvPicPr>
          <p:cNvPr id="16" name="Image 1" descr="preencoded.png">    </p:cNvPr>
          <p:cNvPicPr>
            <a:picLocks noChangeAspect="1"/>
          </p:cNvPicPr>
          <p:nvPr/>
        </p:nvPicPr>
        <p:blipFill>
          <a:blip r:embed="rId2"/>
          <a:stretch>
            <a:fillRect/>
          </a:stretch>
        </p:blipFill>
        <p:spPr>
          <a:xfrm>
            <a:off x="4806086" y="2035454"/>
            <a:ext cx="263347" cy="263347"/>
          </a:xfrm>
          <a:prstGeom prst="rect">
            <a:avLst/>
          </a:prstGeom>
        </p:spPr>
      </p:pic>
      <p:sp>
        <p:nvSpPr>
          <p:cNvPr id="17" name="Text 13"/>
          <p:cNvSpPr txBox="1"/>
          <p:nvPr/>
        </p:nvSpPr>
        <p:spPr>
          <a:xfrm>
            <a:off x="5349240" y="1892808"/>
            <a:ext cx="2697480" cy="548640"/>
          </a:xfrm>
          <a:prstGeom prst="rect">
            <a:avLst/>
          </a:prstGeom>
          <a:noFill/>
          <a:ln/>
        </p:spPr>
        <p:txBody>
          <a:bodyPr wrap="square" lIns="0" tIns="0" rIns="0" bIns="0" rtlCol="0" anchor="ctr"/>
          <a:lstStyle/>
          <a:p>
            <a:pPr indent="0" marL="0">
              <a:buNone/>
            </a:pPr>
            <a:r>
              <a:rPr lang="en-US" sz="1700" b="1" dirty="0">
                <a:solidFill>
                  <a:srgbClr val="12343B"/>
                </a:solidFill>
                <a:latin typeface="Calibri" pitchFamily="34" charset="0"/>
                <a:ea typeface="Calibri" pitchFamily="34" charset="-122"/>
                <a:cs typeface="Calibri" pitchFamily="34" charset="-120"/>
              </a:rPr>
              <a:t>World Bank</a:t>
            </a:r>
            <a:endParaRPr lang="en-US" sz="1700" dirty="0"/>
          </a:p>
        </p:txBody>
      </p:sp>
      <p:sp>
        <p:nvSpPr>
          <p:cNvPr id="18" name="Text 14"/>
          <p:cNvSpPr txBox="1"/>
          <p:nvPr/>
        </p:nvSpPr>
        <p:spPr>
          <a:xfrm>
            <a:off x="4709160" y="2651760"/>
            <a:ext cx="3246120" cy="274320"/>
          </a:xfrm>
          <a:prstGeom prst="rect">
            <a:avLst/>
          </a:prstGeom>
          <a:noFill/>
          <a:ln/>
        </p:spPr>
        <p:txBody>
          <a:bodyPr wrap="square" lIns="0" tIns="0" rIns="0" bIns="0" rtlCol="0" anchor="t"/>
          <a:lstStyle/>
          <a:p>
            <a:pPr indent="0" marL="0">
              <a:buNone/>
            </a:pPr>
            <a:r>
              <a:rPr lang="en-US" sz="1400" b="1" dirty="0">
                <a:solidFill>
                  <a:srgbClr val="1F7A7A"/>
                </a:solidFill>
                <a:latin typeface="Calibri" pitchFamily="34" charset="0"/>
                <a:ea typeface="Calibri" pitchFamily="34" charset="-122"/>
                <a:cs typeface="Calibri" pitchFamily="34" charset="-120"/>
              </a:rPr>
              <a:t>Global Economic Prospects</a:t>
            </a:r>
            <a:endParaRPr lang="en-US" sz="1400" dirty="0"/>
          </a:p>
        </p:txBody>
      </p:sp>
      <p:sp>
        <p:nvSpPr>
          <p:cNvPr id="19" name="Text 15"/>
          <p:cNvSpPr txBox="1"/>
          <p:nvPr/>
        </p:nvSpPr>
        <p:spPr>
          <a:xfrm>
            <a:off x="4709160" y="2944368"/>
            <a:ext cx="3246120" cy="822960"/>
          </a:xfrm>
          <a:prstGeom prst="rect">
            <a:avLst/>
          </a:prstGeom>
          <a:noFill/>
          <a:ln/>
        </p:spPr>
        <p:txBody>
          <a:bodyPr wrap="square" lIns="0" tIns="0" rIns="0" bIns="0" rtlCol="0" anchor="t"/>
          <a:lstStyle/>
          <a:p>
            <a:pPr indent="0" marL="0">
              <a:buNone/>
            </a:pPr>
            <a:r>
              <a:rPr lang="en-US" sz="1250" dirty="0">
                <a:solidFill>
                  <a:srgbClr val="1E2A30"/>
                </a:solidFill>
                <a:latin typeface="Calibri" pitchFamily="34" charset="0"/>
                <a:ea typeface="Calibri" pitchFamily="34" charset="-122"/>
                <a:cs typeface="Calibri" pitchFamily="34" charset="-120"/>
              </a:rPr>
              <a:t>Twice a year (January, June). Growth forecasts for the world, regions and countries.</a:t>
            </a:r>
            <a:endParaRPr lang="en-US" sz="1250" dirty="0"/>
          </a:p>
        </p:txBody>
      </p:sp>
      <p:sp>
        <p:nvSpPr>
          <p:cNvPr id="20" name="Text 16"/>
          <p:cNvSpPr txBox="1"/>
          <p:nvPr/>
        </p:nvSpPr>
        <p:spPr>
          <a:xfrm>
            <a:off x="4709160" y="3822192"/>
            <a:ext cx="3246120" cy="274320"/>
          </a:xfrm>
          <a:prstGeom prst="rect">
            <a:avLst/>
          </a:prstGeom>
          <a:noFill/>
          <a:ln/>
        </p:spPr>
        <p:txBody>
          <a:bodyPr wrap="square" lIns="0" tIns="0" rIns="0" bIns="0" rtlCol="0" anchor="t"/>
          <a:lstStyle/>
          <a:p>
            <a:pPr indent="0" marL="0">
              <a:buNone/>
            </a:pPr>
            <a:r>
              <a:rPr lang="en-US" sz="1400" b="1" dirty="0">
                <a:solidFill>
                  <a:srgbClr val="1F7A7A"/>
                </a:solidFill>
                <a:latin typeface="Calibri" pitchFamily="34" charset="0"/>
                <a:ea typeface="Calibri" pitchFamily="34" charset="-122"/>
                <a:cs typeface="Calibri" pitchFamily="34" charset="-120"/>
              </a:rPr>
              <a:t>World Development Indicators</a:t>
            </a:r>
            <a:endParaRPr lang="en-US" sz="1400" dirty="0"/>
          </a:p>
        </p:txBody>
      </p:sp>
      <p:sp>
        <p:nvSpPr>
          <p:cNvPr id="21" name="Text 17"/>
          <p:cNvSpPr txBox="1"/>
          <p:nvPr/>
        </p:nvSpPr>
        <p:spPr>
          <a:xfrm>
            <a:off x="4709160" y="4114800"/>
            <a:ext cx="3246120" cy="822960"/>
          </a:xfrm>
          <a:prstGeom prst="rect">
            <a:avLst/>
          </a:prstGeom>
          <a:noFill/>
          <a:ln/>
        </p:spPr>
        <p:txBody>
          <a:bodyPr wrap="square" lIns="0" tIns="0" rIns="0" bIns="0" rtlCol="0" anchor="t"/>
          <a:lstStyle/>
          <a:p>
            <a:pPr indent="0" marL="0">
              <a:buNone/>
            </a:pPr>
            <a:r>
              <a:rPr lang="en-US" sz="1250" dirty="0">
                <a:solidFill>
                  <a:srgbClr val="1E2A30"/>
                </a:solidFill>
                <a:latin typeface="Calibri" pitchFamily="34" charset="0"/>
                <a:ea typeface="Calibri" pitchFamily="34" charset="-122"/>
                <a:cs typeface="Calibri" pitchFamily="34" charset="-120"/>
              </a:rPr>
              <a:t>Main collection of development statistics from officially recognised sources.</a:t>
            </a:r>
            <a:endParaRPr lang="en-US" sz="1250" dirty="0"/>
          </a:p>
        </p:txBody>
      </p:sp>
      <p:sp>
        <p:nvSpPr>
          <p:cNvPr id="22" name="Text 18"/>
          <p:cNvSpPr txBox="1"/>
          <p:nvPr/>
        </p:nvSpPr>
        <p:spPr>
          <a:xfrm>
            <a:off x="4709160" y="4992624"/>
            <a:ext cx="3246120" cy="274320"/>
          </a:xfrm>
          <a:prstGeom prst="rect">
            <a:avLst/>
          </a:prstGeom>
          <a:noFill/>
          <a:ln/>
        </p:spPr>
        <p:txBody>
          <a:bodyPr wrap="square" lIns="0" tIns="0" rIns="0" bIns="0" rtlCol="0" anchor="t"/>
          <a:lstStyle/>
          <a:p>
            <a:pPr indent="0" marL="0">
              <a:buNone/>
            </a:pPr>
            <a:r>
              <a:rPr lang="en-US" sz="1400" b="1" dirty="0">
                <a:solidFill>
                  <a:srgbClr val="1F7A7A"/>
                </a:solidFill>
                <a:latin typeface="Calibri" pitchFamily="34" charset="0"/>
                <a:ea typeface="Calibri" pitchFamily="34" charset="-122"/>
                <a:cs typeface="Calibri" pitchFamily="34" charset="-120"/>
              </a:rPr>
              <a:t>Macro Poverty Outlook</a:t>
            </a:r>
            <a:endParaRPr lang="en-US" sz="1400" dirty="0"/>
          </a:p>
        </p:txBody>
      </p:sp>
      <p:sp>
        <p:nvSpPr>
          <p:cNvPr id="23" name="Text 19"/>
          <p:cNvSpPr txBox="1"/>
          <p:nvPr/>
        </p:nvSpPr>
        <p:spPr>
          <a:xfrm>
            <a:off x="4709160" y="5285232"/>
            <a:ext cx="3246120" cy="822960"/>
          </a:xfrm>
          <a:prstGeom prst="rect">
            <a:avLst/>
          </a:prstGeom>
          <a:noFill/>
          <a:ln/>
        </p:spPr>
        <p:txBody>
          <a:bodyPr wrap="square" lIns="0" tIns="0" rIns="0" bIns="0" rtlCol="0" anchor="t"/>
          <a:lstStyle/>
          <a:p>
            <a:pPr indent="0" marL="0">
              <a:buNone/>
            </a:pPr>
            <a:r>
              <a:rPr lang="en-US" sz="1250" dirty="0">
                <a:solidFill>
                  <a:srgbClr val="1E2A30"/>
                </a:solidFill>
                <a:latin typeface="Calibri" pitchFamily="34" charset="0"/>
                <a:ea typeface="Calibri" pitchFamily="34" charset="-122"/>
                <a:cs typeface="Calibri" pitchFamily="34" charset="-120"/>
              </a:rPr>
              <a:t>Country notes with macro projections, twice a year.</a:t>
            </a:r>
            <a:endParaRPr lang="en-US" sz="1250" dirty="0"/>
          </a:p>
        </p:txBody>
      </p:sp>
      <p:sp>
        <p:nvSpPr>
          <p:cNvPr id="24" name="Shape 20"/>
          <p:cNvSpPr/>
          <p:nvPr/>
        </p:nvSpPr>
        <p:spPr>
          <a:xfrm>
            <a:off x="8412480" y="1691640"/>
            <a:ext cx="3230575" cy="4526280"/>
          </a:xfrm>
          <a:prstGeom prst="roundRect">
            <a:avLst>
              <a:gd name="adj" fmla="val 2264"/>
            </a:avLst>
          </a:prstGeom>
          <a:solidFill>
            <a:srgbClr val="12343B"/>
          </a:solidFill>
          <a:ln w="12700">
            <a:solidFill>
              <a:srgbClr val="12343B"/>
            </a:solidFill>
            <a:prstDash val="solid"/>
          </a:ln>
        </p:spPr>
      </p:sp>
      <p:sp>
        <p:nvSpPr>
          <p:cNvPr id="25" name="Text 21"/>
          <p:cNvSpPr txBox="1"/>
          <p:nvPr/>
        </p:nvSpPr>
        <p:spPr>
          <a:xfrm>
            <a:off x="8686800" y="1874520"/>
            <a:ext cx="2681935" cy="411480"/>
          </a:xfrm>
          <a:prstGeom prst="rect">
            <a:avLst/>
          </a:prstGeom>
          <a:noFill/>
          <a:ln/>
        </p:spPr>
        <p:txBody>
          <a:bodyPr wrap="square" lIns="0" tIns="0" rIns="0" bIns="0" rtlCol="0" anchor="t"/>
          <a:lstStyle/>
          <a:p>
            <a:pPr indent="0" marL="0">
              <a:buNone/>
            </a:pPr>
            <a:r>
              <a:rPr lang="en-US" sz="1800" b="1" dirty="0">
                <a:solidFill>
                  <a:srgbClr val="E2B863"/>
                </a:solidFill>
                <a:latin typeface="Calibri" pitchFamily="34" charset="0"/>
                <a:ea typeface="Calibri" pitchFamily="34" charset="-122"/>
                <a:cs typeface="Calibri" pitchFamily="34" charset="-120"/>
              </a:rPr>
              <a:t>What we adopt</a:t>
            </a:r>
            <a:endParaRPr lang="en-US" sz="1800" dirty="0"/>
          </a:p>
        </p:txBody>
      </p:sp>
      <p:pic>
        <p:nvPicPr>
          <p:cNvPr id="26" name="Image 2" descr="preencoded.png">    </p:cNvPr>
          <p:cNvPicPr>
            <a:picLocks noChangeAspect="1"/>
          </p:cNvPicPr>
          <p:nvPr/>
        </p:nvPicPr>
        <p:blipFill>
          <a:blip r:embed="rId3"/>
          <a:stretch>
            <a:fillRect/>
          </a:stretch>
        </p:blipFill>
        <p:spPr>
          <a:xfrm>
            <a:off x="8686800" y="2514600"/>
            <a:ext cx="219456" cy="219456"/>
          </a:xfrm>
          <a:prstGeom prst="rect">
            <a:avLst/>
          </a:prstGeom>
        </p:spPr>
      </p:pic>
      <p:sp>
        <p:nvSpPr>
          <p:cNvPr id="27" name="Text 22"/>
          <p:cNvSpPr txBox="1"/>
          <p:nvPr/>
        </p:nvSpPr>
        <p:spPr>
          <a:xfrm>
            <a:off x="9034272" y="2468880"/>
            <a:ext cx="2361895" cy="6858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Same report sequence: developments, outlook, risks, implications</a:t>
            </a:r>
            <a:endParaRPr lang="en-US" sz="1300" dirty="0"/>
          </a:p>
        </p:txBody>
      </p:sp>
      <p:pic>
        <p:nvPicPr>
          <p:cNvPr id="28" name="Image 3" descr="preencoded.png">    </p:cNvPr>
          <p:cNvPicPr>
            <a:picLocks noChangeAspect="1"/>
          </p:cNvPicPr>
          <p:nvPr/>
        </p:nvPicPr>
        <p:blipFill>
          <a:blip r:embed="rId4"/>
          <a:stretch>
            <a:fillRect/>
          </a:stretch>
        </p:blipFill>
        <p:spPr>
          <a:xfrm>
            <a:off x="8686800" y="3246120"/>
            <a:ext cx="219456" cy="219456"/>
          </a:xfrm>
          <a:prstGeom prst="rect">
            <a:avLst/>
          </a:prstGeom>
        </p:spPr>
      </p:pic>
      <p:sp>
        <p:nvSpPr>
          <p:cNvPr id="29" name="Text 23"/>
          <p:cNvSpPr txBox="1"/>
          <p:nvPr/>
        </p:nvSpPr>
        <p:spPr>
          <a:xfrm>
            <a:off x="9034272" y="3200400"/>
            <a:ext cx="2361895" cy="6858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Every figure tied to a named source and data edition</a:t>
            </a:r>
            <a:endParaRPr lang="en-US" sz="1300" dirty="0"/>
          </a:p>
        </p:txBody>
      </p:sp>
      <p:pic>
        <p:nvPicPr>
          <p:cNvPr id="30" name="Image 4" descr="preencoded.png">    </p:cNvPr>
          <p:cNvPicPr>
            <a:picLocks noChangeAspect="1"/>
          </p:cNvPicPr>
          <p:nvPr/>
        </p:nvPicPr>
        <p:blipFill>
          <a:blip r:embed="rId5"/>
          <a:stretch>
            <a:fillRect/>
          </a:stretch>
        </p:blipFill>
        <p:spPr>
          <a:xfrm>
            <a:off x="8686800" y="3977640"/>
            <a:ext cx="219456" cy="219456"/>
          </a:xfrm>
          <a:prstGeom prst="rect">
            <a:avLst/>
          </a:prstGeom>
        </p:spPr>
      </p:pic>
      <p:sp>
        <p:nvSpPr>
          <p:cNvPr id="31" name="Text 24"/>
          <p:cNvSpPr txBox="1"/>
          <p:nvPr/>
        </p:nvSpPr>
        <p:spPr>
          <a:xfrm>
            <a:off x="9034272" y="3931920"/>
            <a:ext cx="2361895" cy="6858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Actual and forecast always kept apart</a:t>
            </a:r>
            <a:endParaRPr lang="en-US" sz="1300" dirty="0"/>
          </a:p>
        </p:txBody>
      </p:sp>
      <p:pic>
        <p:nvPicPr>
          <p:cNvPr id="32" name="Image 5" descr="preencoded.png">    </p:cNvPr>
          <p:cNvPicPr>
            <a:picLocks noChangeAspect="1"/>
          </p:cNvPicPr>
          <p:nvPr/>
        </p:nvPicPr>
        <p:blipFill>
          <a:blip r:embed="rId6"/>
          <a:stretch>
            <a:fillRect/>
          </a:stretch>
        </p:blipFill>
        <p:spPr>
          <a:xfrm>
            <a:off x="8686800" y="4709160"/>
            <a:ext cx="219456" cy="219456"/>
          </a:xfrm>
          <a:prstGeom prst="rect">
            <a:avLst/>
          </a:prstGeom>
        </p:spPr>
      </p:pic>
      <p:sp>
        <p:nvSpPr>
          <p:cNvPr id="33" name="Text 25"/>
          <p:cNvSpPr txBox="1"/>
          <p:nvPr/>
        </p:nvSpPr>
        <p:spPr>
          <a:xfrm>
            <a:off x="9034272" y="4663440"/>
            <a:ext cx="2361895" cy="6858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Risks scored by likelihood and impact, each with a response</a:t>
            </a:r>
            <a:endParaRPr lang="en-US" sz="1300" dirty="0"/>
          </a:p>
        </p:txBody>
      </p:sp>
      <p:pic>
        <p:nvPicPr>
          <p:cNvPr id="34" name="Image 6" descr="preencoded.png">    </p:cNvPr>
          <p:cNvPicPr>
            <a:picLocks noChangeAspect="1"/>
          </p:cNvPicPr>
          <p:nvPr/>
        </p:nvPicPr>
        <p:blipFill>
          <a:blip r:embed="rId7"/>
          <a:stretch>
            <a:fillRect/>
          </a:stretch>
        </p:blipFill>
        <p:spPr>
          <a:xfrm>
            <a:off x="8686800" y="5440680"/>
            <a:ext cx="219456" cy="219456"/>
          </a:xfrm>
          <a:prstGeom prst="rect">
            <a:avLst/>
          </a:prstGeom>
        </p:spPr>
      </p:pic>
      <p:sp>
        <p:nvSpPr>
          <p:cNvPr id="35" name="Text 26"/>
          <p:cNvSpPr txBox="1"/>
          <p:nvPr/>
        </p:nvSpPr>
        <p:spPr>
          <a:xfrm>
            <a:off x="9034272" y="5394960"/>
            <a:ext cx="2361895" cy="6858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Official indicator codes in the data file</a:t>
            </a:r>
            <a:endParaRPr lang="en-US" sz="1300" dirty="0"/>
          </a:p>
        </p:txBody>
      </p:sp>
      <p:sp>
        <p:nvSpPr>
          <p:cNvPr id="36" name="Text 27"/>
          <p:cNvSpPr txBox="1"/>
          <p:nvPr/>
        </p:nvSpPr>
        <p:spPr>
          <a:xfrm>
            <a:off x="548640" y="6473952"/>
            <a:ext cx="6400800" cy="228600"/>
          </a:xfrm>
          <a:prstGeom prst="rect">
            <a:avLst/>
          </a:prstGeom>
          <a:noFill/>
          <a:ln/>
        </p:spPr>
        <p:txBody>
          <a:bodyPr wrap="square" lIns="0" tIns="0" rIns="0" bIns="0" rtlCol="0" anchor="t"/>
          <a:lstStyle/>
          <a:p>
            <a:pPr indent="0" marL="0">
              <a:buNone/>
            </a:pPr>
            <a:r>
              <a:rPr lang="en-US" sz="900" dirty="0">
                <a:solidFill>
                  <a:srgbClr val="95A1A8"/>
                </a:solidFill>
                <a:latin typeface="Calibri" pitchFamily="34" charset="0"/>
                <a:ea typeface="Calibri" pitchFamily="34" charset="-122"/>
                <a:cs typeface="Calibri" pitchFamily="34" charset="-120"/>
              </a:rPr>
              <a:t>Macroenvironment Agent · Business Requirements · Board review</a:t>
            </a:r>
            <a:endParaRPr lang="en-US" sz="900" dirty="0"/>
          </a:p>
        </p:txBody>
      </p:sp>
      <p:sp>
        <p:nvSpPr>
          <p:cNvPr id="37" name="Text 28"/>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95A1A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84048"/>
            <a:ext cx="11094415" cy="685800"/>
          </a:xfrm>
          <a:prstGeom prst="rect">
            <a:avLst/>
          </a:prstGeom>
          <a:noFill/>
          <a:ln/>
        </p:spPr>
        <p:txBody>
          <a:bodyPr wrap="square" lIns="0" tIns="0" rIns="0" bIns="0" rtlCol="0" anchor="ctr"/>
          <a:lstStyle/>
          <a:p>
            <a:pPr indent="0" marL="0">
              <a:buNone/>
            </a:pPr>
            <a:r>
              <a:rPr lang="en-US" sz="3000" b="1" dirty="0">
                <a:solidFill>
                  <a:srgbClr val="12343B"/>
                </a:solidFill>
                <a:latin typeface="Cambria" pitchFamily="34" charset="0"/>
                <a:ea typeface="Cambria" pitchFamily="34" charset="-122"/>
                <a:cs typeface="Cambria" pitchFamily="34" charset="-120"/>
              </a:rPr>
              <a:t>The Authenticity Core: where every number comes from</a:t>
            </a:r>
            <a:endParaRPr lang="en-US" sz="3000" dirty="0"/>
          </a:p>
        </p:txBody>
      </p:sp>
      <p:sp>
        <p:nvSpPr>
          <p:cNvPr id="3" name="Text 1"/>
          <p:cNvSpPr txBox="1"/>
          <p:nvPr/>
        </p:nvSpPr>
        <p:spPr>
          <a:xfrm>
            <a:off x="548640" y="1069848"/>
            <a:ext cx="11094415" cy="411480"/>
          </a:xfrm>
          <a:prstGeom prst="rect">
            <a:avLst/>
          </a:prstGeom>
          <a:noFill/>
          <a:ln/>
        </p:spPr>
        <p:txBody>
          <a:bodyPr wrap="square" lIns="0" tIns="0" rIns="0" bIns="0" rtlCol="0" anchor="t"/>
          <a:lstStyle/>
          <a:p>
            <a:pPr indent="0" marL="0">
              <a:buNone/>
            </a:pPr>
            <a:r>
              <a:rPr lang="en-US" sz="1500" dirty="0">
                <a:solidFill>
                  <a:srgbClr val="5B6770"/>
                </a:solidFill>
                <a:latin typeface="Calibri" pitchFamily="34" charset="0"/>
                <a:ea typeface="Calibri" pitchFamily="34" charset="-122"/>
                <a:cs typeface="Calibri" pitchFamily="34" charset="-120"/>
              </a:rPr>
              <a:t>All figures pass through one Verified Figures Register. Every document reads from it.</a:t>
            </a:r>
            <a:endParaRPr lang="en-US" sz="1500" dirty="0"/>
          </a:p>
        </p:txBody>
      </p:sp>
      <p:sp>
        <p:nvSpPr>
          <p:cNvPr id="4" name="Text 2"/>
          <p:cNvSpPr txBox="1"/>
          <p:nvPr/>
        </p:nvSpPr>
        <p:spPr>
          <a:xfrm>
            <a:off x="548640" y="1645920"/>
            <a:ext cx="3657600" cy="274320"/>
          </a:xfrm>
          <a:prstGeom prst="rect">
            <a:avLst/>
          </a:prstGeom>
          <a:noFill/>
          <a:ln/>
        </p:spPr>
        <p:txBody>
          <a:bodyPr wrap="square" lIns="0" tIns="0" rIns="0" bIns="0" rtlCol="0" anchor="t"/>
          <a:lstStyle/>
          <a:p>
            <a:pPr indent="0" marL="0">
              <a:buNone/>
            </a:pPr>
            <a:r>
              <a:rPr lang="en-US" sz="1100" b="1" spc="200" kern="0" dirty="0">
                <a:solidFill>
                  <a:srgbClr val="5B6770"/>
                </a:solidFill>
                <a:latin typeface="Calibri" pitchFamily="34" charset="0"/>
                <a:ea typeface="Calibri" pitchFamily="34" charset="-122"/>
                <a:cs typeface="Calibri" pitchFamily="34" charset="-120"/>
              </a:rPr>
              <a:t>OFFICIAL SOURCES</a:t>
            </a:r>
            <a:endParaRPr lang="en-US" sz="1100" dirty="0"/>
          </a:p>
        </p:txBody>
      </p:sp>
      <p:sp>
        <p:nvSpPr>
          <p:cNvPr id="5" name="Text 3"/>
          <p:cNvSpPr txBox="1"/>
          <p:nvPr/>
        </p:nvSpPr>
        <p:spPr>
          <a:xfrm>
            <a:off x="4892040" y="1645920"/>
            <a:ext cx="2651760" cy="274320"/>
          </a:xfrm>
          <a:prstGeom prst="rect">
            <a:avLst/>
          </a:prstGeom>
          <a:noFill/>
          <a:ln/>
        </p:spPr>
        <p:txBody>
          <a:bodyPr wrap="square" lIns="0" tIns="0" rIns="0" bIns="0" rtlCol="0" anchor="t"/>
          <a:lstStyle/>
          <a:p>
            <a:pPr algn="ctr" indent="0" marL="0">
              <a:buNone/>
            </a:pPr>
            <a:r>
              <a:rPr lang="en-US" sz="1100" b="1" spc="200" kern="0" dirty="0">
                <a:solidFill>
                  <a:srgbClr val="5B6770"/>
                </a:solidFill>
                <a:latin typeface="Calibri" pitchFamily="34" charset="0"/>
                <a:ea typeface="Calibri" pitchFamily="34" charset="-122"/>
                <a:cs typeface="Calibri" pitchFamily="34" charset="-120"/>
              </a:rPr>
              <a:t>SINGLE SOURCE OF TRUTH</a:t>
            </a:r>
            <a:endParaRPr lang="en-US" sz="1100" dirty="0"/>
          </a:p>
        </p:txBody>
      </p:sp>
      <p:sp>
        <p:nvSpPr>
          <p:cNvPr id="6" name="Text 4"/>
          <p:cNvSpPr txBox="1"/>
          <p:nvPr/>
        </p:nvSpPr>
        <p:spPr>
          <a:xfrm>
            <a:off x="8412480" y="1645920"/>
            <a:ext cx="3200400" cy="274320"/>
          </a:xfrm>
          <a:prstGeom prst="rect">
            <a:avLst/>
          </a:prstGeom>
          <a:noFill/>
          <a:ln/>
        </p:spPr>
        <p:txBody>
          <a:bodyPr wrap="square" lIns="0" tIns="0" rIns="0" bIns="0" rtlCol="0" anchor="t"/>
          <a:lstStyle/>
          <a:p>
            <a:pPr algn="ctr" indent="0" marL="0">
              <a:buNone/>
            </a:pPr>
            <a:r>
              <a:rPr lang="en-US" sz="1100" b="1" spc="200" kern="0" dirty="0">
                <a:solidFill>
                  <a:srgbClr val="5B6770"/>
                </a:solidFill>
                <a:latin typeface="Calibri" pitchFamily="34" charset="0"/>
                <a:ea typeface="Calibri" pitchFamily="34" charset="-122"/>
                <a:cs typeface="Calibri" pitchFamily="34" charset="-120"/>
              </a:rPr>
              <a:t>DELIVERABLES</a:t>
            </a:r>
            <a:endParaRPr lang="en-US" sz="1100" dirty="0"/>
          </a:p>
        </p:txBody>
      </p:sp>
      <p:sp>
        <p:nvSpPr>
          <p:cNvPr id="7" name="Shape 5"/>
          <p:cNvSpPr/>
          <p:nvPr/>
        </p:nvSpPr>
        <p:spPr>
          <a:xfrm>
            <a:off x="548640" y="2011680"/>
            <a:ext cx="3749040" cy="640080"/>
          </a:xfrm>
          <a:prstGeom prst="roundRect">
            <a:avLst>
              <a:gd name="adj" fmla="val 11429"/>
            </a:avLst>
          </a:prstGeom>
          <a:solidFill>
            <a:srgbClr val="EFF6F5"/>
          </a:solidFill>
          <a:ln w="15875">
            <a:solidFill>
              <a:srgbClr val="1F7A7A"/>
            </a:solidFill>
            <a:prstDash val="solid"/>
          </a:ln>
        </p:spPr>
      </p:sp>
      <p:sp>
        <p:nvSpPr>
          <p:cNvPr id="8" name="Shape 6"/>
          <p:cNvSpPr/>
          <p:nvPr/>
        </p:nvSpPr>
        <p:spPr>
          <a:xfrm>
            <a:off x="676656" y="2148840"/>
            <a:ext cx="365760" cy="365760"/>
          </a:xfrm>
          <a:prstGeom prst="ellipse">
            <a:avLst/>
          </a:prstGeom>
          <a:solidFill>
            <a:srgbClr val="1F7A7A"/>
          </a:solidFill>
          <a:ln w="12700">
            <a:solidFill>
              <a:srgbClr val="1F7A7A"/>
            </a:solidFill>
            <a:prstDash val="solid"/>
          </a:ln>
        </p:spPr>
      </p:sp>
      <p:pic>
        <p:nvPicPr>
          <p:cNvPr id="9" name="Image 0" descr="preencoded.png">    </p:cNvPr>
          <p:cNvPicPr>
            <a:picLocks noChangeAspect="1"/>
          </p:cNvPicPr>
          <p:nvPr/>
        </p:nvPicPr>
        <p:blipFill>
          <a:blip r:embed="rId1"/>
          <a:stretch>
            <a:fillRect/>
          </a:stretch>
        </p:blipFill>
        <p:spPr>
          <a:xfrm>
            <a:off x="771754" y="2243938"/>
            <a:ext cx="175565" cy="175565"/>
          </a:xfrm>
          <a:prstGeom prst="rect">
            <a:avLst/>
          </a:prstGeom>
        </p:spPr>
      </p:pic>
      <p:sp>
        <p:nvSpPr>
          <p:cNvPr id="10" name="Text 7"/>
          <p:cNvSpPr txBox="1"/>
          <p:nvPr/>
        </p:nvSpPr>
        <p:spPr>
          <a:xfrm>
            <a:off x="1170432" y="2084832"/>
            <a:ext cx="3017520" cy="274320"/>
          </a:xfrm>
          <a:prstGeom prst="rect">
            <a:avLst/>
          </a:prstGeom>
          <a:noFill/>
          <a:ln/>
        </p:spPr>
        <p:txBody>
          <a:bodyPr wrap="square" lIns="0" tIns="0" rIns="0" bIns="0" rtlCol="0" anchor="t"/>
          <a:lstStyle/>
          <a:p>
            <a:pPr indent="0" marL="0">
              <a:buNone/>
            </a:pPr>
            <a:r>
              <a:rPr lang="en-US" sz="1350" b="1" dirty="0">
                <a:solidFill>
                  <a:srgbClr val="12343B"/>
                </a:solidFill>
                <a:latin typeface="Calibri" pitchFamily="34" charset="0"/>
                <a:ea typeface="Calibri" pitchFamily="34" charset="-122"/>
                <a:cs typeface="Calibri" pitchFamily="34" charset="-120"/>
              </a:rPr>
              <a:t>International Monetary Fund</a:t>
            </a:r>
            <a:endParaRPr lang="en-US" sz="1350" dirty="0"/>
          </a:p>
        </p:txBody>
      </p:sp>
      <p:sp>
        <p:nvSpPr>
          <p:cNvPr id="11" name="Text 8"/>
          <p:cNvSpPr txBox="1"/>
          <p:nvPr/>
        </p:nvSpPr>
        <p:spPr>
          <a:xfrm>
            <a:off x="1170432" y="2350008"/>
            <a:ext cx="3017520" cy="256032"/>
          </a:xfrm>
          <a:prstGeom prst="rect">
            <a:avLst/>
          </a:prstGeom>
          <a:noFill/>
          <a:ln/>
        </p:spPr>
        <p:txBody>
          <a:bodyPr wrap="square" lIns="0" tIns="0" rIns="0" bIns="0" rtlCol="0" anchor="t"/>
          <a:lstStyle/>
          <a:p>
            <a:pPr indent="0" marL="0">
              <a:buNone/>
            </a:pPr>
            <a:r>
              <a:rPr lang="en-US" sz="1150" dirty="0">
                <a:solidFill>
                  <a:srgbClr val="5B6770"/>
                </a:solidFill>
                <a:latin typeface="Calibri" pitchFamily="34" charset="0"/>
                <a:ea typeface="Calibri" pitchFamily="34" charset="-122"/>
                <a:cs typeface="Calibri" pitchFamily="34" charset="-120"/>
              </a:rPr>
              <a:t>World Economic Outlook database</a:t>
            </a:r>
            <a:endParaRPr lang="en-US" sz="1150" dirty="0"/>
          </a:p>
        </p:txBody>
      </p:sp>
      <p:sp>
        <p:nvSpPr>
          <p:cNvPr id="12" name="Shape 9"/>
          <p:cNvSpPr/>
          <p:nvPr/>
        </p:nvSpPr>
        <p:spPr>
          <a:xfrm>
            <a:off x="4297680" y="2331720"/>
            <a:ext cx="548640" cy="0"/>
          </a:xfrm>
          <a:prstGeom prst="line">
            <a:avLst/>
          </a:prstGeom>
          <a:noFill/>
          <a:ln w="25400">
            <a:solidFill>
              <a:srgbClr val="1F7A7A"/>
            </a:solidFill>
            <a:prstDash val="solid"/>
            <a:tailEnd type="triangle"/>
          </a:ln>
        </p:spPr>
      </p:sp>
      <p:sp>
        <p:nvSpPr>
          <p:cNvPr id="13" name="Shape 10"/>
          <p:cNvSpPr/>
          <p:nvPr/>
        </p:nvSpPr>
        <p:spPr>
          <a:xfrm>
            <a:off x="548640" y="2770632"/>
            <a:ext cx="3749040" cy="640080"/>
          </a:xfrm>
          <a:prstGeom prst="roundRect">
            <a:avLst>
              <a:gd name="adj" fmla="val 11429"/>
            </a:avLst>
          </a:prstGeom>
          <a:solidFill>
            <a:srgbClr val="EFF6F5"/>
          </a:solidFill>
          <a:ln w="15875">
            <a:solidFill>
              <a:srgbClr val="1F7A7A"/>
            </a:solidFill>
            <a:prstDash val="solid"/>
          </a:ln>
        </p:spPr>
      </p:sp>
      <p:sp>
        <p:nvSpPr>
          <p:cNvPr id="14" name="Shape 11"/>
          <p:cNvSpPr/>
          <p:nvPr/>
        </p:nvSpPr>
        <p:spPr>
          <a:xfrm>
            <a:off x="676656" y="2907792"/>
            <a:ext cx="365760" cy="365760"/>
          </a:xfrm>
          <a:prstGeom prst="ellipse">
            <a:avLst/>
          </a:prstGeom>
          <a:solidFill>
            <a:srgbClr val="1F7A7A"/>
          </a:solidFill>
          <a:ln w="12700">
            <a:solidFill>
              <a:srgbClr val="1F7A7A"/>
            </a:solidFill>
            <a:prstDash val="solid"/>
          </a:ln>
        </p:spPr>
      </p:sp>
      <p:pic>
        <p:nvPicPr>
          <p:cNvPr id="15" name="Image 1" descr="preencoded.png">    </p:cNvPr>
          <p:cNvPicPr>
            <a:picLocks noChangeAspect="1"/>
          </p:cNvPicPr>
          <p:nvPr/>
        </p:nvPicPr>
        <p:blipFill>
          <a:blip r:embed="rId2"/>
          <a:stretch>
            <a:fillRect/>
          </a:stretch>
        </p:blipFill>
        <p:spPr>
          <a:xfrm>
            <a:off x="771754" y="3002890"/>
            <a:ext cx="175565" cy="175565"/>
          </a:xfrm>
          <a:prstGeom prst="rect">
            <a:avLst/>
          </a:prstGeom>
        </p:spPr>
      </p:pic>
      <p:sp>
        <p:nvSpPr>
          <p:cNvPr id="16" name="Text 12"/>
          <p:cNvSpPr txBox="1"/>
          <p:nvPr/>
        </p:nvSpPr>
        <p:spPr>
          <a:xfrm>
            <a:off x="1170432" y="2843784"/>
            <a:ext cx="3017520" cy="274320"/>
          </a:xfrm>
          <a:prstGeom prst="rect">
            <a:avLst/>
          </a:prstGeom>
          <a:noFill/>
          <a:ln/>
        </p:spPr>
        <p:txBody>
          <a:bodyPr wrap="square" lIns="0" tIns="0" rIns="0" bIns="0" rtlCol="0" anchor="t"/>
          <a:lstStyle/>
          <a:p>
            <a:pPr indent="0" marL="0">
              <a:buNone/>
            </a:pPr>
            <a:r>
              <a:rPr lang="en-US" sz="1350" b="1" dirty="0">
                <a:solidFill>
                  <a:srgbClr val="12343B"/>
                </a:solidFill>
                <a:latin typeface="Calibri" pitchFamily="34" charset="0"/>
                <a:ea typeface="Calibri" pitchFamily="34" charset="-122"/>
                <a:cs typeface="Calibri" pitchFamily="34" charset="-120"/>
              </a:rPr>
              <a:t>World Bank</a:t>
            </a:r>
            <a:endParaRPr lang="en-US" sz="1350" dirty="0"/>
          </a:p>
        </p:txBody>
      </p:sp>
      <p:sp>
        <p:nvSpPr>
          <p:cNvPr id="17" name="Text 13"/>
          <p:cNvSpPr txBox="1"/>
          <p:nvPr/>
        </p:nvSpPr>
        <p:spPr>
          <a:xfrm>
            <a:off x="1170432" y="3108960"/>
            <a:ext cx="3017520" cy="256032"/>
          </a:xfrm>
          <a:prstGeom prst="rect">
            <a:avLst/>
          </a:prstGeom>
          <a:noFill/>
          <a:ln/>
        </p:spPr>
        <p:txBody>
          <a:bodyPr wrap="square" lIns="0" tIns="0" rIns="0" bIns="0" rtlCol="0" anchor="t"/>
          <a:lstStyle/>
          <a:p>
            <a:pPr indent="0" marL="0">
              <a:buNone/>
            </a:pPr>
            <a:r>
              <a:rPr lang="en-US" sz="1150" dirty="0">
                <a:solidFill>
                  <a:srgbClr val="5B6770"/>
                </a:solidFill>
                <a:latin typeface="Calibri" pitchFamily="34" charset="0"/>
                <a:ea typeface="Calibri" pitchFamily="34" charset="-122"/>
                <a:cs typeface="Calibri" pitchFamily="34" charset="-120"/>
              </a:rPr>
              <a:t>World Development Indicators</a:t>
            </a:r>
            <a:endParaRPr lang="en-US" sz="1150" dirty="0"/>
          </a:p>
        </p:txBody>
      </p:sp>
      <p:sp>
        <p:nvSpPr>
          <p:cNvPr id="18" name="Shape 14"/>
          <p:cNvSpPr/>
          <p:nvPr/>
        </p:nvSpPr>
        <p:spPr>
          <a:xfrm>
            <a:off x="4297680" y="3090672"/>
            <a:ext cx="548640" cy="0"/>
          </a:xfrm>
          <a:prstGeom prst="line">
            <a:avLst/>
          </a:prstGeom>
          <a:noFill/>
          <a:ln w="25400">
            <a:solidFill>
              <a:srgbClr val="1F7A7A"/>
            </a:solidFill>
            <a:prstDash val="solid"/>
            <a:tailEnd type="triangle"/>
          </a:ln>
        </p:spPr>
      </p:sp>
      <p:sp>
        <p:nvSpPr>
          <p:cNvPr id="19" name="Shape 15"/>
          <p:cNvSpPr/>
          <p:nvPr/>
        </p:nvSpPr>
        <p:spPr>
          <a:xfrm>
            <a:off x="548640" y="3529584"/>
            <a:ext cx="3749040" cy="640080"/>
          </a:xfrm>
          <a:prstGeom prst="roundRect">
            <a:avLst>
              <a:gd name="adj" fmla="val 11429"/>
            </a:avLst>
          </a:prstGeom>
          <a:solidFill>
            <a:srgbClr val="EFF6F5"/>
          </a:solidFill>
          <a:ln w="15875">
            <a:solidFill>
              <a:srgbClr val="1F7A7A"/>
            </a:solidFill>
            <a:prstDash val="solid"/>
          </a:ln>
        </p:spPr>
      </p:sp>
      <p:sp>
        <p:nvSpPr>
          <p:cNvPr id="20" name="Shape 16"/>
          <p:cNvSpPr/>
          <p:nvPr/>
        </p:nvSpPr>
        <p:spPr>
          <a:xfrm>
            <a:off x="676656" y="3666744"/>
            <a:ext cx="365760" cy="365760"/>
          </a:xfrm>
          <a:prstGeom prst="ellipse">
            <a:avLst/>
          </a:prstGeom>
          <a:solidFill>
            <a:srgbClr val="1F7A7A"/>
          </a:solidFill>
          <a:ln w="12700">
            <a:solidFill>
              <a:srgbClr val="1F7A7A"/>
            </a:solidFill>
            <a:prstDash val="solid"/>
          </a:ln>
        </p:spPr>
      </p:sp>
      <p:pic>
        <p:nvPicPr>
          <p:cNvPr id="21" name="Image 2" descr="preencoded.png">    </p:cNvPr>
          <p:cNvPicPr>
            <a:picLocks noChangeAspect="1"/>
          </p:cNvPicPr>
          <p:nvPr/>
        </p:nvPicPr>
        <p:blipFill>
          <a:blip r:embed="rId3"/>
          <a:stretch>
            <a:fillRect/>
          </a:stretch>
        </p:blipFill>
        <p:spPr>
          <a:xfrm>
            <a:off x="771754" y="3761842"/>
            <a:ext cx="175565" cy="175565"/>
          </a:xfrm>
          <a:prstGeom prst="rect">
            <a:avLst/>
          </a:prstGeom>
        </p:spPr>
      </p:pic>
      <p:sp>
        <p:nvSpPr>
          <p:cNvPr id="22" name="Text 17"/>
          <p:cNvSpPr txBox="1"/>
          <p:nvPr/>
        </p:nvSpPr>
        <p:spPr>
          <a:xfrm>
            <a:off x="1170432" y="3602736"/>
            <a:ext cx="3017520" cy="274320"/>
          </a:xfrm>
          <a:prstGeom prst="rect">
            <a:avLst/>
          </a:prstGeom>
          <a:noFill/>
          <a:ln/>
        </p:spPr>
        <p:txBody>
          <a:bodyPr wrap="square" lIns="0" tIns="0" rIns="0" bIns="0" rtlCol="0" anchor="t"/>
          <a:lstStyle/>
          <a:p>
            <a:pPr indent="0" marL="0">
              <a:buNone/>
            </a:pPr>
            <a:r>
              <a:rPr lang="en-US" sz="1350" b="1" dirty="0">
                <a:solidFill>
                  <a:srgbClr val="12343B"/>
                </a:solidFill>
                <a:latin typeface="Calibri" pitchFamily="34" charset="0"/>
                <a:ea typeface="Calibri" pitchFamily="34" charset="-122"/>
                <a:cs typeface="Calibri" pitchFamily="34" charset="-120"/>
              </a:rPr>
              <a:t>National central bank</a:t>
            </a:r>
            <a:endParaRPr lang="en-US" sz="1350" dirty="0"/>
          </a:p>
        </p:txBody>
      </p:sp>
      <p:sp>
        <p:nvSpPr>
          <p:cNvPr id="23" name="Text 18"/>
          <p:cNvSpPr txBox="1"/>
          <p:nvPr/>
        </p:nvSpPr>
        <p:spPr>
          <a:xfrm>
            <a:off x="1170432" y="3867912"/>
            <a:ext cx="3017520" cy="256032"/>
          </a:xfrm>
          <a:prstGeom prst="rect">
            <a:avLst/>
          </a:prstGeom>
          <a:noFill/>
          <a:ln/>
        </p:spPr>
        <p:txBody>
          <a:bodyPr wrap="square" lIns="0" tIns="0" rIns="0" bIns="0" rtlCol="0" anchor="t"/>
          <a:lstStyle/>
          <a:p>
            <a:pPr indent="0" marL="0">
              <a:buNone/>
            </a:pPr>
            <a:r>
              <a:rPr lang="en-US" sz="1150" dirty="0">
                <a:solidFill>
                  <a:srgbClr val="5B6770"/>
                </a:solidFill>
                <a:latin typeface="Calibri" pitchFamily="34" charset="0"/>
                <a:ea typeface="Calibri" pitchFamily="34" charset="-122"/>
                <a:cs typeface="Calibri" pitchFamily="34" charset="-120"/>
              </a:rPr>
              <a:t>Policy rate, exchange rate, money</a:t>
            </a:r>
            <a:endParaRPr lang="en-US" sz="1150" dirty="0"/>
          </a:p>
        </p:txBody>
      </p:sp>
      <p:sp>
        <p:nvSpPr>
          <p:cNvPr id="24" name="Shape 19"/>
          <p:cNvSpPr/>
          <p:nvPr/>
        </p:nvSpPr>
        <p:spPr>
          <a:xfrm>
            <a:off x="4297680" y="3849624"/>
            <a:ext cx="548640" cy="0"/>
          </a:xfrm>
          <a:prstGeom prst="line">
            <a:avLst/>
          </a:prstGeom>
          <a:noFill/>
          <a:ln w="25400">
            <a:solidFill>
              <a:srgbClr val="1F7A7A"/>
            </a:solidFill>
            <a:prstDash val="solid"/>
            <a:tailEnd type="triangle"/>
          </a:ln>
        </p:spPr>
      </p:sp>
      <p:sp>
        <p:nvSpPr>
          <p:cNvPr id="25" name="Shape 20"/>
          <p:cNvSpPr/>
          <p:nvPr/>
        </p:nvSpPr>
        <p:spPr>
          <a:xfrm>
            <a:off x="548640" y="4288536"/>
            <a:ext cx="3749040" cy="640080"/>
          </a:xfrm>
          <a:prstGeom prst="roundRect">
            <a:avLst>
              <a:gd name="adj" fmla="val 11429"/>
            </a:avLst>
          </a:prstGeom>
          <a:solidFill>
            <a:srgbClr val="EFF6F5"/>
          </a:solidFill>
          <a:ln w="15875">
            <a:solidFill>
              <a:srgbClr val="1F7A7A"/>
            </a:solidFill>
            <a:prstDash val="solid"/>
          </a:ln>
        </p:spPr>
      </p:sp>
      <p:sp>
        <p:nvSpPr>
          <p:cNvPr id="26" name="Shape 21"/>
          <p:cNvSpPr/>
          <p:nvPr/>
        </p:nvSpPr>
        <p:spPr>
          <a:xfrm>
            <a:off x="676656" y="4425696"/>
            <a:ext cx="365760" cy="365760"/>
          </a:xfrm>
          <a:prstGeom prst="ellipse">
            <a:avLst/>
          </a:prstGeom>
          <a:solidFill>
            <a:srgbClr val="1F7A7A"/>
          </a:solidFill>
          <a:ln w="12700">
            <a:solidFill>
              <a:srgbClr val="1F7A7A"/>
            </a:solidFill>
            <a:prstDash val="solid"/>
          </a:ln>
        </p:spPr>
      </p:sp>
      <p:pic>
        <p:nvPicPr>
          <p:cNvPr id="27" name="Image 3" descr="preencoded.png">    </p:cNvPr>
          <p:cNvPicPr>
            <a:picLocks noChangeAspect="1"/>
          </p:cNvPicPr>
          <p:nvPr/>
        </p:nvPicPr>
        <p:blipFill>
          <a:blip r:embed="rId4"/>
          <a:stretch>
            <a:fillRect/>
          </a:stretch>
        </p:blipFill>
        <p:spPr>
          <a:xfrm>
            <a:off x="771754" y="4520794"/>
            <a:ext cx="175565" cy="175565"/>
          </a:xfrm>
          <a:prstGeom prst="rect">
            <a:avLst/>
          </a:prstGeom>
        </p:spPr>
      </p:pic>
      <p:sp>
        <p:nvSpPr>
          <p:cNvPr id="28" name="Text 22"/>
          <p:cNvSpPr txBox="1"/>
          <p:nvPr/>
        </p:nvSpPr>
        <p:spPr>
          <a:xfrm>
            <a:off x="1170432" y="4361688"/>
            <a:ext cx="3017520" cy="274320"/>
          </a:xfrm>
          <a:prstGeom prst="rect">
            <a:avLst/>
          </a:prstGeom>
          <a:noFill/>
          <a:ln/>
        </p:spPr>
        <p:txBody>
          <a:bodyPr wrap="square" lIns="0" tIns="0" rIns="0" bIns="0" rtlCol="0" anchor="t"/>
          <a:lstStyle/>
          <a:p>
            <a:pPr indent="0" marL="0">
              <a:buNone/>
            </a:pPr>
            <a:r>
              <a:rPr lang="en-US" sz="1350" b="1" dirty="0">
                <a:solidFill>
                  <a:srgbClr val="12343B"/>
                </a:solidFill>
                <a:latin typeface="Calibri" pitchFamily="34" charset="0"/>
                <a:ea typeface="Calibri" pitchFamily="34" charset="-122"/>
                <a:cs typeface="Calibri" pitchFamily="34" charset="-120"/>
              </a:rPr>
              <a:t>National statistics office</a:t>
            </a:r>
            <a:endParaRPr lang="en-US" sz="1350" dirty="0"/>
          </a:p>
        </p:txBody>
      </p:sp>
      <p:sp>
        <p:nvSpPr>
          <p:cNvPr id="29" name="Text 23"/>
          <p:cNvSpPr txBox="1"/>
          <p:nvPr/>
        </p:nvSpPr>
        <p:spPr>
          <a:xfrm>
            <a:off x="1170432" y="4626864"/>
            <a:ext cx="3017520" cy="256032"/>
          </a:xfrm>
          <a:prstGeom prst="rect">
            <a:avLst/>
          </a:prstGeom>
          <a:noFill/>
          <a:ln/>
        </p:spPr>
        <p:txBody>
          <a:bodyPr wrap="square" lIns="0" tIns="0" rIns="0" bIns="0" rtlCol="0" anchor="t"/>
          <a:lstStyle/>
          <a:p>
            <a:pPr indent="0" marL="0">
              <a:buNone/>
            </a:pPr>
            <a:r>
              <a:rPr lang="en-US" sz="1150" dirty="0">
                <a:solidFill>
                  <a:srgbClr val="5B6770"/>
                </a:solidFill>
                <a:latin typeface="Calibri" pitchFamily="34" charset="0"/>
                <a:ea typeface="Calibri" pitchFamily="34" charset="-122"/>
                <a:cs typeface="Calibri" pitchFamily="34" charset="-120"/>
              </a:rPr>
              <a:t>GDP, inflation, employment</a:t>
            </a:r>
            <a:endParaRPr lang="en-US" sz="1150" dirty="0"/>
          </a:p>
        </p:txBody>
      </p:sp>
      <p:sp>
        <p:nvSpPr>
          <p:cNvPr id="30" name="Shape 24"/>
          <p:cNvSpPr/>
          <p:nvPr/>
        </p:nvSpPr>
        <p:spPr>
          <a:xfrm>
            <a:off x="4297680" y="4608576"/>
            <a:ext cx="548640" cy="0"/>
          </a:xfrm>
          <a:prstGeom prst="line">
            <a:avLst/>
          </a:prstGeom>
          <a:noFill/>
          <a:ln w="25400">
            <a:solidFill>
              <a:srgbClr val="1F7A7A"/>
            </a:solidFill>
            <a:prstDash val="solid"/>
            <a:tailEnd type="triangle"/>
          </a:ln>
        </p:spPr>
      </p:sp>
      <p:sp>
        <p:nvSpPr>
          <p:cNvPr id="31" name="Shape 25"/>
          <p:cNvSpPr/>
          <p:nvPr/>
        </p:nvSpPr>
        <p:spPr>
          <a:xfrm>
            <a:off x="548640" y="5047488"/>
            <a:ext cx="3749040" cy="603504"/>
          </a:xfrm>
          <a:prstGeom prst="roundRect">
            <a:avLst>
              <a:gd name="adj" fmla="val 12121"/>
            </a:avLst>
          </a:prstGeom>
          <a:solidFill>
            <a:srgbClr val="F6EBD3"/>
          </a:solidFill>
          <a:ln w="15875">
            <a:solidFill>
              <a:srgbClr val="B8862B"/>
            </a:solidFill>
            <a:prstDash val="dash"/>
          </a:ln>
        </p:spPr>
      </p:sp>
      <p:sp>
        <p:nvSpPr>
          <p:cNvPr id="32" name="Text 26"/>
          <p:cNvSpPr txBox="1"/>
          <p:nvPr/>
        </p:nvSpPr>
        <p:spPr>
          <a:xfrm>
            <a:off x="731520" y="5102352"/>
            <a:ext cx="3474720" cy="512064"/>
          </a:xfrm>
          <a:prstGeom prst="rect">
            <a:avLst/>
          </a:prstGeom>
          <a:noFill/>
          <a:ln/>
        </p:spPr>
        <p:txBody>
          <a:bodyPr wrap="square" lIns="0" tIns="0" rIns="0" bIns="0" rtlCol="0" anchor="t"/>
          <a:lstStyle/>
          <a:p>
            <a:pPr indent="0" marL="0">
              <a:buNone/>
            </a:pPr>
            <a:r>
              <a:rPr lang="en-US" sz="1300" b="1" dirty="0">
                <a:solidFill>
                  <a:srgbClr val="12343B"/>
                </a:solidFill>
                <a:latin typeface="Calibri" pitchFamily="34" charset="0"/>
                <a:ea typeface="Calibri" pitchFamily="34" charset="-122"/>
                <a:cs typeface="Calibri" pitchFamily="34" charset="-120"/>
              </a:rPr>
              <a:t>Client documents (optional)</a:t>
            </a:r>
            <a:endParaRPr lang="en-US" sz="1300" dirty="0"/>
          </a:p>
          <a:p>
            <a:pPr indent="0" marL="0">
              <a:buNone/>
            </a:pPr>
            <a:r>
              <a:rPr lang="en-US" sz="1150" dirty="0">
                <a:solidFill>
                  <a:srgbClr val="5B6770"/>
                </a:solidFill>
                <a:latin typeface="Calibri" pitchFamily="34" charset="0"/>
                <a:ea typeface="Calibri" pitchFamily="34" charset="-122"/>
                <a:cs typeface="Calibri" pitchFamily="34" charset="-120"/>
              </a:rPr>
              <a:t>Context only, always labelled</a:t>
            </a:r>
            <a:endParaRPr lang="en-US" sz="1300" dirty="0"/>
          </a:p>
        </p:txBody>
      </p:sp>
      <p:sp>
        <p:nvSpPr>
          <p:cNvPr id="33" name="Shape 27"/>
          <p:cNvSpPr/>
          <p:nvPr/>
        </p:nvSpPr>
        <p:spPr>
          <a:xfrm>
            <a:off x="4297680" y="5349240"/>
            <a:ext cx="548640" cy="0"/>
          </a:xfrm>
          <a:prstGeom prst="line">
            <a:avLst/>
          </a:prstGeom>
          <a:noFill/>
          <a:ln w="25400">
            <a:solidFill>
              <a:srgbClr val="B8862B"/>
            </a:solidFill>
            <a:prstDash val="dash"/>
            <a:tailEnd type="triangle"/>
          </a:ln>
        </p:spPr>
      </p:sp>
      <p:sp>
        <p:nvSpPr>
          <p:cNvPr id="34" name="Shape 28"/>
          <p:cNvSpPr/>
          <p:nvPr/>
        </p:nvSpPr>
        <p:spPr>
          <a:xfrm>
            <a:off x="4892040" y="2011680"/>
            <a:ext cx="2651760" cy="3630168"/>
          </a:xfrm>
          <a:prstGeom prst="roundRect">
            <a:avLst>
              <a:gd name="adj" fmla="val 2759"/>
            </a:avLst>
          </a:prstGeom>
          <a:solidFill>
            <a:srgbClr val="12343B"/>
          </a:solidFill>
          <a:ln w="12700">
            <a:solidFill>
              <a:srgbClr val="12343B"/>
            </a:solidFill>
            <a:prstDash val="solid"/>
          </a:ln>
        </p:spPr>
      </p:sp>
      <p:sp>
        <p:nvSpPr>
          <p:cNvPr id="35" name="Text 29"/>
          <p:cNvSpPr txBox="1"/>
          <p:nvPr/>
        </p:nvSpPr>
        <p:spPr>
          <a:xfrm>
            <a:off x="5029200" y="2240280"/>
            <a:ext cx="2377440" cy="82296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Verified Figures Register</a:t>
            </a:r>
            <a:endParaRPr lang="en-US" sz="1900" dirty="0"/>
          </a:p>
        </p:txBody>
      </p:sp>
      <p:sp>
        <p:nvSpPr>
          <p:cNvPr id="36" name="Shape 30"/>
          <p:cNvSpPr/>
          <p:nvPr/>
        </p:nvSpPr>
        <p:spPr>
          <a:xfrm>
            <a:off x="5303520" y="3200400"/>
            <a:ext cx="1828800" cy="0"/>
          </a:xfrm>
          <a:prstGeom prst="line">
            <a:avLst/>
          </a:prstGeom>
          <a:noFill/>
          <a:ln w="12700">
            <a:solidFill>
              <a:srgbClr val="3E6770"/>
            </a:solidFill>
            <a:prstDash val="solid"/>
          </a:ln>
        </p:spPr>
      </p:sp>
      <p:sp>
        <p:nvSpPr>
          <p:cNvPr id="37" name="Text 31"/>
          <p:cNvSpPr txBox="1"/>
          <p:nvPr/>
        </p:nvSpPr>
        <p:spPr>
          <a:xfrm>
            <a:off x="5074920" y="3383280"/>
            <a:ext cx="2286000" cy="1828800"/>
          </a:xfrm>
          <a:prstGeom prst="rect">
            <a:avLst/>
          </a:prstGeom>
          <a:noFill/>
          <a:ln/>
        </p:spPr>
        <p:txBody>
          <a:bodyPr wrap="square" lIns="0" tIns="0" rIns="0" bIns="0" rtlCol="0" anchor="t"/>
          <a:lstStyle/>
          <a:p>
            <a:pPr algn="ctr" indent="0" marL="0">
              <a:spcAft>
                <a:spcPts val="1000"/>
              </a:spcAft>
              <a:buNone/>
            </a:pPr>
            <a:r>
              <a:rPr lang="en-US" sz="1300" dirty="0">
                <a:solidFill>
                  <a:srgbClr val="CFE3E2"/>
                </a:solidFill>
                <a:latin typeface="Calibri" pitchFamily="34" charset="0"/>
                <a:ea typeface="Calibri" pitchFamily="34" charset="-122"/>
                <a:cs typeface="Calibri" pitchFamily="34" charset="-120"/>
              </a:rPr>
              <a:t>One value per indicator and year</a:t>
            </a:r>
            <a:endParaRPr lang="en-US" sz="1300" dirty="0"/>
          </a:p>
          <a:p>
            <a:pPr algn="ctr" indent="0" marL="0">
              <a:spcAft>
                <a:spcPts val="1000"/>
              </a:spcAft>
              <a:buNone/>
            </a:pPr>
            <a:r>
              <a:rPr lang="en-US" sz="1300" dirty="0">
                <a:solidFill>
                  <a:srgbClr val="CFE3E2"/>
                </a:solidFill>
                <a:latin typeface="Calibri" pitchFamily="34" charset="0"/>
                <a:ea typeface="Calibri" pitchFamily="34" charset="-122"/>
                <a:cs typeface="Calibri" pitchFamily="34" charset="-120"/>
              </a:rPr>
              <a:t>Source + date + unit</a:t>
            </a:r>
            <a:endParaRPr lang="en-US" sz="1300" dirty="0"/>
          </a:p>
          <a:p>
            <a:pPr algn="ctr" indent="0" marL="0">
              <a:spcAft>
                <a:spcPts val="1000"/>
              </a:spcAft>
              <a:buNone/>
            </a:pPr>
            <a:r>
              <a:rPr lang="en-US" sz="1300" dirty="0">
                <a:solidFill>
                  <a:srgbClr val="CFE3E2"/>
                </a:solidFill>
                <a:latin typeface="Calibri" pitchFamily="34" charset="0"/>
                <a:ea typeface="Calibri" pitchFamily="34" charset="-122"/>
                <a:cs typeface="Calibri" pitchFamily="34" charset="-120"/>
              </a:rPr>
              <a:t>Actual or forecast</a:t>
            </a:r>
            <a:endParaRPr lang="en-US" sz="1300" dirty="0"/>
          </a:p>
        </p:txBody>
      </p:sp>
      <p:sp>
        <p:nvSpPr>
          <p:cNvPr id="38" name="Shape 32"/>
          <p:cNvSpPr/>
          <p:nvPr/>
        </p:nvSpPr>
        <p:spPr>
          <a:xfrm>
            <a:off x="7543800" y="2560320"/>
            <a:ext cx="777240" cy="0"/>
          </a:xfrm>
          <a:prstGeom prst="line">
            <a:avLst/>
          </a:prstGeom>
          <a:noFill/>
          <a:ln w="25400">
            <a:solidFill>
              <a:srgbClr val="12343B"/>
            </a:solidFill>
            <a:prstDash val="solid"/>
            <a:tailEnd type="triangle"/>
          </a:ln>
        </p:spPr>
      </p:sp>
      <p:sp>
        <p:nvSpPr>
          <p:cNvPr id="39" name="Shape 33"/>
          <p:cNvSpPr/>
          <p:nvPr/>
        </p:nvSpPr>
        <p:spPr>
          <a:xfrm>
            <a:off x="8412480" y="2148840"/>
            <a:ext cx="3230575" cy="822960"/>
          </a:xfrm>
          <a:prstGeom prst="roundRect">
            <a:avLst>
              <a:gd name="adj" fmla="val 8889"/>
            </a:avLst>
          </a:prstGeom>
          <a:solidFill>
            <a:srgbClr val="FFFFFF"/>
          </a:solidFill>
          <a:ln w="15875">
            <a:solidFill>
              <a:srgbClr val="12343B"/>
            </a:solidFill>
            <a:prstDash val="solid"/>
          </a:ln>
        </p:spPr>
      </p:sp>
      <p:sp>
        <p:nvSpPr>
          <p:cNvPr id="40" name="Shape 34"/>
          <p:cNvSpPr/>
          <p:nvPr/>
        </p:nvSpPr>
        <p:spPr>
          <a:xfrm>
            <a:off x="8577072" y="2331720"/>
            <a:ext cx="457200" cy="457200"/>
          </a:xfrm>
          <a:prstGeom prst="ellipse">
            <a:avLst/>
          </a:prstGeom>
          <a:solidFill>
            <a:srgbClr val="B8862B"/>
          </a:solidFill>
          <a:ln w="12700">
            <a:solidFill>
              <a:srgbClr val="B8862B"/>
            </a:solidFill>
            <a:prstDash val="solid"/>
          </a:ln>
        </p:spPr>
      </p:sp>
      <p:sp>
        <p:nvSpPr>
          <p:cNvPr id="41" name="Text 35"/>
          <p:cNvSpPr txBox="1"/>
          <p:nvPr/>
        </p:nvSpPr>
        <p:spPr>
          <a:xfrm>
            <a:off x="8577072" y="23317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2" name="Text 36"/>
          <p:cNvSpPr txBox="1"/>
          <p:nvPr/>
        </p:nvSpPr>
        <p:spPr>
          <a:xfrm>
            <a:off x="9189720" y="2148840"/>
            <a:ext cx="2331720" cy="822960"/>
          </a:xfrm>
          <a:prstGeom prst="rect">
            <a:avLst/>
          </a:prstGeom>
          <a:noFill/>
          <a:ln/>
        </p:spPr>
        <p:txBody>
          <a:bodyPr wrap="square" lIns="0" tIns="0" rIns="0" bIns="0" rtlCol="0" anchor="ctr"/>
          <a:lstStyle/>
          <a:p>
            <a:pPr indent="0" marL="0">
              <a:buNone/>
            </a:pPr>
            <a:r>
              <a:rPr lang="en-US" sz="1400" b="1" dirty="0">
                <a:solidFill>
                  <a:srgbClr val="12343B"/>
                </a:solidFill>
                <a:latin typeface="Calibri" pitchFamily="34" charset="0"/>
                <a:ea typeface="Calibri" pitchFamily="34" charset="-122"/>
                <a:cs typeface="Calibri" pitchFamily="34" charset="-120"/>
              </a:rPr>
              <a:t>Macroeconomic Impact Report</a:t>
            </a:r>
            <a:endParaRPr lang="en-US" sz="1400" dirty="0"/>
          </a:p>
        </p:txBody>
      </p:sp>
      <p:sp>
        <p:nvSpPr>
          <p:cNvPr id="43" name="Shape 37"/>
          <p:cNvSpPr/>
          <p:nvPr/>
        </p:nvSpPr>
        <p:spPr>
          <a:xfrm>
            <a:off x="7543800" y="3749040"/>
            <a:ext cx="777240" cy="0"/>
          </a:xfrm>
          <a:prstGeom prst="line">
            <a:avLst/>
          </a:prstGeom>
          <a:noFill/>
          <a:ln w="25400">
            <a:solidFill>
              <a:srgbClr val="12343B"/>
            </a:solidFill>
            <a:prstDash val="solid"/>
            <a:tailEnd type="triangle"/>
          </a:ln>
        </p:spPr>
      </p:sp>
      <p:sp>
        <p:nvSpPr>
          <p:cNvPr id="44" name="Shape 38"/>
          <p:cNvSpPr/>
          <p:nvPr/>
        </p:nvSpPr>
        <p:spPr>
          <a:xfrm>
            <a:off x="8412480" y="3337560"/>
            <a:ext cx="3230575" cy="822960"/>
          </a:xfrm>
          <a:prstGeom prst="roundRect">
            <a:avLst>
              <a:gd name="adj" fmla="val 8889"/>
            </a:avLst>
          </a:prstGeom>
          <a:solidFill>
            <a:srgbClr val="FFFFFF"/>
          </a:solidFill>
          <a:ln w="15875">
            <a:solidFill>
              <a:srgbClr val="12343B"/>
            </a:solidFill>
            <a:prstDash val="solid"/>
          </a:ln>
        </p:spPr>
      </p:sp>
      <p:sp>
        <p:nvSpPr>
          <p:cNvPr id="45" name="Shape 39"/>
          <p:cNvSpPr/>
          <p:nvPr/>
        </p:nvSpPr>
        <p:spPr>
          <a:xfrm>
            <a:off x="8577072" y="3520440"/>
            <a:ext cx="457200" cy="457200"/>
          </a:xfrm>
          <a:prstGeom prst="ellipse">
            <a:avLst/>
          </a:prstGeom>
          <a:solidFill>
            <a:srgbClr val="B8862B"/>
          </a:solidFill>
          <a:ln w="12700">
            <a:solidFill>
              <a:srgbClr val="B8862B"/>
            </a:solidFill>
            <a:prstDash val="solid"/>
          </a:ln>
        </p:spPr>
      </p:sp>
      <p:sp>
        <p:nvSpPr>
          <p:cNvPr id="46" name="Text 40"/>
          <p:cNvSpPr txBox="1"/>
          <p:nvPr/>
        </p:nvSpPr>
        <p:spPr>
          <a:xfrm>
            <a:off x="8577072" y="35204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47" name="Text 41"/>
          <p:cNvSpPr txBox="1"/>
          <p:nvPr/>
        </p:nvSpPr>
        <p:spPr>
          <a:xfrm>
            <a:off x="9189720" y="3337560"/>
            <a:ext cx="2331720" cy="822960"/>
          </a:xfrm>
          <a:prstGeom prst="rect">
            <a:avLst/>
          </a:prstGeom>
          <a:noFill/>
          <a:ln/>
        </p:spPr>
        <p:txBody>
          <a:bodyPr wrap="square" lIns="0" tIns="0" rIns="0" bIns="0" rtlCol="0" anchor="ctr"/>
          <a:lstStyle/>
          <a:p>
            <a:pPr indent="0" marL="0">
              <a:buNone/>
            </a:pPr>
            <a:r>
              <a:rPr lang="en-US" sz="1400" b="1" dirty="0">
                <a:solidFill>
                  <a:srgbClr val="12343B"/>
                </a:solidFill>
                <a:latin typeface="Calibri" pitchFamily="34" charset="0"/>
                <a:ea typeface="Calibri" pitchFamily="34" charset="-122"/>
                <a:cs typeface="Calibri" pitchFamily="34" charset="-120"/>
              </a:rPr>
              <a:t>Risk &amp; Opportunities Matrix</a:t>
            </a:r>
            <a:endParaRPr lang="en-US" sz="1400" dirty="0"/>
          </a:p>
        </p:txBody>
      </p:sp>
      <p:sp>
        <p:nvSpPr>
          <p:cNvPr id="48" name="Shape 42"/>
          <p:cNvSpPr/>
          <p:nvPr/>
        </p:nvSpPr>
        <p:spPr>
          <a:xfrm>
            <a:off x="7543800" y="4937760"/>
            <a:ext cx="777240" cy="0"/>
          </a:xfrm>
          <a:prstGeom prst="line">
            <a:avLst/>
          </a:prstGeom>
          <a:noFill/>
          <a:ln w="25400">
            <a:solidFill>
              <a:srgbClr val="12343B"/>
            </a:solidFill>
            <a:prstDash val="solid"/>
            <a:tailEnd type="triangle"/>
          </a:ln>
        </p:spPr>
      </p:sp>
      <p:sp>
        <p:nvSpPr>
          <p:cNvPr id="49" name="Shape 43"/>
          <p:cNvSpPr/>
          <p:nvPr/>
        </p:nvSpPr>
        <p:spPr>
          <a:xfrm>
            <a:off x="8412480" y="4526280"/>
            <a:ext cx="3230575" cy="822960"/>
          </a:xfrm>
          <a:prstGeom prst="roundRect">
            <a:avLst>
              <a:gd name="adj" fmla="val 8889"/>
            </a:avLst>
          </a:prstGeom>
          <a:solidFill>
            <a:srgbClr val="FFFFFF"/>
          </a:solidFill>
          <a:ln w="15875">
            <a:solidFill>
              <a:srgbClr val="12343B"/>
            </a:solidFill>
            <a:prstDash val="solid"/>
          </a:ln>
        </p:spPr>
      </p:sp>
      <p:sp>
        <p:nvSpPr>
          <p:cNvPr id="50" name="Shape 44"/>
          <p:cNvSpPr/>
          <p:nvPr/>
        </p:nvSpPr>
        <p:spPr>
          <a:xfrm>
            <a:off x="8577072" y="4709160"/>
            <a:ext cx="457200" cy="457200"/>
          </a:xfrm>
          <a:prstGeom prst="ellipse">
            <a:avLst/>
          </a:prstGeom>
          <a:solidFill>
            <a:srgbClr val="B8862B"/>
          </a:solidFill>
          <a:ln w="12700">
            <a:solidFill>
              <a:srgbClr val="B8862B"/>
            </a:solidFill>
            <a:prstDash val="solid"/>
          </a:ln>
        </p:spPr>
      </p:sp>
      <p:sp>
        <p:nvSpPr>
          <p:cNvPr id="51" name="Text 45"/>
          <p:cNvSpPr txBox="1"/>
          <p:nvPr/>
        </p:nvSpPr>
        <p:spPr>
          <a:xfrm>
            <a:off x="8577072" y="4709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52" name="Text 46"/>
          <p:cNvSpPr txBox="1"/>
          <p:nvPr/>
        </p:nvSpPr>
        <p:spPr>
          <a:xfrm>
            <a:off x="9189720" y="4526280"/>
            <a:ext cx="2331720" cy="822960"/>
          </a:xfrm>
          <a:prstGeom prst="rect">
            <a:avLst/>
          </a:prstGeom>
          <a:noFill/>
          <a:ln/>
        </p:spPr>
        <p:txBody>
          <a:bodyPr wrap="square" lIns="0" tIns="0" rIns="0" bIns="0" rtlCol="0" anchor="ctr"/>
          <a:lstStyle/>
          <a:p>
            <a:pPr indent="0" marL="0">
              <a:buNone/>
            </a:pPr>
            <a:r>
              <a:rPr lang="en-US" sz="1400" b="1" dirty="0">
                <a:solidFill>
                  <a:srgbClr val="12343B"/>
                </a:solidFill>
                <a:latin typeface="Calibri" pitchFamily="34" charset="0"/>
                <a:ea typeface="Calibri" pitchFamily="34" charset="-122"/>
                <a:cs typeface="Calibri" pitchFamily="34" charset="-120"/>
              </a:rPr>
              <a:t>Key Indicators Database</a:t>
            </a:r>
            <a:endParaRPr lang="en-US" sz="1400" dirty="0"/>
          </a:p>
        </p:txBody>
      </p:sp>
      <p:sp>
        <p:nvSpPr>
          <p:cNvPr id="53" name="Shape 47"/>
          <p:cNvSpPr/>
          <p:nvPr/>
        </p:nvSpPr>
        <p:spPr>
          <a:xfrm>
            <a:off x="548640" y="5760720"/>
            <a:ext cx="11094415" cy="502920"/>
          </a:xfrm>
          <a:prstGeom prst="roundRect">
            <a:avLst>
              <a:gd name="adj" fmla="val 14545"/>
            </a:avLst>
          </a:prstGeom>
          <a:solidFill>
            <a:srgbClr val="F6E1DD"/>
          </a:solidFill>
          <a:ln w="12700">
            <a:solidFill>
              <a:srgbClr val="F6E1DD"/>
            </a:solidFill>
            <a:prstDash val="solid"/>
          </a:ln>
        </p:spPr>
      </p:sp>
      <p:sp>
        <p:nvSpPr>
          <p:cNvPr id="54" name="Shape 48"/>
          <p:cNvSpPr/>
          <p:nvPr/>
        </p:nvSpPr>
        <p:spPr>
          <a:xfrm>
            <a:off x="685800" y="5833872"/>
            <a:ext cx="365760" cy="365760"/>
          </a:xfrm>
          <a:prstGeom prst="ellipse">
            <a:avLst/>
          </a:prstGeom>
          <a:solidFill>
            <a:srgbClr val="A8443A"/>
          </a:solidFill>
          <a:ln w="12700">
            <a:solidFill>
              <a:srgbClr val="A8443A"/>
            </a:solidFill>
            <a:prstDash val="solid"/>
          </a:ln>
        </p:spPr>
      </p:sp>
      <p:pic>
        <p:nvPicPr>
          <p:cNvPr id="55" name="Image 4" descr="preencoded.png">    </p:cNvPr>
          <p:cNvPicPr>
            <a:picLocks noChangeAspect="1"/>
          </p:cNvPicPr>
          <p:nvPr/>
        </p:nvPicPr>
        <p:blipFill>
          <a:blip r:embed="rId5"/>
          <a:stretch>
            <a:fillRect/>
          </a:stretch>
        </p:blipFill>
        <p:spPr>
          <a:xfrm>
            <a:off x="780898" y="5928970"/>
            <a:ext cx="175565" cy="175565"/>
          </a:xfrm>
          <a:prstGeom prst="rect">
            <a:avLst/>
          </a:prstGeom>
        </p:spPr>
      </p:pic>
      <p:sp>
        <p:nvSpPr>
          <p:cNvPr id="56" name="Text 49"/>
          <p:cNvSpPr txBox="1"/>
          <p:nvPr/>
        </p:nvSpPr>
        <p:spPr>
          <a:xfrm>
            <a:off x="1188720" y="5760720"/>
            <a:ext cx="10058400" cy="502920"/>
          </a:xfrm>
          <a:prstGeom prst="rect">
            <a:avLst/>
          </a:prstGeom>
          <a:noFill/>
          <a:ln/>
        </p:spPr>
        <p:txBody>
          <a:bodyPr wrap="square" lIns="0" tIns="0" rIns="0" bIns="0" rtlCol="0" anchor="ctr"/>
          <a:lstStyle/>
          <a:p>
            <a:pPr indent="0" marL="0">
              <a:buNone/>
            </a:pPr>
            <a:r>
              <a:rPr lang="en-US" sz="1400" b="1" dirty="0">
                <a:solidFill>
                  <a:srgbClr val="A8443A"/>
                </a:solidFill>
                <a:latin typeface="Calibri" pitchFamily="34" charset="0"/>
                <a:ea typeface="Calibri" pitchFamily="34" charset="-122"/>
                <a:cs typeface="Calibri" pitchFamily="34" charset="-120"/>
              </a:rPr>
              <a:t>Not accepted as data: news sites, blogs, unofficial aggregators, AI memory</a:t>
            </a:r>
            <a:endParaRPr lang="en-US" sz="1400" dirty="0"/>
          </a:p>
        </p:txBody>
      </p:sp>
      <p:sp>
        <p:nvSpPr>
          <p:cNvPr id="57" name="Text 50"/>
          <p:cNvSpPr txBox="1"/>
          <p:nvPr/>
        </p:nvSpPr>
        <p:spPr>
          <a:xfrm>
            <a:off x="548640" y="6473952"/>
            <a:ext cx="6400800" cy="228600"/>
          </a:xfrm>
          <a:prstGeom prst="rect">
            <a:avLst/>
          </a:prstGeom>
          <a:noFill/>
          <a:ln/>
        </p:spPr>
        <p:txBody>
          <a:bodyPr wrap="square" lIns="0" tIns="0" rIns="0" bIns="0" rtlCol="0" anchor="t"/>
          <a:lstStyle/>
          <a:p>
            <a:pPr indent="0" marL="0">
              <a:buNone/>
            </a:pPr>
            <a:r>
              <a:rPr lang="en-US" sz="900" dirty="0">
                <a:solidFill>
                  <a:srgbClr val="95A1A8"/>
                </a:solidFill>
                <a:latin typeface="Calibri" pitchFamily="34" charset="0"/>
                <a:ea typeface="Calibri" pitchFamily="34" charset="-122"/>
                <a:cs typeface="Calibri" pitchFamily="34" charset="-120"/>
              </a:rPr>
              <a:t>Macroenvironment Agent · Business Requirements · Board review</a:t>
            </a:r>
            <a:endParaRPr lang="en-US" sz="900" dirty="0"/>
          </a:p>
        </p:txBody>
      </p:sp>
      <p:sp>
        <p:nvSpPr>
          <p:cNvPr id="58" name="Text 51"/>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95A1A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11094415" cy="685800"/>
          </a:xfrm>
          <a:prstGeom prst="rect">
            <a:avLst/>
          </a:prstGeom>
          <a:noFill/>
          <a:ln/>
        </p:spPr>
        <p:txBody>
          <a:bodyPr wrap="square" lIns="0" tIns="0" rIns="0" bIns="0" rtlCol="0" anchor="ctr"/>
          <a:lstStyle/>
          <a:p>
            <a:pPr indent="0" marL="0">
              <a:buNone/>
            </a:pPr>
            <a:r>
              <a:rPr lang="en-US" sz="3000" b="1" dirty="0">
                <a:solidFill>
                  <a:srgbClr val="12343B"/>
                </a:solidFill>
                <a:latin typeface="Cambria" pitchFamily="34" charset="0"/>
                <a:ea typeface="Cambria" pitchFamily="34" charset="-122"/>
                <a:cs typeface="Cambria" pitchFamily="34" charset="-120"/>
              </a:rPr>
              <a:t>Five rules applied to every figure</a:t>
            </a:r>
            <a:endParaRPr lang="en-US" sz="3000" dirty="0"/>
          </a:p>
        </p:txBody>
      </p:sp>
      <p:sp>
        <p:nvSpPr>
          <p:cNvPr id="3" name="Text 1"/>
          <p:cNvSpPr txBox="1"/>
          <p:nvPr/>
        </p:nvSpPr>
        <p:spPr>
          <a:xfrm>
            <a:off x="548640" y="1069848"/>
            <a:ext cx="11094415" cy="411480"/>
          </a:xfrm>
          <a:prstGeom prst="rect">
            <a:avLst/>
          </a:prstGeom>
          <a:noFill/>
          <a:ln/>
        </p:spPr>
        <p:txBody>
          <a:bodyPr wrap="square" lIns="0" tIns="0" rIns="0" bIns="0" rtlCol="0" anchor="t"/>
          <a:lstStyle/>
          <a:p>
            <a:pPr indent="0" marL="0">
              <a:buNone/>
            </a:pPr>
            <a:r>
              <a:rPr lang="en-US" sz="1500" dirty="0">
                <a:solidFill>
                  <a:srgbClr val="5B6770"/>
                </a:solidFill>
                <a:latin typeface="Calibri" pitchFamily="34" charset="0"/>
                <a:ea typeface="Calibri" pitchFamily="34" charset="-122"/>
                <a:cs typeface="Calibri" pitchFamily="34" charset="-120"/>
              </a:rPr>
              <a:t>These rules are fixed. The development team designs around them, not the other way round.</a:t>
            </a:r>
            <a:endParaRPr lang="en-US" sz="1500" dirty="0"/>
          </a:p>
        </p:txBody>
      </p:sp>
      <p:sp>
        <p:nvSpPr>
          <p:cNvPr id="4" name="Shape 2"/>
          <p:cNvSpPr/>
          <p:nvPr/>
        </p:nvSpPr>
        <p:spPr>
          <a:xfrm>
            <a:off x="548640" y="1783080"/>
            <a:ext cx="2036003" cy="4343400"/>
          </a:xfrm>
          <a:prstGeom prst="roundRect">
            <a:avLst>
              <a:gd name="adj" fmla="val 3593"/>
            </a:avLst>
          </a:prstGeom>
          <a:solidFill>
            <a:srgbClr val="F4F6F7"/>
          </a:solidFill>
          <a:ln w="12700">
            <a:solidFill>
              <a:srgbClr val="F4F6F7"/>
            </a:solidFill>
            <a:prstDash val="solid"/>
          </a:ln>
        </p:spPr>
      </p:sp>
      <p:sp>
        <p:nvSpPr>
          <p:cNvPr id="5" name="Shape 3"/>
          <p:cNvSpPr/>
          <p:nvPr/>
        </p:nvSpPr>
        <p:spPr>
          <a:xfrm>
            <a:off x="822960" y="2103120"/>
            <a:ext cx="731520" cy="731520"/>
          </a:xfrm>
          <a:prstGeom prst="ellipse">
            <a:avLst/>
          </a:prstGeom>
          <a:solidFill>
            <a:srgbClr val="1F7A7A"/>
          </a:solidFill>
          <a:ln w="12700">
            <a:solidFill>
              <a:srgbClr val="1F7A7A"/>
            </a:solidFill>
            <a:prstDash val="solid"/>
          </a:ln>
        </p:spPr>
      </p:sp>
      <p:pic>
        <p:nvPicPr>
          <p:cNvPr id="6" name="Image 0" descr="preencoded.png">    </p:cNvPr>
          <p:cNvPicPr>
            <a:picLocks noChangeAspect="1"/>
          </p:cNvPicPr>
          <p:nvPr/>
        </p:nvPicPr>
        <p:blipFill>
          <a:blip r:embed="rId1"/>
          <a:stretch>
            <a:fillRect/>
          </a:stretch>
        </p:blipFill>
        <p:spPr>
          <a:xfrm>
            <a:off x="1013155" y="2293315"/>
            <a:ext cx="351130" cy="351130"/>
          </a:xfrm>
          <a:prstGeom prst="rect">
            <a:avLst/>
          </a:prstGeom>
        </p:spPr>
      </p:pic>
      <p:sp>
        <p:nvSpPr>
          <p:cNvPr id="7" name="Text 4"/>
          <p:cNvSpPr txBox="1"/>
          <p:nvPr/>
        </p:nvSpPr>
        <p:spPr>
          <a:xfrm>
            <a:off x="1853123" y="2057400"/>
            <a:ext cx="502920" cy="548640"/>
          </a:xfrm>
          <a:prstGeom prst="rect">
            <a:avLst/>
          </a:prstGeom>
          <a:noFill/>
          <a:ln/>
        </p:spPr>
        <p:txBody>
          <a:bodyPr wrap="square" lIns="0" tIns="0" rIns="0" bIns="0" rtlCol="0" anchor="t"/>
          <a:lstStyle/>
          <a:p>
            <a:pPr algn="r" indent="0" marL="0">
              <a:buNone/>
            </a:pPr>
            <a:r>
              <a:rPr lang="en-US" sz="3000" b="1" dirty="0">
                <a:solidFill>
                  <a:srgbClr val="B8862B"/>
                </a:solidFill>
                <a:latin typeface="Cambria" pitchFamily="34" charset="0"/>
                <a:ea typeface="Cambria" pitchFamily="34" charset="-122"/>
                <a:cs typeface="Cambria" pitchFamily="34" charset="-120"/>
              </a:rPr>
              <a:t>1</a:t>
            </a:r>
            <a:endParaRPr lang="en-US" sz="3000" dirty="0"/>
          </a:p>
        </p:txBody>
      </p:sp>
      <p:sp>
        <p:nvSpPr>
          <p:cNvPr id="8" name="Text 5"/>
          <p:cNvSpPr txBox="1"/>
          <p:nvPr/>
        </p:nvSpPr>
        <p:spPr>
          <a:xfrm>
            <a:off x="822960" y="3063240"/>
            <a:ext cx="1578803" cy="868680"/>
          </a:xfrm>
          <a:prstGeom prst="rect">
            <a:avLst/>
          </a:prstGeom>
          <a:noFill/>
          <a:ln/>
        </p:spPr>
        <p:txBody>
          <a:bodyPr wrap="square" lIns="0" tIns="0" rIns="0" bIns="0" rtlCol="0" anchor="t"/>
          <a:lstStyle/>
          <a:p>
            <a:pPr indent="0" marL="0">
              <a:buNone/>
            </a:pPr>
            <a:r>
              <a:rPr lang="en-US" sz="1700" b="1" dirty="0">
                <a:solidFill>
                  <a:srgbClr val="12343B"/>
                </a:solidFill>
                <a:latin typeface="Calibri" pitchFamily="34" charset="0"/>
                <a:ea typeface="Calibri" pitchFamily="34" charset="-122"/>
                <a:cs typeface="Calibri" pitchFamily="34" charset="-120"/>
              </a:rPr>
              <a:t>No source, no number</a:t>
            </a:r>
            <a:endParaRPr lang="en-US" sz="1700" dirty="0"/>
          </a:p>
        </p:txBody>
      </p:sp>
      <p:sp>
        <p:nvSpPr>
          <p:cNvPr id="9" name="Text 6"/>
          <p:cNvSpPr txBox="1"/>
          <p:nvPr/>
        </p:nvSpPr>
        <p:spPr>
          <a:xfrm>
            <a:off x="822960" y="3977640"/>
            <a:ext cx="1578803" cy="1920240"/>
          </a:xfrm>
          <a:prstGeom prst="rect">
            <a:avLst/>
          </a:prstGeom>
          <a:noFill/>
          <a:ln/>
        </p:spPr>
        <p:txBody>
          <a:bodyPr wrap="square" lIns="0" tIns="0" rIns="0" bIns="0" rtlCol="0" anchor="t"/>
          <a:lstStyle/>
          <a:p>
            <a:pPr indent="0" marL="0">
              <a:buNone/>
            </a:pPr>
            <a:r>
              <a:rPr lang="en-US" sz="1350" dirty="0">
                <a:solidFill>
                  <a:srgbClr val="1E2A30"/>
                </a:solidFill>
                <a:latin typeface="Calibri" pitchFamily="34" charset="0"/>
                <a:ea typeface="Calibri" pitchFamily="34" charset="-122"/>
                <a:cs typeface="Calibri" pitchFamily="34" charset="-120"/>
              </a:rPr>
              <a:t>A figure without an official source, link and date is not used anywhere.</a:t>
            </a:r>
            <a:endParaRPr lang="en-US" sz="1350" dirty="0"/>
          </a:p>
        </p:txBody>
      </p:sp>
      <p:sp>
        <p:nvSpPr>
          <p:cNvPr id="10" name="Shape 7"/>
          <p:cNvSpPr/>
          <p:nvPr/>
        </p:nvSpPr>
        <p:spPr>
          <a:xfrm>
            <a:off x="2813243" y="1783080"/>
            <a:ext cx="2036003" cy="4343400"/>
          </a:xfrm>
          <a:prstGeom prst="roundRect">
            <a:avLst>
              <a:gd name="adj" fmla="val 3593"/>
            </a:avLst>
          </a:prstGeom>
          <a:solidFill>
            <a:srgbClr val="EFF6F5"/>
          </a:solidFill>
          <a:ln w="12700">
            <a:solidFill>
              <a:srgbClr val="EFF6F5"/>
            </a:solidFill>
            <a:prstDash val="solid"/>
          </a:ln>
        </p:spPr>
      </p:sp>
      <p:sp>
        <p:nvSpPr>
          <p:cNvPr id="11" name="Shape 8"/>
          <p:cNvSpPr/>
          <p:nvPr/>
        </p:nvSpPr>
        <p:spPr>
          <a:xfrm>
            <a:off x="3087563" y="2103120"/>
            <a:ext cx="731520" cy="731520"/>
          </a:xfrm>
          <a:prstGeom prst="ellipse">
            <a:avLst/>
          </a:prstGeom>
          <a:solidFill>
            <a:srgbClr val="1F7A7A"/>
          </a:solidFill>
          <a:ln w="12700">
            <a:solidFill>
              <a:srgbClr val="1F7A7A"/>
            </a:solidFill>
            <a:prstDash val="solid"/>
          </a:ln>
        </p:spPr>
      </p:sp>
      <p:pic>
        <p:nvPicPr>
          <p:cNvPr id="12" name="Image 1" descr="preencoded.png">    </p:cNvPr>
          <p:cNvPicPr>
            <a:picLocks noChangeAspect="1"/>
          </p:cNvPicPr>
          <p:nvPr/>
        </p:nvPicPr>
        <p:blipFill>
          <a:blip r:embed="rId2"/>
          <a:stretch>
            <a:fillRect/>
          </a:stretch>
        </p:blipFill>
        <p:spPr>
          <a:xfrm>
            <a:off x="3277758" y="2293315"/>
            <a:ext cx="351130" cy="351130"/>
          </a:xfrm>
          <a:prstGeom prst="rect">
            <a:avLst/>
          </a:prstGeom>
        </p:spPr>
      </p:pic>
      <p:sp>
        <p:nvSpPr>
          <p:cNvPr id="13" name="Text 9"/>
          <p:cNvSpPr txBox="1"/>
          <p:nvPr/>
        </p:nvSpPr>
        <p:spPr>
          <a:xfrm>
            <a:off x="4117726" y="2057400"/>
            <a:ext cx="502920" cy="548640"/>
          </a:xfrm>
          <a:prstGeom prst="rect">
            <a:avLst/>
          </a:prstGeom>
          <a:noFill/>
          <a:ln/>
        </p:spPr>
        <p:txBody>
          <a:bodyPr wrap="square" lIns="0" tIns="0" rIns="0" bIns="0" rtlCol="0" anchor="t"/>
          <a:lstStyle/>
          <a:p>
            <a:pPr algn="r" indent="0" marL="0">
              <a:buNone/>
            </a:pPr>
            <a:r>
              <a:rPr lang="en-US" sz="3000" b="1" dirty="0">
                <a:solidFill>
                  <a:srgbClr val="B8862B"/>
                </a:solidFill>
                <a:latin typeface="Cambria" pitchFamily="34" charset="0"/>
                <a:ea typeface="Cambria" pitchFamily="34" charset="-122"/>
                <a:cs typeface="Cambria" pitchFamily="34" charset="-120"/>
              </a:rPr>
              <a:t>2</a:t>
            </a:r>
            <a:endParaRPr lang="en-US" sz="3000" dirty="0"/>
          </a:p>
        </p:txBody>
      </p:sp>
      <p:sp>
        <p:nvSpPr>
          <p:cNvPr id="14" name="Text 10"/>
          <p:cNvSpPr txBox="1"/>
          <p:nvPr/>
        </p:nvSpPr>
        <p:spPr>
          <a:xfrm>
            <a:off x="3087563" y="3063240"/>
            <a:ext cx="1578803" cy="868680"/>
          </a:xfrm>
          <a:prstGeom prst="rect">
            <a:avLst/>
          </a:prstGeom>
          <a:noFill/>
          <a:ln/>
        </p:spPr>
        <p:txBody>
          <a:bodyPr wrap="square" lIns="0" tIns="0" rIns="0" bIns="0" rtlCol="0" anchor="t"/>
          <a:lstStyle/>
          <a:p>
            <a:pPr indent="0" marL="0">
              <a:buNone/>
            </a:pPr>
            <a:r>
              <a:rPr lang="en-US" sz="1700" b="1" dirty="0">
                <a:solidFill>
                  <a:srgbClr val="12343B"/>
                </a:solidFill>
                <a:latin typeface="Calibri" pitchFamily="34" charset="0"/>
                <a:ea typeface="Calibri" pitchFamily="34" charset="-122"/>
                <a:cs typeface="Calibri" pitchFamily="34" charset="-120"/>
              </a:rPr>
              <a:t>One figure, used everywhere</a:t>
            </a:r>
            <a:endParaRPr lang="en-US" sz="1700" dirty="0"/>
          </a:p>
        </p:txBody>
      </p:sp>
      <p:sp>
        <p:nvSpPr>
          <p:cNvPr id="15" name="Text 11"/>
          <p:cNvSpPr txBox="1"/>
          <p:nvPr/>
        </p:nvSpPr>
        <p:spPr>
          <a:xfrm>
            <a:off x="3087563" y="3977640"/>
            <a:ext cx="1578803" cy="1920240"/>
          </a:xfrm>
          <a:prstGeom prst="rect">
            <a:avLst/>
          </a:prstGeom>
          <a:noFill/>
          <a:ln/>
        </p:spPr>
        <p:txBody>
          <a:bodyPr wrap="square" lIns="0" tIns="0" rIns="0" bIns="0" rtlCol="0" anchor="t"/>
          <a:lstStyle/>
          <a:p>
            <a:pPr indent="0" marL="0">
              <a:buNone/>
            </a:pPr>
            <a:r>
              <a:rPr lang="en-US" sz="1350" dirty="0">
                <a:solidFill>
                  <a:srgbClr val="1E2A30"/>
                </a:solidFill>
                <a:latin typeface="Calibri" pitchFamily="34" charset="0"/>
                <a:ea typeface="Calibri" pitchFamily="34" charset="-122"/>
                <a:cs typeface="Calibri" pitchFamily="34" charset="-120"/>
              </a:rPr>
              <a:t>Decided once. The report, the matrix and the data file always show the same value.</a:t>
            </a:r>
            <a:endParaRPr lang="en-US" sz="1350" dirty="0"/>
          </a:p>
        </p:txBody>
      </p:sp>
      <p:sp>
        <p:nvSpPr>
          <p:cNvPr id="16" name="Shape 12"/>
          <p:cNvSpPr/>
          <p:nvPr/>
        </p:nvSpPr>
        <p:spPr>
          <a:xfrm>
            <a:off x="5077846" y="1783080"/>
            <a:ext cx="2036003" cy="4343400"/>
          </a:xfrm>
          <a:prstGeom prst="roundRect">
            <a:avLst>
              <a:gd name="adj" fmla="val 3593"/>
            </a:avLst>
          </a:prstGeom>
          <a:solidFill>
            <a:srgbClr val="F4F6F7"/>
          </a:solidFill>
          <a:ln w="12700">
            <a:solidFill>
              <a:srgbClr val="F4F6F7"/>
            </a:solidFill>
            <a:prstDash val="solid"/>
          </a:ln>
        </p:spPr>
      </p:sp>
      <p:sp>
        <p:nvSpPr>
          <p:cNvPr id="17" name="Shape 13"/>
          <p:cNvSpPr/>
          <p:nvPr/>
        </p:nvSpPr>
        <p:spPr>
          <a:xfrm>
            <a:off x="5352166" y="2103120"/>
            <a:ext cx="731520" cy="731520"/>
          </a:xfrm>
          <a:prstGeom prst="ellipse">
            <a:avLst/>
          </a:prstGeom>
          <a:solidFill>
            <a:srgbClr val="1F7A7A"/>
          </a:solidFill>
          <a:ln w="12700">
            <a:solidFill>
              <a:srgbClr val="1F7A7A"/>
            </a:solidFill>
            <a:prstDash val="solid"/>
          </a:ln>
        </p:spPr>
      </p:sp>
      <p:pic>
        <p:nvPicPr>
          <p:cNvPr id="18" name="Image 2" descr="preencoded.png">    </p:cNvPr>
          <p:cNvPicPr>
            <a:picLocks noChangeAspect="1"/>
          </p:cNvPicPr>
          <p:nvPr/>
        </p:nvPicPr>
        <p:blipFill>
          <a:blip r:embed="rId3"/>
          <a:stretch>
            <a:fillRect/>
          </a:stretch>
        </p:blipFill>
        <p:spPr>
          <a:xfrm>
            <a:off x="5542361" y="2293315"/>
            <a:ext cx="351130" cy="351130"/>
          </a:xfrm>
          <a:prstGeom prst="rect">
            <a:avLst/>
          </a:prstGeom>
        </p:spPr>
      </p:pic>
      <p:sp>
        <p:nvSpPr>
          <p:cNvPr id="19" name="Text 14"/>
          <p:cNvSpPr txBox="1"/>
          <p:nvPr/>
        </p:nvSpPr>
        <p:spPr>
          <a:xfrm>
            <a:off x="6382329" y="2057400"/>
            <a:ext cx="502920" cy="548640"/>
          </a:xfrm>
          <a:prstGeom prst="rect">
            <a:avLst/>
          </a:prstGeom>
          <a:noFill/>
          <a:ln/>
        </p:spPr>
        <p:txBody>
          <a:bodyPr wrap="square" lIns="0" tIns="0" rIns="0" bIns="0" rtlCol="0" anchor="t"/>
          <a:lstStyle/>
          <a:p>
            <a:pPr algn="r" indent="0" marL="0">
              <a:buNone/>
            </a:pPr>
            <a:r>
              <a:rPr lang="en-US" sz="3000" b="1" dirty="0">
                <a:solidFill>
                  <a:srgbClr val="B8862B"/>
                </a:solidFill>
                <a:latin typeface="Cambria" pitchFamily="34" charset="0"/>
                <a:ea typeface="Cambria" pitchFamily="34" charset="-122"/>
                <a:cs typeface="Cambria" pitchFamily="34" charset="-120"/>
              </a:rPr>
              <a:t>3</a:t>
            </a:r>
            <a:endParaRPr lang="en-US" sz="3000" dirty="0"/>
          </a:p>
        </p:txBody>
      </p:sp>
      <p:sp>
        <p:nvSpPr>
          <p:cNvPr id="20" name="Text 15"/>
          <p:cNvSpPr txBox="1"/>
          <p:nvPr/>
        </p:nvSpPr>
        <p:spPr>
          <a:xfrm>
            <a:off x="5352166" y="3063240"/>
            <a:ext cx="1578803" cy="868680"/>
          </a:xfrm>
          <a:prstGeom prst="rect">
            <a:avLst/>
          </a:prstGeom>
          <a:noFill/>
          <a:ln/>
        </p:spPr>
        <p:txBody>
          <a:bodyPr wrap="square" lIns="0" tIns="0" rIns="0" bIns="0" rtlCol="0" anchor="t"/>
          <a:lstStyle/>
          <a:p>
            <a:pPr indent="0" marL="0">
              <a:buNone/>
            </a:pPr>
            <a:r>
              <a:rPr lang="en-US" sz="1700" b="1" dirty="0">
                <a:solidFill>
                  <a:srgbClr val="12343B"/>
                </a:solidFill>
                <a:latin typeface="Calibri" pitchFamily="34" charset="0"/>
                <a:ea typeface="Calibri" pitchFamily="34" charset="-122"/>
                <a:cs typeface="Calibri" pitchFamily="34" charset="-120"/>
              </a:rPr>
              <a:t>Actual or forecast, always stated</a:t>
            </a:r>
            <a:endParaRPr lang="en-US" sz="1700" dirty="0"/>
          </a:p>
        </p:txBody>
      </p:sp>
      <p:sp>
        <p:nvSpPr>
          <p:cNvPr id="21" name="Text 16"/>
          <p:cNvSpPr txBox="1"/>
          <p:nvPr/>
        </p:nvSpPr>
        <p:spPr>
          <a:xfrm>
            <a:off x="5352166" y="3977640"/>
            <a:ext cx="1578803" cy="1920240"/>
          </a:xfrm>
          <a:prstGeom prst="rect">
            <a:avLst/>
          </a:prstGeom>
          <a:noFill/>
          <a:ln/>
        </p:spPr>
        <p:txBody>
          <a:bodyPr wrap="square" lIns="0" tIns="0" rIns="0" bIns="0" rtlCol="0" anchor="t"/>
          <a:lstStyle/>
          <a:p>
            <a:pPr indent="0" marL="0">
              <a:buNone/>
            </a:pPr>
            <a:r>
              <a:rPr lang="en-US" sz="1350" dirty="0">
                <a:solidFill>
                  <a:srgbClr val="1E2A30"/>
                </a:solidFill>
                <a:latin typeface="Calibri" pitchFamily="34" charset="0"/>
                <a:ea typeface="Calibri" pitchFamily="34" charset="-122"/>
                <a:cs typeface="Calibri" pitchFamily="34" charset="-120"/>
              </a:rPr>
              <a:t>A projection is never presented as a settled result.</a:t>
            </a:r>
            <a:endParaRPr lang="en-US" sz="1350" dirty="0"/>
          </a:p>
        </p:txBody>
      </p:sp>
      <p:sp>
        <p:nvSpPr>
          <p:cNvPr id="22" name="Shape 17"/>
          <p:cNvSpPr/>
          <p:nvPr/>
        </p:nvSpPr>
        <p:spPr>
          <a:xfrm>
            <a:off x="7342449" y="1783080"/>
            <a:ext cx="2036003" cy="4343400"/>
          </a:xfrm>
          <a:prstGeom prst="roundRect">
            <a:avLst>
              <a:gd name="adj" fmla="val 3593"/>
            </a:avLst>
          </a:prstGeom>
          <a:solidFill>
            <a:srgbClr val="EFF6F5"/>
          </a:solidFill>
          <a:ln w="12700">
            <a:solidFill>
              <a:srgbClr val="EFF6F5"/>
            </a:solidFill>
            <a:prstDash val="solid"/>
          </a:ln>
        </p:spPr>
      </p:sp>
      <p:sp>
        <p:nvSpPr>
          <p:cNvPr id="23" name="Shape 18"/>
          <p:cNvSpPr/>
          <p:nvPr/>
        </p:nvSpPr>
        <p:spPr>
          <a:xfrm>
            <a:off x="7616769" y="2103120"/>
            <a:ext cx="731520" cy="731520"/>
          </a:xfrm>
          <a:prstGeom prst="ellipse">
            <a:avLst/>
          </a:prstGeom>
          <a:solidFill>
            <a:srgbClr val="1F7A7A"/>
          </a:solidFill>
          <a:ln w="12700">
            <a:solidFill>
              <a:srgbClr val="1F7A7A"/>
            </a:solidFill>
            <a:prstDash val="solid"/>
          </a:ln>
        </p:spPr>
      </p:sp>
      <p:pic>
        <p:nvPicPr>
          <p:cNvPr id="24" name="Image 3" descr="preencoded.png">    </p:cNvPr>
          <p:cNvPicPr>
            <a:picLocks noChangeAspect="1"/>
          </p:cNvPicPr>
          <p:nvPr/>
        </p:nvPicPr>
        <p:blipFill>
          <a:blip r:embed="rId4"/>
          <a:stretch>
            <a:fillRect/>
          </a:stretch>
        </p:blipFill>
        <p:spPr>
          <a:xfrm>
            <a:off x="7806964" y="2293315"/>
            <a:ext cx="351130" cy="351130"/>
          </a:xfrm>
          <a:prstGeom prst="rect">
            <a:avLst/>
          </a:prstGeom>
        </p:spPr>
      </p:pic>
      <p:sp>
        <p:nvSpPr>
          <p:cNvPr id="25" name="Text 19"/>
          <p:cNvSpPr txBox="1"/>
          <p:nvPr/>
        </p:nvSpPr>
        <p:spPr>
          <a:xfrm>
            <a:off x="8646932" y="2057400"/>
            <a:ext cx="502920" cy="548640"/>
          </a:xfrm>
          <a:prstGeom prst="rect">
            <a:avLst/>
          </a:prstGeom>
          <a:noFill/>
          <a:ln/>
        </p:spPr>
        <p:txBody>
          <a:bodyPr wrap="square" lIns="0" tIns="0" rIns="0" bIns="0" rtlCol="0" anchor="t"/>
          <a:lstStyle/>
          <a:p>
            <a:pPr algn="r" indent="0" marL="0">
              <a:buNone/>
            </a:pPr>
            <a:r>
              <a:rPr lang="en-US" sz="3000" b="1" dirty="0">
                <a:solidFill>
                  <a:srgbClr val="B8862B"/>
                </a:solidFill>
                <a:latin typeface="Cambria" pitchFamily="34" charset="0"/>
                <a:ea typeface="Cambria" pitchFamily="34" charset="-122"/>
                <a:cs typeface="Cambria" pitchFamily="34" charset="-120"/>
              </a:rPr>
              <a:t>4</a:t>
            </a:r>
            <a:endParaRPr lang="en-US" sz="3000" dirty="0"/>
          </a:p>
        </p:txBody>
      </p:sp>
      <p:sp>
        <p:nvSpPr>
          <p:cNvPr id="26" name="Text 20"/>
          <p:cNvSpPr txBox="1"/>
          <p:nvPr/>
        </p:nvSpPr>
        <p:spPr>
          <a:xfrm>
            <a:off x="7616769" y="3063240"/>
            <a:ext cx="1578803" cy="868680"/>
          </a:xfrm>
          <a:prstGeom prst="rect">
            <a:avLst/>
          </a:prstGeom>
          <a:noFill/>
          <a:ln/>
        </p:spPr>
        <p:txBody>
          <a:bodyPr wrap="square" lIns="0" tIns="0" rIns="0" bIns="0" rtlCol="0" anchor="t"/>
          <a:lstStyle/>
          <a:p>
            <a:pPr indent="0" marL="0">
              <a:buNone/>
            </a:pPr>
            <a:r>
              <a:rPr lang="en-US" sz="1700" b="1" dirty="0">
                <a:solidFill>
                  <a:srgbClr val="12343B"/>
                </a:solidFill>
                <a:latin typeface="Calibri" pitchFamily="34" charset="0"/>
                <a:ea typeface="Calibri" pitchFamily="34" charset="-122"/>
                <a:cs typeface="Calibri" pitchFamily="34" charset="-120"/>
              </a:rPr>
              <a:t>Official sources come first</a:t>
            </a:r>
            <a:endParaRPr lang="en-US" sz="1700" dirty="0"/>
          </a:p>
        </p:txBody>
      </p:sp>
      <p:sp>
        <p:nvSpPr>
          <p:cNvPr id="27" name="Text 21"/>
          <p:cNvSpPr txBox="1"/>
          <p:nvPr/>
        </p:nvSpPr>
        <p:spPr>
          <a:xfrm>
            <a:off x="7616769" y="3977640"/>
            <a:ext cx="1578803" cy="1920240"/>
          </a:xfrm>
          <a:prstGeom prst="rect">
            <a:avLst/>
          </a:prstGeom>
          <a:noFill/>
          <a:ln/>
        </p:spPr>
        <p:txBody>
          <a:bodyPr wrap="square" lIns="0" tIns="0" rIns="0" bIns="0" rtlCol="0" anchor="t"/>
          <a:lstStyle/>
          <a:p>
            <a:pPr indent="0" marL="0">
              <a:buNone/>
            </a:pPr>
            <a:r>
              <a:rPr lang="en-US" sz="1350" dirty="0">
                <a:solidFill>
                  <a:srgbClr val="1E2A30"/>
                </a:solidFill>
                <a:latin typeface="Calibri" pitchFamily="34" charset="0"/>
                <a:ea typeface="Calibri" pitchFamily="34" charset="-122"/>
                <a:cs typeface="Calibri" pitchFamily="34" charset="-120"/>
              </a:rPr>
              <a:t>Client documents add context. They never replace official data unless the client asks, and then they are labelled.</a:t>
            </a:r>
            <a:endParaRPr lang="en-US" sz="1350" dirty="0"/>
          </a:p>
        </p:txBody>
      </p:sp>
      <p:sp>
        <p:nvSpPr>
          <p:cNvPr id="28" name="Shape 22"/>
          <p:cNvSpPr/>
          <p:nvPr/>
        </p:nvSpPr>
        <p:spPr>
          <a:xfrm>
            <a:off x="9607052" y="1783080"/>
            <a:ext cx="2036003" cy="4343400"/>
          </a:xfrm>
          <a:prstGeom prst="roundRect">
            <a:avLst>
              <a:gd name="adj" fmla="val 3593"/>
            </a:avLst>
          </a:prstGeom>
          <a:solidFill>
            <a:srgbClr val="F4F6F7"/>
          </a:solidFill>
          <a:ln w="12700">
            <a:solidFill>
              <a:srgbClr val="F4F6F7"/>
            </a:solidFill>
            <a:prstDash val="solid"/>
          </a:ln>
        </p:spPr>
      </p:sp>
      <p:sp>
        <p:nvSpPr>
          <p:cNvPr id="29" name="Shape 23"/>
          <p:cNvSpPr/>
          <p:nvPr/>
        </p:nvSpPr>
        <p:spPr>
          <a:xfrm>
            <a:off x="9881372" y="2103120"/>
            <a:ext cx="731520" cy="731520"/>
          </a:xfrm>
          <a:prstGeom prst="ellipse">
            <a:avLst/>
          </a:prstGeom>
          <a:solidFill>
            <a:srgbClr val="1F7A7A"/>
          </a:solidFill>
          <a:ln w="12700">
            <a:solidFill>
              <a:srgbClr val="1F7A7A"/>
            </a:solidFill>
            <a:prstDash val="solid"/>
          </a:ln>
        </p:spPr>
      </p:sp>
      <p:pic>
        <p:nvPicPr>
          <p:cNvPr id="30" name="Image 4" descr="preencoded.png">    </p:cNvPr>
          <p:cNvPicPr>
            <a:picLocks noChangeAspect="1"/>
          </p:cNvPicPr>
          <p:nvPr/>
        </p:nvPicPr>
        <p:blipFill>
          <a:blip r:embed="rId5"/>
          <a:stretch>
            <a:fillRect/>
          </a:stretch>
        </p:blipFill>
        <p:spPr>
          <a:xfrm>
            <a:off x="10071567" y="2293315"/>
            <a:ext cx="351130" cy="351130"/>
          </a:xfrm>
          <a:prstGeom prst="rect">
            <a:avLst/>
          </a:prstGeom>
        </p:spPr>
      </p:pic>
      <p:sp>
        <p:nvSpPr>
          <p:cNvPr id="31" name="Text 24"/>
          <p:cNvSpPr txBox="1"/>
          <p:nvPr/>
        </p:nvSpPr>
        <p:spPr>
          <a:xfrm>
            <a:off x="10911535" y="2057400"/>
            <a:ext cx="502920" cy="548640"/>
          </a:xfrm>
          <a:prstGeom prst="rect">
            <a:avLst/>
          </a:prstGeom>
          <a:noFill/>
          <a:ln/>
        </p:spPr>
        <p:txBody>
          <a:bodyPr wrap="square" lIns="0" tIns="0" rIns="0" bIns="0" rtlCol="0" anchor="t"/>
          <a:lstStyle/>
          <a:p>
            <a:pPr algn="r" indent="0" marL="0">
              <a:buNone/>
            </a:pPr>
            <a:r>
              <a:rPr lang="en-US" sz="3000" b="1" dirty="0">
                <a:solidFill>
                  <a:srgbClr val="B8862B"/>
                </a:solidFill>
                <a:latin typeface="Cambria" pitchFamily="34" charset="0"/>
                <a:ea typeface="Cambria" pitchFamily="34" charset="-122"/>
                <a:cs typeface="Cambria" pitchFamily="34" charset="-120"/>
              </a:rPr>
              <a:t>5</a:t>
            </a:r>
            <a:endParaRPr lang="en-US" sz="3000" dirty="0"/>
          </a:p>
        </p:txBody>
      </p:sp>
      <p:sp>
        <p:nvSpPr>
          <p:cNvPr id="32" name="Text 25"/>
          <p:cNvSpPr txBox="1"/>
          <p:nvPr/>
        </p:nvSpPr>
        <p:spPr>
          <a:xfrm>
            <a:off x="9881372" y="3063240"/>
            <a:ext cx="1578803" cy="868680"/>
          </a:xfrm>
          <a:prstGeom prst="rect">
            <a:avLst/>
          </a:prstGeom>
          <a:noFill/>
          <a:ln/>
        </p:spPr>
        <p:txBody>
          <a:bodyPr wrap="square" lIns="0" tIns="0" rIns="0" bIns="0" rtlCol="0" anchor="t"/>
          <a:lstStyle/>
          <a:p>
            <a:pPr indent="0" marL="0">
              <a:buNone/>
            </a:pPr>
            <a:r>
              <a:rPr lang="en-US" sz="1700" b="1" dirty="0">
                <a:solidFill>
                  <a:srgbClr val="12343B"/>
                </a:solidFill>
                <a:latin typeface="Calibri" pitchFamily="34" charset="0"/>
                <a:ea typeface="Calibri" pitchFamily="34" charset="-122"/>
                <a:cs typeface="Calibri" pitchFamily="34" charset="-120"/>
              </a:rPr>
              <a:t>Gaps are shown, never filled</a:t>
            </a:r>
            <a:endParaRPr lang="en-US" sz="1700" dirty="0"/>
          </a:p>
        </p:txBody>
      </p:sp>
      <p:sp>
        <p:nvSpPr>
          <p:cNvPr id="33" name="Text 26"/>
          <p:cNvSpPr txBox="1"/>
          <p:nvPr/>
        </p:nvSpPr>
        <p:spPr>
          <a:xfrm>
            <a:off x="9881372" y="3977640"/>
            <a:ext cx="1578803" cy="1920240"/>
          </a:xfrm>
          <a:prstGeom prst="rect">
            <a:avLst/>
          </a:prstGeom>
          <a:noFill/>
          <a:ln/>
        </p:spPr>
        <p:txBody>
          <a:bodyPr wrap="square" lIns="0" tIns="0" rIns="0" bIns="0" rtlCol="0" anchor="t"/>
          <a:lstStyle/>
          <a:p>
            <a:pPr indent="0" marL="0">
              <a:buNone/>
            </a:pPr>
            <a:r>
              <a:rPr lang="en-US" sz="1350" dirty="0">
                <a:solidFill>
                  <a:srgbClr val="1E2A30"/>
                </a:solidFill>
                <a:latin typeface="Calibri" pitchFamily="34" charset="0"/>
                <a:ea typeface="Calibri" pitchFamily="34" charset="-122"/>
                <a:cs typeface="Calibri" pitchFamily="34" charset="-120"/>
              </a:rPr>
              <a:t>Missing figures are disclosed. Any needed estimate is labelled "analyst estimate" with its method.</a:t>
            </a:r>
            <a:endParaRPr lang="en-US" sz="1350" dirty="0"/>
          </a:p>
        </p:txBody>
      </p:sp>
      <p:sp>
        <p:nvSpPr>
          <p:cNvPr id="34" name="Text 27"/>
          <p:cNvSpPr txBox="1"/>
          <p:nvPr/>
        </p:nvSpPr>
        <p:spPr>
          <a:xfrm>
            <a:off x="548640" y="6473952"/>
            <a:ext cx="6400800" cy="228600"/>
          </a:xfrm>
          <a:prstGeom prst="rect">
            <a:avLst/>
          </a:prstGeom>
          <a:noFill/>
          <a:ln/>
        </p:spPr>
        <p:txBody>
          <a:bodyPr wrap="square" lIns="0" tIns="0" rIns="0" bIns="0" rtlCol="0" anchor="t"/>
          <a:lstStyle/>
          <a:p>
            <a:pPr indent="0" marL="0">
              <a:buNone/>
            </a:pPr>
            <a:r>
              <a:rPr lang="en-US" sz="900" dirty="0">
                <a:solidFill>
                  <a:srgbClr val="95A1A8"/>
                </a:solidFill>
                <a:latin typeface="Calibri" pitchFamily="34" charset="0"/>
                <a:ea typeface="Calibri" pitchFamily="34" charset="-122"/>
                <a:cs typeface="Calibri" pitchFamily="34" charset="-120"/>
              </a:rPr>
              <a:t>Macroenvironment Agent · Business Requirements · Board review</a:t>
            </a:r>
            <a:endParaRPr lang="en-US" sz="900" dirty="0"/>
          </a:p>
        </p:txBody>
      </p:sp>
      <p:sp>
        <p:nvSpPr>
          <p:cNvPr id="35" name="Text 28"/>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95A1A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11094415" cy="685800"/>
          </a:xfrm>
          <a:prstGeom prst="rect">
            <a:avLst/>
          </a:prstGeom>
          <a:noFill/>
          <a:ln/>
        </p:spPr>
        <p:txBody>
          <a:bodyPr wrap="square" lIns="0" tIns="0" rIns="0" bIns="0" rtlCol="0" anchor="ctr"/>
          <a:lstStyle/>
          <a:p>
            <a:pPr indent="0" marL="0">
              <a:buNone/>
            </a:pPr>
            <a:r>
              <a:rPr lang="en-US" sz="3000" b="1" dirty="0">
                <a:solidFill>
                  <a:srgbClr val="12343B"/>
                </a:solidFill>
                <a:latin typeface="Cambria" pitchFamily="34" charset="0"/>
                <a:ea typeface="Cambria" pitchFamily="34" charset="-122"/>
                <a:cs typeface="Cambria" pitchFamily="34" charset="-120"/>
              </a:rPr>
              <a:t>Why the agent cannot invent figures</a:t>
            </a:r>
            <a:endParaRPr lang="en-US" sz="3000" dirty="0"/>
          </a:p>
        </p:txBody>
      </p:sp>
      <p:sp>
        <p:nvSpPr>
          <p:cNvPr id="3" name="Text 1"/>
          <p:cNvSpPr txBox="1"/>
          <p:nvPr/>
        </p:nvSpPr>
        <p:spPr>
          <a:xfrm>
            <a:off x="548640" y="1069848"/>
            <a:ext cx="11094415" cy="411480"/>
          </a:xfrm>
          <a:prstGeom prst="rect">
            <a:avLst/>
          </a:prstGeom>
          <a:noFill/>
          <a:ln/>
        </p:spPr>
        <p:txBody>
          <a:bodyPr wrap="square" lIns="0" tIns="0" rIns="0" bIns="0" rtlCol="0" anchor="t"/>
          <a:lstStyle/>
          <a:p>
            <a:pPr indent="0" marL="0">
              <a:buNone/>
            </a:pPr>
            <a:r>
              <a:rPr lang="en-US" sz="1500" dirty="0">
                <a:solidFill>
                  <a:srgbClr val="5B6770"/>
                </a:solidFill>
                <a:latin typeface="Calibri" pitchFamily="34" charset="0"/>
                <a:ea typeface="Calibri" pitchFamily="34" charset="-122"/>
                <a:cs typeface="Calibri" pitchFamily="34" charset="-120"/>
              </a:rPr>
              <a:t>Five layers stand between the data and the client</a:t>
            </a:r>
            <a:endParaRPr lang="en-US" sz="1500" dirty="0"/>
          </a:p>
        </p:txBody>
      </p:sp>
      <p:sp>
        <p:nvSpPr>
          <p:cNvPr id="4" name="Shape 2"/>
          <p:cNvSpPr/>
          <p:nvPr/>
        </p:nvSpPr>
        <p:spPr>
          <a:xfrm>
            <a:off x="548640" y="1737360"/>
            <a:ext cx="7223760" cy="749808"/>
          </a:xfrm>
          <a:prstGeom prst="roundRect">
            <a:avLst>
              <a:gd name="adj" fmla="val 9756"/>
            </a:avLst>
          </a:prstGeom>
          <a:solidFill>
            <a:srgbClr val="EFF6F5"/>
          </a:solidFill>
          <a:ln w="12700">
            <a:solidFill>
              <a:srgbClr val="EFF6F5"/>
            </a:solidFill>
            <a:prstDash val="solid"/>
          </a:ln>
        </p:spPr>
      </p:sp>
      <p:sp>
        <p:nvSpPr>
          <p:cNvPr id="5" name="Shape 3"/>
          <p:cNvSpPr/>
          <p:nvPr/>
        </p:nvSpPr>
        <p:spPr>
          <a:xfrm>
            <a:off x="685800" y="1856232"/>
            <a:ext cx="512064" cy="512064"/>
          </a:xfrm>
          <a:prstGeom prst="ellipse">
            <a:avLst/>
          </a:prstGeom>
          <a:solidFill>
            <a:srgbClr val="1F7A7A"/>
          </a:solidFill>
          <a:ln w="12700">
            <a:solidFill>
              <a:srgbClr val="1F7A7A"/>
            </a:solidFill>
            <a:prstDash val="solid"/>
          </a:ln>
        </p:spPr>
      </p:sp>
      <p:pic>
        <p:nvPicPr>
          <p:cNvPr id="6" name="Image 0" descr="preencoded.png">    </p:cNvPr>
          <p:cNvPicPr>
            <a:picLocks noChangeAspect="1"/>
          </p:cNvPicPr>
          <p:nvPr/>
        </p:nvPicPr>
        <p:blipFill>
          <a:blip r:embed="rId1"/>
          <a:stretch>
            <a:fillRect/>
          </a:stretch>
        </p:blipFill>
        <p:spPr>
          <a:xfrm>
            <a:off x="818937" y="1989369"/>
            <a:ext cx="245791" cy="245791"/>
          </a:xfrm>
          <a:prstGeom prst="rect">
            <a:avLst/>
          </a:prstGeom>
        </p:spPr>
      </p:pic>
      <p:sp>
        <p:nvSpPr>
          <p:cNvPr id="7" name="Text 4"/>
          <p:cNvSpPr txBox="1"/>
          <p:nvPr/>
        </p:nvSpPr>
        <p:spPr>
          <a:xfrm>
            <a:off x="1371600" y="1810512"/>
            <a:ext cx="6309360" cy="292608"/>
          </a:xfrm>
          <a:prstGeom prst="rect">
            <a:avLst/>
          </a:prstGeom>
          <a:noFill/>
          <a:ln/>
        </p:spPr>
        <p:txBody>
          <a:bodyPr wrap="square" lIns="0" tIns="0" rIns="0" bIns="0" rtlCol="0" anchor="t"/>
          <a:lstStyle/>
          <a:p>
            <a:pPr indent="0" marL="0">
              <a:buNone/>
            </a:pPr>
            <a:r>
              <a:rPr lang="en-US" sz="1500" b="1" dirty="0">
                <a:solidFill>
                  <a:srgbClr val="12343B"/>
                </a:solidFill>
                <a:latin typeface="Calibri" pitchFamily="34" charset="0"/>
                <a:ea typeface="Calibri" pitchFamily="34" charset="-122"/>
                <a:cs typeface="Calibri" pitchFamily="34" charset="-120"/>
              </a:rPr>
              <a:t>Official sources only</a:t>
            </a:r>
            <a:endParaRPr lang="en-US" sz="1500" dirty="0"/>
          </a:p>
        </p:txBody>
      </p:sp>
      <p:sp>
        <p:nvSpPr>
          <p:cNvPr id="8" name="Text 5"/>
          <p:cNvSpPr txBox="1"/>
          <p:nvPr/>
        </p:nvSpPr>
        <p:spPr>
          <a:xfrm>
            <a:off x="1371600" y="2121408"/>
            <a:ext cx="6309360" cy="320040"/>
          </a:xfrm>
          <a:prstGeom prst="rect">
            <a:avLst/>
          </a:prstGeom>
          <a:noFill/>
          <a:ln/>
        </p:spPr>
        <p:txBody>
          <a:bodyPr wrap="square" lIns="0" tIns="0" rIns="0" bIns="0" rtlCol="0" anchor="t"/>
          <a:lstStyle/>
          <a:p>
            <a:pPr indent="0" marL="0">
              <a:buNone/>
            </a:pPr>
            <a:r>
              <a:rPr lang="en-US" sz="1250" dirty="0">
                <a:solidFill>
                  <a:srgbClr val="1E2A30"/>
                </a:solidFill>
                <a:latin typeface="Calibri" pitchFamily="34" charset="0"/>
                <a:ea typeface="Calibri" pitchFamily="34" charset="-122"/>
                <a:cs typeface="Calibri" pitchFamily="34" charset="-120"/>
              </a:rPr>
              <a:t>Figures are collected from approved publishers. Nothing is typed in from memory.</a:t>
            </a:r>
            <a:endParaRPr lang="en-US" sz="1250" dirty="0"/>
          </a:p>
        </p:txBody>
      </p:sp>
      <p:sp>
        <p:nvSpPr>
          <p:cNvPr id="9" name="Shape 6"/>
          <p:cNvSpPr/>
          <p:nvPr/>
        </p:nvSpPr>
        <p:spPr>
          <a:xfrm>
            <a:off x="749808" y="2606040"/>
            <a:ext cx="6821424" cy="749808"/>
          </a:xfrm>
          <a:prstGeom prst="roundRect">
            <a:avLst>
              <a:gd name="adj" fmla="val 9756"/>
            </a:avLst>
          </a:prstGeom>
          <a:solidFill>
            <a:srgbClr val="DCEDEC"/>
          </a:solidFill>
          <a:ln w="12700">
            <a:solidFill>
              <a:srgbClr val="DCEDEC"/>
            </a:solidFill>
            <a:prstDash val="solid"/>
          </a:ln>
        </p:spPr>
      </p:sp>
      <p:sp>
        <p:nvSpPr>
          <p:cNvPr id="10" name="Shape 7"/>
          <p:cNvSpPr/>
          <p:nvPr/>
        </p:nvSpPr>
        <p:spPr>
          <a:xfrm>
            <a:off x="886968" y="2724912"/>
            <a:ext cx="512064" cy="512064"/>
          </a:xfrm>
          <a:prstGeom prst="ellipse">
            <a:avLst/>
          </a:prstGeom>
          <a:solidFill>
            <a:srgbClr val="1F7A7A"/>
          </a:solidFill>
          <a:ln w="12700">
            <a:solidFill>
              <a:srgbClr val="1F7A7A"/>
            </a:solidFill>
            <a:prstDash val="solid"/>
          </a:ln>
        </p:spPr>
      </p:sp>
      <p:pic>
        <p:nvPicPr>
          <p:cNvPr id="11" name="Image 1" descr="preencoded.png">    </p:cNvPr>
          <p:cNvPicPr>
            <a:picLocks noChangeAspect="1"/>
          </p:cNvPicPr>
          <p:nvPr/>
        </p:nvPicPr>
        <p:blipFill>
          <a:blip r:embed="rId2"/>
          <a:stretch>
            <a:fillRect/>
          </a:stretch>
        </p:blipFill>
        <p:spPr>
          <a:xfrm>
            <a:off x="1020105" y="2858049"/>
            <a:ext cx="245791" cy="245791"/>
          </a:xfrm>
          <a:prstGeom prst="rect">
            <a:avLst/>
          </a:prstGeom>
        </p:spPr>
      </p:pic>
      <p:sp>
        <p:nvSpPr>
          <p:cNvPr id="12" name="Text 8"/>
          <p:cNvSpPr txBox="1"/>
          <p:nvPr/>
        </p:nvSpPr>
        <p:spPr>
          <a:xfrm>
            <a:off x="1572768" y="2679192"/>
            <a:ext cx="5907024" cy="292608"/>
          </a:xfrm>
          <a:prstGeom prst="rect">
            <a:avLst/>
          </a:prstGeom>
          <a:noFill/>
          <a:ln/>
        </p:spPr>
        <p:txBody>
          <a:bodyPr wrap="square" lIns="0" tIns="0" rIns="0" bIns="0" rtlCol="0" anchor="t"/>
          <a:lstStyle/>
          <a:p>
            <a:pPr indent="0" marL="0">
              <a:buNone/>
            </a:pPr>
            <a:r>
              <a:rPr lang="en-US" sz="1500" b="1" dirty="0">
                <a:solidFill>
                  <a:srgbClr val="12343B"/>
                </a:solidFill>
                <a:latin typeface="Calibri" pitchFamily="34" charset="0"/>
                <a:ea typeface="Calibri" pitchFamily="34" charset="-122"/>
                <a:cs typeface="Calibri" pitchFamily="34" charset="-120"/>
              </a:rPr>
              <a:t>Plausibility check</a:t>
            </a:r>
            <a:endParaRPr lang="en-US" sz="1500" dirty="0"/>
          </a:p>
        </p:txBody>
      </p:sp>
      <p:sp>
        <p:nvSpPr>
          <p:cNvPr id="13" name="Text 9"/>
          <p:cNvSpPr txBox="1"/>
          <p:nvPr/>
        </p:nvSpPr>
        <p:spPr>
          <a:xfrm>
            <a:off x="1572768" y="2990088"/>
            <a:ext cx="5907024" cy="320040"/>
          </a:xfrm>
          <a:prstGeom prst="rect">
            <a:avLst/>
          </a:prstGeom>
          <a:noFill/>
          <a:ln/>
        </p:spPr>
        <p:txBody>
          <a:bodyPr wrap="square" lIns="0" tIns="0" rIns="0" bIns="0" rtlCol="0" anchor="t"/>
          <a:lstStyle/>
          <a:p>
            <a:pPr indent="0" marL="0">
              <a:buNone/>
            </a:pPr>
            <a:r>
              <a:rPr lang="en-US" sz="1250" dirty="0">
                <a:solidFill>
                  <a:srgbClr val="1E2A30"/>
                </a:solidFill>
                <a:latin typeface="Calibri" pitchFamily="34" charset="0"/>
                <a:ea typeface="Calibri" pitchFamily="34" charset="-122"/>
                <a:cs typeface="Calibri" pitchFamily="34" charset="-120"/>
              </a:rPr>
              <a:t>Clearly impossible values are rejected before they are stored.</a:t>
            </a:r>
            <a:endParaRPr lang="en-US" sz="1250" dirty="0"/>
          </a:p>
        </p:txBody>
      </p:sp>
      <p:sp>
        <p:nvSpPr>
          <p:cNvPr id="14" name="Shape 10"/>
          <p:cNvSpPr/>
          <p:nvPr/>
        </p:nvSpPr>
        <p:spPr>
          <a:xfrm>
            <a:off x="950976" y="3474720"/>
            <a:ext cx="6419088" cy="749808"/>
          </a:xfrm>
          <a:prstGeom prst="roundRect">
            <a:avLst>
              <a:gd name="adj" fmla="val 9756"/>
            </a:avLst>
          </a:prstGeom>
          <a:solidFill>
            <a:srgbClr val="EFF6F5"/>
          </a:solidFill>
          <a:ln w="12700">
            <a:solidFill>
              <a:srgbClr val="EFF6F5"/>
            </a:solidFill>
            <a:prstDash val="solid"/>
          </a:ln>
        </p:spPr>
      </p:sp>
      <p:sp>
        <p:nvSpPr>
          <p:cNvPr id="15" name="Shape 11"/>
          <p:cNvSpPr/>
          <p:nvPr/>
        </p:nvSpPr>
        <p:spPr>
          <a:xfrm>
            <a:off x="1088136" y="3593592"/>
            <a:ext cx="512064" cy="512064"/>
          </a:xfrm>
          <a:prstGeom prst="ellipse">
            <a:avLst/>
          </a:prstGeom>
          <a:solidFill>
            <a:srgbClr val="1F7A7A"/>
          </a:solidFill>
          <a:ln w="12700">
            <a:solidFill>
              <a:srgbClr val="1F7A7A"/>
            </a:solidFill>
            <a:prstDash val="solid"/>
          </a:ln>
        </p:spPr>
      </p:sp>
      <p:pic>
        <p:nvPicPr>
          <p:cNvPr id="16" name="Image 2" descr="preencoded.png">    </p:cNvPr>
          <p:cNvPicPr>
            <a:picLocks noChangeAspect="1"/>
          </p:cNvPicPr>
          <p:nvPr/>
        </p:nvPicPr>
        <p:blipFill>
          <a:blip r:embed="rId3"/>
          <a:stretch>
            <a:fillRect/>
          </a:stretch>
        </p:blipFill>
        <p:spPr>
          <a:xfrm>
            <a:off x="1221273" y="3726729"/>
            <a:ext cx="245791" cy="245791"/>
          </a:xfrm>
          <a:prstGeom prst="rect">
            <a:avLst/>
          </a:prstGeom>
        </p:spPr>
      </p:pic>
      <p:sp>
        <p:nvSpPr>
          <p:cNvPr id="17" name="Text 12"/>
          <p:cNvSpPr txBox="1"/>
          <p:nvPr/>
        </p:nvSpPr>
        <p:spPr>
          <a:xfrm>
            <a:off x="1773936" y="3547872"/>
            <a:ext cx="5504688" cy="292608"/>
          </a:xfrm>
          <a:prstGeom prst="rect">
            <a:avLst/>
          </a:prstGeom>
          <a:noFill/>
          <a:ln/>
        </p:spPr>
        <p:txBody>
          <a:bodyPr wrap="square" lIns="0" tIns="0" rIns="0" bIns="0" rtlCol="0" anchor="t"/>
          <a:lstStyle/>
          <a:p>
            <a:pPr indent="0" marL="0">
              <a:buNone/>
            </a:pPr>
            <a:r>
              <a:rPr lang="en-US" sz="1500" b="1" dirty="0">
                <a:solidFill>
                  <a:srgbClr val="12343B"/>
                </a:solidFill>
                <a:latin typeface="Calibri" pitchFamily="34" charset="0"/>
                <a:ea typeface="Calibri" pitchFamily="34" charset="-122"/>
                <a:cs typeface="Calibri" pitchFamily="34" charset="-120"/>
              </a:rPr>
              <a:t>AI writes words, not numbers</a:t>
            </a:r>
            <a:endParaRPr lang="en-US" sz="1500" dirty="0"/>
          </a:p>
        </p:txBody>
      </p:sp>
      <p:sp>
        <p:nvSpPr>
          <p:cNvPr id="18" name="Text 13"/>
          <p:cNvSpPr txBox="1"/>
          <p:nvPr/>
        </p:nvSpPr>
        <p:spPr>
          <a:xfrm>
            <a:off x="1773936" y="3858768"/>
            <a:ext cx="5504688" cy="320040"/>
          </a:xfrm>
          <a:prstGeom prst="rect">
            <a:avLst/>
          </a:prstGeom>
          <a:noFill/>
          <a:ln/>
        </p:spPr>
        <p:txBody>
          <a:bodyPr wrap="square" lIns="0" tIns="0" rIns="0" bIns="0" rtlCol="0" anchor="t"/>
          <a:lstStyle/>
          <a:p>
            <a:pPr indent="0" marL="0">
              <a:buNone/>
            </a:pPr>
            <a:r>
              <a:rPr lang="en-US" sz="1250" dirty="0">
                <a:solidFill>
                  <a:srgbClr val="1E2A30"/>
                </a:solidFill>
                <a:latin typeface="Calibri" pitchFamily="34" charset="0"/>
                <a:ea typeface="Calibri" pitchFamily="34" charset="-122"/>
                <a:cs typeface="Calibri" pitchFamily="34" charset="-120"/>
              </a:rPr>
              <a:t>The writing step receives verified figures and quotes them.</a:t>
            </a:r>
            <a:endParaRPr lang="en-US" sz="1250" dirty="0"/>
          </a:p>
        </p:txBody>
      </p:sp>
      <p:sp>
        <p:nvSpPr>
          <p:cNvPr id="19" name="Shape 14"/>
          <p:cNvSpPr/>
          <p:nvPr/>
        </p:nvSpPr>
        <p:spPr>
          <a:xfrm>
            <a:off x="1152144" y="4343400"/>
            <a:ext cx="6016752" cy="749808"/>
          </a:xfrm>
          <a:prstGeom prst="roundRect">
            <a:avLst>
              <a:gd name="adj" fmla="val 9756"/>
            </a:avLst>
          </a:prstGeom>
          <a:solidFill>
            <a:srgbClr val="DCEDEC"/>
          </a:solidFill>
          <a:ln w="12700">
            <a:solidFill>
              <a:srgbClr val="DCEDEC"/>
            </a:solidFill>
            <a:prstDash val="solid"/>
          </a:ln>
        </p:spPr>
      </p:sp>
      <p:sp>
        <p:nvSpPr>
          <p:cNvPr id="20" name="Shape 15"/>
          <p:cNvSpPr/>
          <p:nvPr/>
        </p:nvSpPr>
        <p:spPr>
          <a:xfrm>
            <a:off x="1289304" y="4462272"/>
            <a:ext cx="512064" cy="512064"/>
          </a:xfrm>
          <a:prstGeom prst="ellipse">
            <a:avLst/>
          </a:prstGeom>
          <a:solidFill>
            <a:srgbClr val="1F7A7A"/>
          </a:solidFill>
          <a:ln w="12700">
            <a:solidFill>
              <a:srgbClr val="1F7A7A"/>
            </a:solidFill>
            <a:prstDash val="solid"/>
          </a:ln>
        </p:spPr>
      </p:sp>
      <p:pic>
        <p:nvPicPr>
          <p:cNvPr id="21" name="Image 3" descr="preencoded.png">    </p:cNvPr>
          <p:cNvPicPr>
            <a:picLocks noChangeAspect="1"/>
          </p:cNvPicPr>
          <p:nvPr/>
        </p:nvPicPr>
        <p:blipFill>
          <a:blip r:embed="rId4"/>
          <a:stretch>
            <a:fillRect/>
          </a:stretch>
        </p:blipFill>
        <p:spPr>
          <a:xfrm>
            <a:off x="1422441" y="4595409"/>
            <a:ext cx="245791" cy="245791"/>
          </a:xfrm>
          <a:prstGeom prst="rect">
            <a:avLst/>
          </a:prstGeom>
        </p:spPr>
      </p:pic>
      <p:sp>
        <p:nvSpPr>
          <p:cNvPr id="22" name="Text 16"/>
          <p:cNvSpPr txBox="1"/>
          <p:nvPr/>
        </p:nvSpPr>
        <p:spPr>
          <a:xfrm>
            <a:off x="1975104" y="4416552"/>
            <a:ext cx="5102352" cy="292608"/>
          </a:xfrm>
          <a:prstGeom prst="rect">
            <a:avLst/>
          </a:prstGeom>
          <a:noFill/>
          <a:ln/>
        </p:spPr>
        <p:txBody>
          <a:bodyPr wrap="square" lIns="0" tIns="0" rIns="0" bIns="0" rtlCol="0" anchor="t"/>
          <a:lstStyle/>
          <a:p>
            <a:pPr indent="0" marL="0">
              <a:buNone/>
            </a:pPr>
            <a:r>
              <a:rPr lang="en-US" sz="1500" b="1" dirty="0">
                <a:solidFill>
                  <a:srgbClr val="12343B"/>
                </a:solidFill>
                <a:latin typeface="Calibri" pitchFamily="34" charset="0"/>
                <a:ea typeface="Calibri" pitchFamily="34" charset="-122"/>
                <a:cs typeface="Calibri" pitchFamily="34" charset="-120"/>
              </a:rPr>
              <a:t>Number-by-number match</a:t>
            </a:r>
            <a:endParaRPr lang="en-US" sz="1500" dirty="0"/>
          </a:p>
        </p:txBody>
      </p:sp>
      <p:sp>
        <p:nvSpPr>
          <p:cNvPr id="23" name="Text 17"/>
          <p:cNvSpPr txBox="1"/>
          <p:nvPr/>
        </p:nvSpPr>
        <p:spPr>
          <a:xfrm>
            <a:off x="1975104" y="4727448"/>
            <a:ext cx="5102352" cy="320040"/>
          </a:xfrm>
          <a:prstGeom prst="rect">
            <a:avLst/>
          </a:prstGeom>
          <a:noFill/>
          <a:ln/>
        </p:spPr>
        <p:txBody>
          <a:bodyPr wrap="square" lIns="0" tIns="0" rIns="0" bIns="0" rtlCol="0" anchor="t"/>
          <a:lstStyle/>
          <a:p>
            <a:pPr indent="0" marL="0">
              <a:buNone/>
            </a:pPr>
            <a:r>
              <a:rPr lang="en-US" sz="1250" dirty="0">
                <a:solidFill>
                  <a:srgbClr val="1E2A30"/>
                </a:solidFill>
                <a:latin typeface="Calibri" pitchFamily="34" charset="0"/>
                <a:ea typeface="Calibri" pitchFamily="34" charset="-122"/>
                <a:cs typeface="Calibri" pitchFamily="34" charset="-120"/>
              </a:rPr>
              <a:t>Every figure in the text is compared with the register. A mismatch blocks release.</a:t>
            </a:r>
            <a:endParaRPr lang="en-US" sz="1250" dirty="0"/>
          </a:p>
        </p:txBody>
      </p:sp>
      <p:sp>
        <p:nvSpPr>
          <p:cNvPr id="24" name="Shape 18"/>
          <p:cNvSpPr/>
          <p:nvPr/>
        </p:nvSpPr>
        <p:spPr>
          <a:xfrm>
            <a:off x="1353312" y="5212080"/>
            <a:ext cx="5614416" cy="749808"/>
          </a:xfrm>
          <a:prstGeom prst="roundRect">
            <a:avLst>
              <a:gd name="adj" fmla="val 9756"/>
            </a:avLst>
          </a:prstGeom>
          <a:solidFill>
            <a:srgbClr val="F6EBD3"/>
          </a:solidFill>
          <a:ln w="12700">
            <a:solidFill>
              <a:srgbClr val="F6EBD3"/>
            </a:solidFill>
            <a:prstDash val="solid"/>
          </a:ln>
        </p:spPr>
      </p:sp>
      <p:sp>
        <p:nvSpPr>
          <p:cNvPr id="25" name="Shape 19"/>
          <p:cNvSpPr/>
          <p:nvPr/>
        </p:nvSpPr>
        <p:spPr>
          <a:xfrm>
            <a:off x="1490472" y="5330952"/>
            <a:ext cx="512064" cy="512064"/>
          </a:xfrm>
          <a:prstGeom prst="ellipse">
            <a:avLst/>
          </a:prstGeom>
          <a:solidFill>
            <a:srgbClr val="B8862B"/>
          </a:solidFill>
          <a:ln w="12700">
            <a:solidFill>
              <a:srgbClr val="B8862B"/>
            </a:solidFill>
            <a:prstDash val="solid"/>
          </a:ln>
        </p:spPr>
      </p:sp>
      <p:pic>
        <p:nvPicPr>
          <p:cNvPr id="26" name="Image 4" descr="preencoded.png">    </p:cNvPr>
          <p:cNvPicPr>
            <a:picLocks noChangeAspect="1"/>
          </p:cNvPicPr>
          <p:nvPr/>
        </p:nvPicPr>
        <p:blipFill>
          <a:blip r:embed="rId5"/>
          <a:stretch>
            <a:fillRect/>
          </a:stretch>
        </p:blipFill>
        <p:spPr>
          <a:xfrm>
            <a:off x="1623609" y="5464089"/>
            <a:ext cx="245791" cy="245791"/>
          </a:xfrm>
          <a:prstGeom prst="rect">
            <a:avLst/>
          </a:prstGeom>
        </p:spPr>
      </p:pic>
      <p:sp>
        <p:nvSpPr>
          <p:cNvPr id="27" name="Text 20"/>
          <p:cNvSpPr txBox="1"/>
          <p:nvPr/>
        </p:nvSpPr>
        <p:spPr>
          <a:xfrm>
            <a:off x="2176272" y="5285232"/>
            <a:ext cx="4700016" cy="292608"/>
          </a:xfrm>
          <a:prstGeom prst="rect">
            <a:avLst/>
          </a:prstGeom>
          <a:noFill/>
          <a:ln/>
        </p:spPr>
        <p:txBody>
          <a:bodyPr wrap="square" lIns="0" tIns="0" rIns="0" bIns="0" rtlCol="0" anchor="t"/>
          <a:lstStyle/>
          <a:p>
            <a:pPr indent="0" marL="0">
              <a:buNone/>
            </a:pPr>
            <a:r>
              <a:rPr lang="en-US" sz="1500" b="1" dirty="0">
                <a:solidFill>
                  <a:srgbClr val="12343B"/>
                </a:solidFill>
                <a:latin typeface="Calibri" pitchFamily="34" charset="0"/>
                <a:ea typeface="Calibri" pitchFamily="34" charset="-122"/>
                <a:cs typeface="Calibri" pitchFamily="34" charset="-120"/>
              </a:rPr>
              <a:t>Analyst sign-off</a:t>
            </a:r>
            <a:endParaRPr lang="en-US" sz="1500" dirty="0"/>
          </a:p>
        </p:txBody>
      </p:sp>
      <p:sp>
        <p:nvSpPr>
          <p:cNvPr id="28" name="Text 21"/>
          <p:cNvSpPr txBox="1"/>
          <p:nvPr/>
        </p:nvSpPr>
        <p:spPr>
          <a:xfrm>
            <a:off x="2176272" y="5596128"/>
            <a:ext cx="4700016" cy="320040"/>
          </a:xfrm>
          <a:prstGeom prst="rect">
            <a:avLst/>
          </a:prstGeom>
          <a:noFill/>
          <a:ln/>
        </p:spPr>
        <p:txBody>
          <a:bodyPr wrap="square" lIns="0" tIns="0" rIns="0" bIns="0" rtlCol="0" anchor="t"/>
          <a:lstStyle/>
          <a:p>
            <a:pPr indent="0" marL="0">
              <a:buNone/>
            </a:pPr>
            <a:r>
              <a:rPr lang="en-US" sz="1250" dirty="0">
                <a:solidFill>
                  <a:srgbClr val="1E2A30"/>
                </a:solidFill>
                <a:latin typeface="Calibri" pitchFamily="34" charset="0"/>
                <a:ea typeface="Calibri" pitchFamily="34" charset="-122"/>
                <a:cs typeface="Calibri" pitchFamily="34" charset="-120"/>
              </a:rPr>
              <a:t>A named analyst reviews each study before it reaches the client.</a:t>
            </a:r>
            <a:endParaRPr lang="en-US" sz="1250" dirty="0"/>
          </a:p>
        </p:txBody>
      </p:sp>
      <p:sp>
        <p:nvSpPr>
          <p:cNvPr id="29" name="Shape 22"/>
          <p:cNvSpPr/>
          <p:nvPr/>
        </p:nvSpPr>
        <p:spPr>
          <a:xfrm>
            <a:off x="8092440" y="1737360"/>
            <a:ext cx="3550615" cy="4224528"/>
          </a:xfrm>
          <a:prstGeom prst="roundRect">
            <a:avLst>
              <a:gd name="adj" fmla="val 2060"/>
            </a:avLst>
          </a:prstGeom>
          <a:solidFill>
            <a:srgbClr val="12343B"/>
          </a:solidFill>
          <a:ln w="12700">
            <a:solidFill>
              <a:srgbClr val="12343B"/>
            </a:solidFill>
            <a:prstDash val="solid"/>
          </a:ln>
        </p:spPr>
      </p:sp>
      <p:pic>
        <p:nvPicPr>
          <p:cNvPr id="30" name="Image 5" descr="preencoded.png">    </p:cNvPr>
          <p:cNvPicPr>
            <a:picLocks noChangeAspect="1"/>
          </p:cNvPicPr>
          <p:nvPr/>
        </p:nvPicPr>
        <p:blipFill>
          <a:blip r:embed="rId6"/>
          <a:stretch>
            <a:fillRect/>
          </a:stretch>
        </p:blipFill>
        <p:spPr>
          <a:xfrm>
            <a:off x="8366760" y="1965960"/>
            <a:ext cx="411480" cy="411480"/>
          </a:xfrm>
          <a:prstGeom prst="rect">
            <a:avLst/>
          </a:prstGeom>
        </p:spPr>
      </p:pic>
      <p:sp>
        <p:nvSpPr>
          <p:cNvPr id="31" name="Text 23"/>
          <p:cNvSpPr txBox="1"/>
          <p:nvPr/>
        </p:nvSpPr>
        <p:spPr>
          <a:xfrm>
            <a:off x="8915400" y="1938528"/>
            <a:ext cx="2544775" cy="457200"/>
          </a:xfrm>
          <a:prstGeom prst="rect">
            <a:avLst/>
          </a:prstGeom>
          <a:noFill/>
          <a:ln/>
        </p:spPr>
        <p:txBody>
          <a:bodyPr wrap="square" lIns="0" tIns="0" rIns="0" bIns="0" rtlCol="0" anchor="ctr"/>
          <a:lstStyle/>
          <a:p>
            <a:pPr indent="0" marL="0">
              <a:buNone/>
            </a:pPr>
            <a:r>
              <a:rPr lang="en-US" sz="1600" b="1" dirty="0">
                <a:solidFill>
                  <a:srgbClr val="E2B863"/>
                </a:solidFill>
                <a:latin typeface="Calibri" pitchFamily="34" charset="0"/>
                <a:ea typeface="Calibri" pitchFamily="34" charset="-122"/>
                <a:cs typeface="Calibri" pitchFamily="34" charset="-120"/>
              </a:rPr>
              <a:t>A plain note on guarantees</a:t>
            </a:r>
            <a:endParaRPr lang="en-US" sz="1600" dirty="0"/>
          </a:p>
        </p:txBody>
      </p:sp>
      <p:sp>
        <p:nvSpPr>
          <p:cNvPr id="32" name="Text 24"/>
          <p:cNvSpPr txBox="1"/>
          <p:nvPr/>
        </p:nvSpPr>
        <p:spPr>
          <a:xfrm>
            <a:off x="8366760" y="2606040"/>
            <a:ext cx="3001975" cy="3108960"/>
          </a:xfrm>
          <a:prstGeom prst="rect">
            <a:avLst/>
          </a:prstGeom>
          <a:noFill/>
          <a:ln/>
        </p:spPr>
        <p:txBody>
          <a:bodyPr wrap="square" lIns="0" tIns="0" rIns="0" bIns="0" rtlCol="0" anchor="t"/>
          <a:lstStyle/>
          <a:p>
            <a:pPr indent="0" marL="0">
              <a:lnSpc>
                <a:spcPct val="110000"/>
              </a:lnSpc>
              <a:buNone/>
            </a:pPr>
            <a:r>
              <a:rPr lang="en-US" sz="1400" b="1" dirty="0">
                <a:solidFill>
                  <a:srgbClr val="FFFFFF"/>
                </a:solidFill>
                <a:latin typeface="Calibri" pitchFamily="34" charset="0"/>
                <a:ea typeface="Calibri" pitchFamily="34" charset="-122"/>
                <a:cs typeface="Calibri" pitchFamily="34" charset="-120"/>
              </a:rPr>
              <a:t>The agent has no route to put a number into a document except through the Verified Figures Register.</a:t>
            </a:r>
            <a:endParaRPr lang="en-US" sz="1400" dirty="0"/>
          </a:p>
          <a:p>
            <a:pPr indent="0" marL="0">
              <a:lnSpc>
                <a:spcPct val="110000"/>
              </a:lnSpc>
              <a:buNone/>
            </a:pPr>
            <a:r>
              <a:rPr lang="en-US" sz="800" dirty="0">
                <a:solidFill>
                  <a:srgbClr val="FFFFFF"/>
                </a:solidFill>
                <a:latin typeface="Calibri" pitchFamily="34" charset="0"/>
                <a:ea typeface="Calibri" pitchFamily="34" charset="-122"/>
                <a:cs typeface="Calibri" pitchFamily="34" charset="-120"/>
              </a:rPr>
              <a:t> </a:t>
            </a:r>
            <a:endParaRPr lang="en-US" sz="1400" dirty="0"/>
          </a:p>
          <a:p>
            <a:pPr indent="0" marL="0">
              <a:lnSpc>
                <a:spcPct val="110000"/>
              </a:lnSpc>
              <a:buNone/>
            </a:pPr>
            <a:r>
              <a:rPr lang="en-US" sz="1400" dirty="0">
                <a:solidFill>
                  <a:srgbClr val="FFFFFF"/>
                </a:solidFill>
                <a:latin typeface="Calibri" pitchFamily="34" charset="0"/>
                <a:ea typeface="Calibri" pitchFamily="34" charset="-122"/>
                <a:cs typeface="Calibri" pitchFamily="34" charset="-120"/>
              </a:rPr>
              <a:t>No automated system is entirely free of error. That is why the controls are layered, and why we recommend a named analyst signs off every study.</a:t>
            </a:r>
            <a:endParaRPr lang="en-US" sz="1400" dirty="0"/>
          </a:p>
        </p:txBody>
      </p:sp>
      <p:sp>
        <p:nvSpPr>
          <p:cNvPr id="33" name="Text 25"/>
          <p:cNvSpPr txBox="1"/>
          <p:nvPr/>
        </p:nvSpPr>
        <p:spPr>
          <a:xfrm>
            <a:off x="548640" y="6473952"/>
            <a:ext cx="6400800" cy="228600"/>
          </a:xfrm>
          <a:prstGeom prst="rect">
            <a:avLst/>
          </a:prstGeom>
          <a:noFill/>
          <a:ln/>
        </p:spPr>
        <p:txBody>
          <a:bodyPr wrap="square" lIns="0" tIns="0" rIns="0" bIns="0" rtlCol="0" anchor="t"/>
          <a:lstStyle/>
          <a:p>
            <a:pPr indent="0" marL="0">
              <a:buNone/>
            </a:pPr>
            <a:r>
              <a:rPr lang="en-US" sz="900" dirty="0">
                <a:solidFill>
                  <a:srgbClr val="95A1A8"/>
                </a:solidFill>
                <a:latin typeface="Calibri" pitchFamily="34" charset="0"/>
                <a:ea typeface="Calibri" pitchFamily="34" charset="-122"/>
                <a:cs typeface="Calibri" pitchFamily="34" charset="-120"/>
              </a:rPr>
              <a:t>Macroenvironment Agent · Business Requirements · Board review</a:t>
            </a:r>
            <a:endParaRPr lang="en-US" sz="900" dirty="0"/>
          </a:p>
        </p:txBody>
      </p:sp>
      <p:sp>
        <p:nvSpPr>
          <p:cNvPr id="34" name="Text 26"/>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95A1A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84048"/>
            <a:ext cx="11094415" cy="685800"/>
          </a:xfrm>
          <a:prstGeom prst="rect">
            <a:avLst/>
          </a:prstGeom>
          <a:noFill/>
          <a:ln/>
        </p:spPr>
        <p:txBody>
          <a:bodyPr wrap="square" lIns="0" tIns="0" rIns="0" bIns="0" rtlCol="0" anchor="ctr"/>
          <a:lstStyle/>
          <a:p>
            <a:pPr indent="0" marL="0">
              <a:buNone/>
            </a:pPr>
            <a:r>
              <a:rPr lang="en-US" sz="3000" b="1" dirty="0">
                <a:solidFill>
                  <a:srgbClr val="12343B"/>
                </a:solidFill>
                <a:latin typeface="Cambria" pitchFamily="34" charset="0"/>
                <a:ea typeface="Cambria" pitchFamily="34" charset="-122"/>
                <a:cs typeface="Cambria" pitchFamily="34" charset="-120"/>
              </a:rPr>
              <a:t>What the client provides</a:t>
            </a:r>
            <a:endParaRPr lang="en-US" sz="3000" dirty="0"/>
          </a:p>
        </p:txBody>
      </p:sp>
      <p:sp>
        <p:nvSpPr>
          <p:cNvPr id="3" name="Text 1"/>
          <p:cNvSpPr txBox="1"/>
          <p:nvPr/>
        </p:nvSpPr>
        <p:spPr>
          <a:xfrm>
            <a:off x="548640" y="1069848"/>
            <a:ext cx="11094415" cy="411480"/>
          </a:xfrm>
          <a:prstGeom prst="rect">
            <a:avLst/>
          </a:prstGeom>
          <a:noFill/>
          <a:ln/>
        </p:spPr>
        <p:txBody>
          <a:bodyPr wrap="square" lIns="0" tIns="0" rIns="0" bIns="0" rtlCol="0" anchor="t"/>
          <a:lstStyle/>
          <a:p>
            <a:pPr indent="0" marL="0">
              <a:buNone/>
            </a:pPr>
            <a:r>
              <a:rPr lang="en-US" sz="1500" dirty="0">
                <a:solidFill>
                  <a:srgbClr val="5B6770"/>
                </a:solidFill>
                <a:latin typeface="Calibri" pitchFamily="34" charset="0"/>
                <a:ea typeface="Calibri" pitchFamily="34" charset="-122"/>
                <a:cs typeface="Calibri" pitchFamily="34" charset="-120"/>
              </a:rPr>
              <a:t>Four inputs are mandatory. If any is missing, the agent stops and asks. It never guesses.</a:t>
            </a:r>
            <a:endParaRPr lang="en-US" sz="1500" dirty="0"/>
          </a:p>
        </p:txBody>
      </p:sp>
      <p:sp>
        <p:nvSpPr>
          <p:cNvPr id="4" name="Text 2"/>
          <p:cNvSpPr txBox="1"/>
          <p:nvPr/>
        </p:nvSpPr>
        <p:spPr>
          <a:xfrm>
            <a:off x="548640" y="1691640"/>
            <a:ext cx="5486400" cy="274320"/>
          </a:xfrm>
          <a:prstGeom prst="rect">
            <a:avLst/>
          </a:prstGeom>
          <a:noFill/>
          <a:ln/>
        </p:spPr>
        <p:txBody>
          <a:bodyPr wrap="square" lIns="0" tIns="0" rIns="0" bIns="0" rtlCol="0" anchor="t"/>
          <a:lstStyle/>
          <a:p>
            <a:pPr indent="0" marL="0">
              <a:buNone/>
            </a:pPr>
            <a:r>
              <a:rPr lang="en-US" sz="1200" b="1" spc="200" kern="0" dirty="0">
                <a:solidFill>
                  <a:srgbClr val="1F7A7A"/>
                </a:solidFill>
                <a:latin typeface="Calibri" pitchFamily="34" charset="0"/>
                <a:ea typeface="Calibri" pitchFamily="34" charset="-122"/>
                <a:cs typeface="Calibri" pitchFamily="34" charset="-120"/>
              </a:rPr>
              <a:t>MANDATORY</a:t>
            </a:r>
            <a:endParaRPr lang="en-US" sz="1200" dirty="0"/>
          </a:p>
        </p:txBody>
      </p:sp>
      <p:sp>
        <p:nvSpPr>
          <p:cNvPr id="5" name="Shape 3"/>
          <p:cNvSpPr/>
          <p:nvPr/>
        </p:nvSpPr>
        <p:spPr>
          <a:xfrm>
            <a:off x="548640" y="2057400"/>
            <a:ext cx="3063240" cy="1508760"/>
          </a:xfrm>
          <a:prstGeom prst="roundRect">
            <a:avLst>
              <a:gd name="adj" fmla="val 4848"/>
            </a:avLst>
          </a:prstGeom>
          <a:solidFill>
            <a:srgbClr val="EFF6F5"/>
          </a:solidFill>
          <a:ln w="15875">
            <a:solidFill>
              <a:srgbClr val="1F7A7A"/>
            </a:solidFill>
            <a:prstDash val="solid"/>
          </a:ln>
        </p:spPr>
      </p:sp>
      <p:sp>
        <p:nvSpPr>
          <p:cNvPr id="6" name="Shape 4"/>
          <p:cNvSpPr/>
          <p:nvPr/>
        </p:nvSpPr>
        <p:spPr>
          <a:xfrm>
            <a:off x="749808" y="2286000"/>
            <a:ext cx="566928" cy="566928"/>
          </a:xfrm>
          <a:prstGeom prst="ellipse">
            <a:avLst/>
          </a:prstGeom>
          <a:solidFill>
            <a:srgbClr val="1F7A7A"/>
          </a:solidFill>
          <a:ln w="12700">
            <a:solidFill>
              <a:srgbClr val="1F7A7A"/>
            </a:solidFill>
            <a:prstDash val="solid"/>
          </a:ln>
        </p:spPr>
      </p:sp>
      <p:pic>
        <p:nvPicPr>
          <p:cNvPr id="7" name="Image 0" descr="preencoded.png">    </p:cNvPr>
          <p:cNvPicPr>
            <a:picLocks noChangeAspect="1"/>
          </p:cNvPicPr>
          <p:nvPr/>
        </p:nvPicPr>
        <p:blipFill>
          <a:blip r:embed="rId1"/>
          <a:stretch>
            <a:fillRect/>
          </a:stretch>
        </p:blipFill>
        <p:spPr>
          <a:xfrm>
            <a:off x="897209" y="2433401"/>
            <a:ext cx="272125" cy="272125"/>
          </a:xfrm>
          <a:prstGeom prst="rect">
            <a:avLst/>
          </a:prstGeom>
        </p:spPr>
      </p:pic>
      <p:sp>
        <p:nvSpPr>
          <p:cNvPr id="8" name="Text 5"/>
          <p:cNvSpPr txBox="1"/>
          <p:nvPr/>
        </p:nvSpPr>
        <p:spPr>
          <a:xfrm>
            <a:off x="1463040" y="2258568"/>
            <a:ext cx="2057400" cy="320040"/>
          </a:xfrm>
          <a:prstGeom prst="rect">
            <a:avLst/>
          </a:prstGeom>
          <a:noFill/>
          <a:ln/>
        </p:spPr>
        <p:txBody>
          <a:bodyPr wrap="square" lIns="0" tIns="0" rIns="0" bIns="0" rtlCol="0" anchor="t"/>
          <a:lstStyle/>
          <a:p>
            <a:pPr indent="0" marL="0">
              <a:buNone/>
            </a:pPr>
            <a:r>
              <a:rPr lang="en-US" sz="1550" b="1" dirty="0">
                <a:solidFill>
                  <a:srgbClr val="12343B"/>
                </a:solidFill>
                <a:latin typeface="Calibri" pitchFamily="34" charset="0"/>
                <a:ea typeface="Calibri" pitchFamily="34" charset="-122"/>
                <a:cs typeface="Calibri" pitchFamily="34" charset="-120"/>
              </a:rPr>
              <a:t>Target country</a:t>
            </a:r>
            <a:endParaRPr lang="en-US" sz="1550" dirty="0"/>
          </a:p>
        </p:txBody>
      </p:sp>
      <p:sp>
        <p:nvSpPr>
          <p:cNvPr id="9" name="Text 6"/>
          <p:cNvSpPr txBox="1"/>
          <p:nvPr/>
        </p:nvSpPr>
        <p:spPr>
          <a:xfrm>
            <a:off x="1463040" y="2606040"/>
            <a:ext cx="2057400" cy="457200"/>
          </a:xfrm>
          <a:prstGeom prst="rect">
            <a:avLst/>
          </a:prstGeom>
          <a:noFill/>
          <a:ln/>
        </p:spPr>
        <p:txBody>
          <a:bodyPr wrap="square" lIns="0" tIns="0" rIns="0" bIns="0" rtlCol="0" anchor="t"/>
          <a:lstStyle/>
          <a:p>
            <a:pPr indent="0" marL="0">
              <a:buNone/>
            </a:pPr>
            <a:r>
              <a:rPr lang="en-US" sz="1250" dirty="0">
                <a:solidFill>
                  <a:srgbClr val="1E2A30"/>
                </a:solidFill>
                <a:latin typeface="Calibri" pitchFamily="34" charset="0"/>
                <a:ea typeface="Calibri" pitchFamily="34" charset="-122"/>
                <a:cs typeface="Calibri" pitchFamily="34" charset="-120"/>
              </a:rPr>
              <a:t>The economy to study</a:t>
            </a:r>
            <a:endParaRPr lang="en-US" sz="1250" dirty="0"/>
          </a:p>
        </p:txBody>
      </p:sp>
      <p:sp>
        <p:nvSpPr>
          <p:cNvPr id="10" name="Text 7"/>
          <p:cNvSpPr txBox="1"/>
          <p:nvPr/>
        </p:nvSpPr>
        <p:spPr>
          <a:xfrm>
            <a:off x="1463040" y="3127248"/>
            <a:ext cx="2057400" cy="274320"/>
          </a:xfrm>
          <a:prstGeom prst="rect">
            <a:avLst/>
          </a:prstGeom>
          <a:noFill/>
          <a:ln/>
        </p:spPr>
        <p:txBody>
          <a:bodyPr wrap="square" lIns="0" tIns="0" rIns="0" bIns="0" rtlCol="0" anchor="t"/>
          <a:lstStyle/>
          <a:p>
            <a:pPr indent="0" marL="0">
              <a:buNone/>
            </a:pPr>
            <a:r>
              <a:rPr lang="en-US" sz="1200" i="1" dirty="0">
                <a:solidFill>
                  <a:srgbClr val="1F7A7A"/>
                </a:solidFill>
                <a:latin typeface="Calibri" pitchFamily="34" charset="0"/>
                <a:ea typeface="Calibri" pitchFamily="34" charset="-122"/>
                <a:cs typeface="Calibri" pitchFamily="34" charset="-120"/>
              </a:rPr>
              <a:t>e.g. Chile</a:t>
            </a:r>
            <a:endParaRPr lang="en-US" sz="1200" dirty="0"/>
          </a:p>
        </p:txBody>
      </p:sp>
      <p:sp>
        <p:nvSpPr>
          <p:cNvPr id="11" name="Shape 8"/>
          <p:cNvSpPr/>
          <p:nvPr/>
        </p:nvSpPr>
        <p:spPr>
          <a:xfrm>
            <a:off x="3794760" y="2057400"/>
            <a:ext cx="3063240" cy="1508760"/>
          </a:xfrm>
          <a:prstGeom prst="roundRect">
            <a:avLst>
              <a:gd name="adj" fmla="val 4848"/>
            </a:avLst>
          </a:prstGeom>
          <a:solidFill>
            <a:srgbClr val="EFF6F5"/>
          </a:solidFill>
          <a:ln w="15875">
            <a:solidFill>
              <a:srgbClr val="1F7A7A"/>
            </a:solidFill>
            <a:prstDash val="solid"/>
          </a:ln>
        </p:spPr>
      </p:sp>
      <p:sp>
        <p:nvSpPr>
          <p:cNvPr id="12" name="Shape 9"/>
          <p:cNvSpPr/>
          <p:nvPr/>
        </p:nvSpPr>
        <p:spPr>
          <a:xfrm>
            <a:off x="3995928" y="2286000"/>
            <a:ext cx="566928" cy="566928"/>
          </a:xfrm>
          <a:prstGeom prst="ellipse">
            <a:avLst/>
          </a:prstGeom>
          <a:solidFill>
            <a:srgbClr val="1F7A7A"/>
          </a:solidFill>
          <a:ln w="12700">
            <a:solidFill>
              <a:srgbClr val="1F7A7A"/>
            </a:solidFill>
            <a:prstDash val="solid"/>
          </a:ln>
        </p:spPr>
      </p:sp>
      <p:pic>
        <p:nvPicPr>
          <p:cNvPr id="13" name="Image 1" descr="preencoded.png">    </p:cNvPr>
          <p:cNvPicPr>
            <a:picLocks noChangeAspect="1"/>
          </p:cNvPicPr>
          <p:nvPr/>
        </p:nvPicPr>
        <p:blipFill>
          <a:blip r:embed="rId2"/>
          <a:stretch>
            <a:fillRect/>
          </a:stretch>
        </p:blipFill>
        <p:spPr>
          <a:xfrm>
            <a:off x="4143329" y="2433401"/>
            <a:ext cx="272125" cy="272125"/>
          </a:xfrm>
          <a:prstGeom prst="rect">
            <a:avLst/>
          </a:prstGeom>
        </p:spPr>
      </p:pic>
      <p:sp>
        <p:nvSpPr>
          <p:cNvPr id="14" name="Text 10"/>
          <p:cNvSpPr txBox="1"/>
          <p:nvPr/>
        </p:nvSpPr>
        <p:spPr>
          <a:xfrm>
            <a:off x="4709160" y="2258568"/>
            <a:ext cx="2057400" cy="320040"/>
          </a:xfrm>
          <a:prstGeom prst="rect">
            <a:avLst/>
          </a:prstGeom>
          <a:noFill/>
          <a:ln/>
        </p:spPr>
        <p:txBody>
          <a:bodyPr wrap="square" lIns="0" tIns="0" rIns="0" bIns="0" rtlCol="0" anchor="t"/>
          <a:lstStyle/>
          <a:p>
            <a:pPr indent="0" marL="0">
              <a:buNone/>
            </a:pPr>
            <a:r>
              <a:rPr lang="en-US" sz="1550" b="1" dirty="0">
                <a:solidFill>
                  <a:srgbClr val="12343B"/>
                </a:solidFill>
                <a:latin typeface="Calibri" pitchFamily="34" charset="0"/>
                <a:ea typeface="Calibri" pitchFamily="34" charset="-122"/>
                <a:cs typeface="Calibri" pitchFamily="34" charset="-120"/>
              </a:rPr>
              <a:t>Reporting currency</a:t>
            </a:r>
            <a:endParaRPr lang="en-US" sz="1550" dirty="0"/>
          </a:p>
        </p:txBody>
      </p:sp>
      <p:sp>
        <p:nvSpPr>
          <p:cNvPr id="15" name="Text 11"/>
          <p:cNvSpPr txBox="1"/>
          <p:nvPr/>
        </p:nvSpPr>
        <p:spPr>
          <a:xfrm>
            <a:off x="4709160" y="2606040"/>
            <a:ext cx="2057400" cy="457200"/>
          </a:xfrm>
          <a:prstGeom prst="rect">
            <a:avLst/>
          </a:prstGeom>
          <a:noFill/>
          <a:ln/>
        </p:spPr>
        <p:txBody>
          <a:bodyPr wrap="square" lIns="0" tIns="0" rIns="0" bIns="0" rtlCol="0" anchor="t"/>
          <a:lstStyle/>
          <a:p>
            <a:pPr indent="0" marL="0">
              <a:buNone/>
            </a:pPr>
            <a:r>
              <a:rPr lang="en-US" sz="1250" dirty="0">
                <a:solidFill>
                  <a:srgbClr val="1E2A30"/>
                </a:solidFill>
                <a:latin typeface="Calibri" pitchFamily="34" charset="0"/>
                <a:ea typeface="Calibri" pitchFamily="34" charset="-122"/>
                <a:cs typeface="Calibri" pitchFamily="34" charset="-120"/>
              </a:rPr>
              <a:t>Currency for all monetary figures</a:t>
            </a:r>
            <a:endParaRPr lang="en-US" sz="1250" dirty="0"/>
          </a:p>
        </p:txBody>
      </p:sp>
      <p:sp>
        <p:nvSpPr>
          <p:cNvPr id="16" name="Text 12"/>
          <p:cNvSpPr txBox="1"/>
          <p:nvPr/>
        </p:nvSpPr>
        <p:spPr>
          <a:xfrm>
            <a:off x="4709160" y="3127248"/>
            <a:ext cx="2057400" cy="274320"/>
          </a:xfrm>
          <a:prstGeom prst="rect">
            <a:avLst/>
          </a:prstGeom>
          <a:noFill/>
          <a:ln/>
        </p:spPr>
        <p:txBody>
          <a:bodyPr wrap="square" lIns="0" tIns="0" rIns="0" bIns="0" rtlCol="0" anchor="t"/>
          <a:lstStyle/>
          <a:p>
            <a:pPr indent="0" marL="0">
              <a:buNone/>
            </a:pPr>
            <a:r>
              <a:rPr lang="en-US" sz="1200" i="1" dirty="0">
                <a:solidFill>
                  <a:srgbClr val="1F7A7A"/>
                </a:solidFill>
                <a:latin typeface="Calibri" pitchFamily="34" charset="0"/>
                <a:ea typeface="Calibri" pitchFamily="34" charset="-122"/>
                <a:cs typeface="Calibri" pitchFamily="34" charset="-120"/>
              </a:rPr>
              <a:t>e.g. CLP or USD</a:t>
            </a:r>
            <a:endParaRPr lang="en-US" sz="1200" dirty="0"/>
          </a:p>
        </p:txBody>
      </p:sp>
      <p:sp>
        <p:nvSpPr>
          <p:cNvPr id="17" name="Shape 13"/>
          <p:cNvSpPr/>
          <p:nvPr/>
        </p:nvSpPr>
        <p:spPr>
          <a:xfrm>
            <a:off x="548640" y="3749040"/>
            <a:ext cx="3063240" cy="1508760"/>
          </a:xfrm>
          <a:prstGeom prst="roundRect">
            <a:avLst>
              <a:gd name="adj" fmla="val 4848"/>
            </a:avLst>
          </a:prstGeom>
          <a:solidFill>
            <a:srgbClr val="EFF6F5"/>
          </a:solidFill>
          <a:ln w="15875">
            <a:solidFill>
              <a:srgbClr val="1F7A7A"/>
            </a:solidFill>
            <a:prstDash val="solid"/>
          </a:ln>
        </p:spPr>
      </p:sp>
      <p:sp>
        <p:nvSpPr>
          <p:cNvPr id="18" name="Shape 14"/>
          <p:cNvSpPr/>
          <p:nvPr/>
        </p:nvSpPr>
        <p:spPr>
          <a:xfrm>
            <a:off x="749808" y="3977640"/>
            <a:ext cx="566928" cy="566928"/>
          </a:xfrm>
          <a:prstGeom prst="ellipse">
            <a:avLst/>
          </a:prstGeom>
          <a:solidFill>
            <a:srgbClr val="1F7A7A"/>
          </a:solidFill>
          <a:ln w="12700">
            <a:solidFill>
              <a:srgbClr val="1F7A7A"/>
            </a:solidFill>
            <a:prstDash val="solid"/>
          </a:ln>
        </p:spPr>
      </p:sp>
      <p:pic>
        <p:nvPicPr>
          <p:cNvPr id="19" name="Image 2" descr="preencoded.png">    </p:cNvPr>
          <p:cNvPicPr>
            <a:picLocks noChangeAspect="1"/>
          </p:cNvPicPr>
          <p:nvPr/>
        </p:nvPicPr>
        <p:blipFill>
          <a:blip r:embed="rId3"/>
          <a:stretch>
            <a:fillRect/>
          </a:stretch>
        </p:blipFill>
        <p:spPr>
          <a:xfrm>
            <a:off x="897209" y="4125041"/>
            <a:ext cx="272125" cy="272125"/>
          </a:xfrm>
          <a:prstGeom prst="rect">
            <a:avLst/>
          </a:prstGeom>
        </p:spPr>
      </p:pic>
      <p:sp>
        <p:nvSpPr>
          <p:cNvPr id="20" name="Text 15"/>
          <p:cNvSpPr txBox="1"/>
          <p:nvPr/>
        </p:nvSpPr>
        <p:spPr>
          <a:xfrm>
            <a:off x="1463040" y="3950208"/>
            <a:ext cx="2057400" cy="320040"/>
          </a:xfrm>
          <a:prstGeom prst="rect">
            <a:avLst/>
          </a:prstGeom>
          <a:noFill/>
          <a:ln/>
        </p:spPr>
        <p:txBody>
          <a:bodyPr wrap="square" lIns="0" tIns="0" rIns="0" bIns="0" rtlCol="0" anchor="t"/>
          <a:lstStyle/>
          <a:p>
            <a:pPr indent="0" marL="0">
              <a:buNone/>
            </a:pPr>
            <a:r>
              <a:rPr lang="en-US" sz="1550" b="1" dirty="0">
                <a:solidFill>
                  <a:srgbClr val="12343B"/>
                </a:solidFill>
                <a:latin typeface="Calibri" pitchFamily="34" charset="0"/>
                <a:ea typeface="Calibri" pitchFamily="34" charset="-122"/>
                <a:cs typeface="Calibri" pitchFamily="34" charset="-120"/>
              </a:rPr>
              <a:t>Industry sector</a:t>
            </a:r>
            <a:endParaRPr lang="en-US" sz="1550" dirty="0"/>
          </a:p>
        </p:txBody>
      </p:sp>
      <p:sp>
        <p:nvSpPr>
          <p:cNvPr id="21" name="Text 16"/>
          <p:cNvSpPr txBox="1"/>
          <p:nvPr/>
        </p:nvSpPr>
        <p:spPr>
          <a:xfrm>
            <a:off x="1463040" y="4297680"/>
            <a:ext cx="2057400" cy="457200"/>
          </a:xfrm>
          <a:prstGeom prst="rect">
            <a:avLst/>
          </a:prstGeom>
          <a:noFill/>
          <a:ln/>
        </p:spPr>
        <p:txBody>
          <a:bodyPr wrap="square" lIns="0" tIns="0" rIns="0" bIns="0" rtlCol="0" anchor="t"/>
          <a:lstStyle/>
          <a:p>
            <a:pPr indent="0" marL="0">
              <a:buNone/>
            </a:pPr>
            <a:r>
              <a:rPr lang="en-US" sz="1250" dirty="0">
                <a:solidFill>
                  <a:srgbClr val="1E2A30"/>
                </a:solidFill>
                <a:latin typeface="Calibri" pitchFamily="34" charset="0"/>
                <a:ea typeface="Calibri" pitchFamily="34" charset="-122"/>
                <a:cs typeface="Calibri" pitchFamily="34" charset="-120"/>
              </a:rPr>
              <a:t>Focuses the analysis</a:t>
            </a:r>
            <a:endParaRPr lang="en-US" sz="1250" dirty="0"/>
          </a:p>
        </p:txBody>
      </p:sp>
      <p:sp>
        <p:nvSpPr>
          <p:cNvPr id="22" name="Text 17"/>
          <p:cNvSpPr txBox="1"/>
          <p:nvPr/>
        </p:nvSpPr>
        <p:spPr>
          <a:xfrm>
            <a:off x="1463040" y="4818888"/>
            <a:ext cx="2057400" cy="274320"/>
          </a:xfrm>
          <a:prstGeom prst="rect">
            <a:avLst/>
          </a:prstGeom>
          <a:noFill/>
          <a:ln/>
        </p:spPr>
        <p:txBody>
          <a:bodyPr wrap="square" lIns="0" tIns="0" rIns="0" bIns="0" rtlCol="0" anchor="t"/>
          <a:lstStyle/>
          <a:p>
            <a:pPr indent="0" marL="0">
              <a:buNone/>
            </a:pPr>
            <a:r>
              <a:rPr lang="en-US" sz="1200" i="1" dirty="0">
                <a:solidFill>
                  <a:srgbClr val="1F7A7A"/>
                </a:solidFill>
                <a:latin typeface="Calibri" pitchFamily="34" charset="0"/>
                <a:ea typeface="Calibri" pitchFamily="34" charset="-122"/>
                <a:cs typeface="Calibri" pitchFamily="34" charset="-120"/>
              </a:rPr>
              <a:t>e.g. retail, mining</a:t>
            </a:r>
            <a:endParaRPr lang="en-US" sz="1200" dirty="0"/>
          </a:p>
        </p:txBody>
      </p:sp>
      <p:sp>
        <p:nvSpPr>
          <p:cNvPr id="23" name="Shape 18"/>
          <p:cNvSpPr/>
          <p:nvPr/>
        </p:nvSpPr>
        <p:spPr>
          <a:xfrm>
            <a:off x="3794760" y="3749040"/>
            <a:ext cx="3063240" cy="1508760"/>
          </a:xfrm>
          <a:prstGeom prst="roundRect">
            <a:avLst>
              <a:gd name="adj" fmla="val 4848"/>
            </a:avLst>
          </a:prstGeom>
          <a:solidFill>
            <a:srgbClr val="EFF6F5"/>
          </a:solidFill>
          <a:ln w="15875">
            <a:solidFill>
              <a:srgbClr val="1F7A7A"/>
            </a:solidFill>
            <a:prstDash val="solid"/>
          </a:ln>
        </p:spPr>
      </p:sp>
      <p:sp>
        <p:nvSpPr>
          <p:cNvPr id="24" name="Shape 19"/>
          <p:cNvSpPr/>
          <p:nvPr/>
        </p:nvSpPr>
        <p:spPr>
          <a:xfrm>
            <a:off x="3995928" y="3977640"/>
            <a:ext cx="566928" cy="566928"/>
          </a:xfrm>
          <a:prstGeom prst="ellipse">
            <a:avLst/>
          </a:prstGeom>
          <a:solidFill>
            <a:srgbClr val="1F7A7A"/>
          </a:solidFill>
          <a:ln w="12700">
            <a:solidFill>
              <a:srgbClr val="1F7A7A"/>
            </a:solidFill>
            <a:prstDash val="solid"/>
          </a:ln>
        </p:spPr>
      </p:sp>
      <p:pic>
        <p:nvPicPr>
          <p:cNvPr id="25" name="Image 3" descr="preencoded.png">    </p:cNvPr>
          <p:cNvPicPr>
            <a:picLocks noChangeAspect="1"/>
          </p:cNvPicPr>
          <p:nvPr/>
        </p:nvPicPr>
        <p:blipFill>
          <a:blip r:embed="rId4"/>
          <a:stretch>
            <a:fillRect/>
          </a:stretch>
        </p:blipFill>
        <p:spPr>
          <a:xfrm>
            <a:off x="4143329" y="4125041"/>
            <a:ext cx="272125" cy="272125"/>
          </a:xfrm>
          <a:prstGeom prst="rect">
            <a:avLst/>
          </a:prstGeom>
        </p:spPr>
      </p:pic>
      <p:sp>
        <p:nvSpPr>
          <p:cNvPr id="26" name="Text 20"/>
          <p:cNvSpPr txBox="1"/>
          <p:nvPr/>
        </p:nvSpPr>
        <p:spPr>
          <a:xfrm>
            <a:off x="4709160" y="3950208"/>
            <a:ext cx="2057400" cy="320040"/>
          </a:xfrm>
          <a:prstGeom prst="rect">
            <a:avLst/>
          </a:prstGeom>
          <a:noFill/>
          <a:ln/>
        </p:spPr>
        <p:txBody>
          <a:bodyPr wrap="square" lIns="0" tIns="0" rIns="0" bIns="0" rtlCol="0" anchor="t"/>
          <a:lstStyle/>
          <a:p>
            <a:pPr indent="0" marL="0">
              <a:buNone/>
            </a:pPr>
            <a:r>
              <a:rPr lang="en-US" sz="1550" b="1" dirty="0">
                <a:solidFill>
                  <a:srgbClr val="12343B"/>
                </a:solidFill>
                <a:latin typeface="Calibri" pitchFamily="34" charset="0"/>
                <a:ea typeface="Calibri" pitchFamily="34" charset="-122"/>
                <a:cs typeface="Calibri" pitchFamily="34" charset="-120"/>
              </a:rPr>
              <a:t>Time horizon</a:t>
            </a:r>
            <a:endParaRPr lang="en-US" sz="1550" dirty="0"/>
          </a:p>
        </p:txBody>
      </p:sp>
      <p:sp>
        <p:nvSpPr>
          <p:cNvPr id="27" name="Text 21"/>
          <p:cNvSpPr txBox="1"/>
          <p:nvPr/>
        </p:nvSpPr>
        <p:spPr>
          <a:xfrm>
            <a:off x="4709160" y="4297680"/>
            <a:ext cx="2057400" cy="457200"/>
          </a:xfrm>
          <a:prstGeom prst="rect">
            <a:avLst/>
          </a:prstGeom>
          <a:noFill/>
          <a:ln/>
        </p:spPr>
        <p:txBody>
          <a:bodyPr wrap="square" lIns="0" tIns="0" rIns="0" bIns="0" rtlCol="0" anchor="t"/>
          <a:lstStyle/>
          <a:p>
            <a:pPr indent="0" marL="0">
              <a:buNone/>
            </a:pPr>
            <a:r>
              <a:rPr lang="en-US" sz="1250" dirty="0">
                <a:solidFill>
                  <a:srgbClr val="1E2A30"/>
                </a:solidFill>
                <a:latin typeface="Calibri" pitchFamily="34" charset="0"/>
                <a:ea typeface="Calibri" pitchFamily="34" charset="-122"/>
                <a:cs typeface="Calibri" pitchFamily="34" charset="-120"/>
              </a:rPr>
              <a:t>Years of history and forecast</a:t>
            </a:r>
            <a:endParaRPr lang="en-US" sz="1250" dirty="0"/>
          </a:p>
        </p:txBody>
      </p:sp>
      <p:sp>
        <p:nvSpPr>
          <p:cNvPr id="28" name="Text 22"/>
          <p:cNvSpPr txBox="1"/>
          <p:nvPr/>
        </p:nvSpPr>
        <p:spPr>
          <a:xfrm>
            <a:off x="4709160" y="4818888"/>
            <a:ext cx="2057400" cy="274320"/>
          </a:xfrm>
          <a:prstGeom prst="rect">
            <a:avLst/>
          </a:prstGeom>
          <a:noFill/>
          <a:ln/>
        </p:spPr>
        <p:txBody>
          <a:bodyPr wrap="square" lIns="0" tIns="0" rIns="0" bIns="0" rtlCol="0" anchor="t"/>
          <a:lstStyle/>
          <a:p>
            <a:pPr indent="0" marL="0">
              <a:buNone/>
            </a:pPr>
            <a:r>
              <a:rPr lang="en-US" sz="1200" i="1" dirty="0">
                <a:solidFill>
                  <a:srgbClr val="1F7A7A"/>
                </a:solidFill>
                <a:latin typeface="Calibri" pitchFamily="34" charset="0"/>
                <a:ea typeface="Calibri" pitchFamily="34" charset="-122"/>
                <a:cs typeface="Calibri" pitchFamily="34" charset="-120"/>
              </a:rPr>
              <a:t>e.g. 2026–2030</a:t>
            </a:r>
            <a:endParaRPr lang="en-US" sz="1200" dirty="0"/>
          </a:p>
        </p:txBody>
      </p:sp>
      <p:sp>
        <p:nvSpPr>
          <p:cNvPr id="29" name="Shape 23"/>
          <p:cNvSpPr/>
          <p:nvPr/>
        </p:nvSpPr>
        <p:spPr>
          <a:xfrm>
            <a:off x="548640" y="5486400"/>
            <a:ext cx="6309360" cy="658368"/>
          </a:xfrm>
          <a:prstGeom prst="roundRect">
            <a:avLst>
              <a:gd name="adj" fmla="val 11111"/>
            </a:avLst>
          </a:prstGeom>
          <a:solidFill>
            <a:srgbClr val="F6EBD3"/>
          </a:solidFill>
          <a:ln w="12700">
            <a:solidFill>
              <a:srgbClr val="F6EBD3"/>
            </a:solidFill>
            <a:prstDash val="solid"/>
          </a:ln>
        </p:spPr>
      </p:sp>
      <p:sp>
        <p:nvSpPr>
          <p:cNvPr id="30" name="Text 24"/>
          <p:cNvSpPr txBox="1"/>
          <p:nvPr/>
        </p:nvSpPr>
        <p:spPr>
          <a:xfrm>
            <a:off x="777240" y="5486400"/>
            <a:ext cx="5943600" cy="658368"/>
          </a:xfrm>
          <a:prstGeom prst="rect">
            <a:avLst/>
          </a:prstGeom>
          <a:noFill/>
          <a:ln/>
        </p:spPr>
        <p:txBody>
          <a:bodyPr wrap="square" lIns="0" tIns="0" rIns="0" bIns="0" rtlCol="0" anchor="ctr"/>
          <a:lstStyle/>
          <a:p>
            <a:pPr indent="0" marL="0">
              <a:buNone/>
            </a:pPr>
            <a:r>
              <a:rPr lang="en-US" sz="1250" dirty="0">
                <a:solidFill>
                  <a:srgbClr val="12343B"/>
                </a:solidFill>
                <a:latin typeface="Calibri" pitchFamily="34" charset="0"/>
                <a:ea typeface="Calibri" pitchFamily="34" charset="-122"/>
                <a:cs typeface="Calibri" pitchFamily="34" charset="-120"/>
              </a:rPr>
              <a:t>Official forecasts run about five years ahead. Years beyond that range are not filled in.</a:t>
            </a:r>
            <a:endParaRPr lang="en-US" sz="1250" dirty="0"/>
          </a:p>
        </p:txBody>
      </p:sp>
      <p:sp>
        <p:nvSpPr>
          <p:cNvPr id="31" name="Text 25"/>
          <p:cNvSpPr txBox="1"/>
          <p:nvPr/>
        </p:nvSpPr>
        <p:spPr>
          <a:xfrm>
            <a:off x="7315200" y="1691640"/>
            <a:ext cx="3657600" cy="274320"/>
          </a:xfrm>
          <a:prstGeom prst="rect">
            <a:avLst/>
          </a:prstGeom>
          <a:noFill/>
          <a:ln/>
        </p:spPr>
        <p:txBody>
          <a:bodyPr wrap="square" lIns="0" tIns="0" rIns="0" bIns="0" rtlCol="0" anchor="t"/>
          <a:lstStyle/>
          <a:p>
            <a:pPr indent="0" marL="0">
              <a:buNone/>
            </a:pPr>
            <a:r>
              <a:rPr lang="en-US" sz="1200" b="1" spc="200" kern="0" dirty="0">
                <a:solidFill>
                  <a:srgbClr val="5B6770"/>
                </a:solidFill>
                <a:latin typeface="Calibri" pitchFamily="34" charset="0"/>
                <a:ea typeface="Calibri" pitchFamily="34" charset="-122"/>
                <a:cs typeface="Calibri" pitchFamily="34" charset="-120"/>
              </a:rPr>
              <a:t>OPTIONAL</a:t>
            </a:r>
            <a:endParaRPr lang="en-US" sz="1200" dirty="0"/>
          </a:p>
        </p:txBody>
      </p:sp>
      <p:pic>
        <p:nvPicPr>
          <p:cNvPr id="32" name="Image 4" descr="preencoded.png">    </p:cNvPr>
          <p:cNvPicPr>
            <a:picLocks noChangeAspect="1"/>
          </p:cNvPicPr>
          <p:nvPr/>
        </p:nvPicPr>
        <p:blipFill>
          <a:blip r:embed="rId5"/>
          <a:stretch>
            <a:fillRect/>
          </a:stretch>
        </p:blipFill>
        <p:spPr>
          <a:xfrm>
            <a:off x="7315200" y="2130552"/>
            <a:ext cx="347472" cy="347472"/>
          </a:xfrm>
          <a:prstGeom prst="rect">
            <a:avLst/>
          </a:prstGeom>
        </p:spPr>
      </p:pic>
      <p:sp>
        <p:nvSpPr>
          <p:cNvPr id="33" name="Text 26"/>
          <p:cNvSpPr txBox="1"/>
          <p:nvPr/>
        </p:nvSpPr>
        <p:spPr>
          <a:xfrm>
            <a:off x="7863840" y="2057400"/>
            <a:ext cx="3749040" cy="292608"/>
          </a:xfrm>
          <a:prstGeom prst="rect">
            <a:avLst/>
          </a:prstGeom>
          <a:noFill/>
          <a:ln/>
        </p:spPr>
        <p:txBody>
          <a:bodyPr wrap="square" lIns="0" tIns="0" rIns="0" bIns="0" rtlCol="0" anchor="t"/>
          <a:lstStyle/>
          <a:p>
            <a:pPr indent="0" marL="0">
              <a:buNone/>
            </a:pPr>
            <a:r>
              <a:rPr lang="en-US" sz="1450" b="1" dirty="0">
                <a:solidFill>
                  <a:srgbClr val="12343B"/>
                </a:solidFill>
                <a:latin typeface="Calibri" pitchFamily="34" charset="0"/>
                <a:ea typeface="Calibri" pitchFamily="34" charset="-122"/>
                <a:cs typeface="Calibri" pitchFamily="34" charset="-120"/>
              </a:rPr>
              <a:t>Internal reports or PDFs</a:t>
            </a:r>
            <a:endParaRPr lang="en-US" sz="1450" dirty="0"/>
          </a:p>
        </p:txBody>
      </p:sp>
      <p:sp>
        <p:nvSpPr>
          <p:cNvPr id="34" name="Text 27"/>
          <p:cNvSpPr txBox="1"/>
          <p:nvPr/>
        </p:nvSpPr>
        <p:spPr>
          <a:xfrm>
            <a:off x="7863840" y="2359152"/>
            <a:ext cx="3749040" cy="41148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Each figure cited to its page and confirmed with the client</a:t>
            </a:r>
            <a:endParaRPr lang="en-US" sz="1200" dirty="0"/>
          </a:p>
        </p:txBody>
      </p:sp>
      <p:pic>
        <p:nvPicPr>
          <p:cNvPr id="35" name="Image 5" descr="preencoded.png">    </p:cNvPr>
          <p:cNvPicPr>
            <a:picLocks noChangeAspect="1"/>
          </p:cNvPicPr>
          <p:nvPr/>
        </p:nvPicPr>
        <p:blipFill>
          <a:blip r:embed="rId6"/>
          <a:stretch>
            <a:fillRect/>
          </a:stretch>
        </p:blipFill>
        <p:spPr>
          <a:xfrm>
            <a:off x="7315200" y="2953512"/>
            <a:ext cx="347472" cy="347472"/>
          </a:xfrm>
          <a:prstGeom prst="rect">
            <a:avLst/>
          </a:prstGeom>
        </p:spPr>
      </p:pic>
      <p:sp>
        <p:nvSpPr>
          <p:cNvPr id="36" name="Text 28"/>
          <p:cNvSpPr txBox="1"/>
          <p:nvPr/>
        </p:nvSpPr>
        <p:spPr>
          <a:xfrm>
            <a:off x="7863840" y="2880360"/>
            <a:ext cx="3749040" cy="292608"/>
          </a:xfrm>
          <a:prstGeom prst="rect">
            <a:avLst/>
          </a:prstGeom>
          <a:noFill/>
          <a:ln/>
        </p:spPr>
        <p:txBody>
          <a:bodyPr wrap="square" lIns="0" tIns="0" rIns="0" bIns="0" rtlCol="0" anchor="t"/>
          <a:lstStyle/>
          <a:p>
            <a:pPr indent="0" marL="0">
              <a:buNone/>
            </a:pPr>
            <a:r>
              <a:rPr lang="en-US" sz="1450" b="1" dirty="0">
                <a:solidFill>
                  <a:srgbClr val="12343B"/>
                </a:solidFill>
                <a:latin typeface="Calibri" pitchFamily="34" charset="0"/>
                <a:ea typeface="Calibri" pitchFamily="34" charset="-122"/>
                <a:cs typeface="Calibri" pitchFamily="34" charset="-120"/>
              </a:rPr>
              <a:t>Client financial assumptions</a:t>
            </a:r>
            <a:endParaRPr lang="en-US" sz="1450" dirty="0"/>
          </a:p>
        </p:txBody>
      </p:sp>
      <p:sp>
        <p:nvSpPr>
          <p:cNvPr id="37" name="Text 29"/>
          <p:cNvSpPr txBox="1"/>
          <p:nvPr/>
        </p:nvSpPr>
        <p:spPr>
          <a:xfrm>
            <a:off x="7863840" y="3182112"/>
            <a:ext cx="3749040" cy="41148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Compared with the official outlook, labelled "client assumption"</a:t>
            </a:r>
            <a:endParaRPr lang="en-US" sz="1200" dirty="0"/>
          </a:p>
        </p:txBody>
      </p:sp>
      <p:pic>
        <p:nvPicPr>
          <p:cNvPr id="38" name="Image 6" descr="preencoded.png">    </p:cNvPr>
          <p:cNvPicPr>
            <a:picLocks noChangeAspect="1"/>
          </p:cNvPicPr>
          <p:nvPr/>
        </p:nvPicPr>
        <p:blipFill>
          <a:blip r:embed="rId7"/>
          <a:stretch>
            <a:fillRect/>
          </a:stretch>
        </p:blipFill>
        <p:spPr>
          <a:xfrm>
            <a:off x="7315200" y="3776472"/>
            <a:ext cx="347472" cy="347472"/>
          </a:xfrm>
          <a:prstGeom prst="rect">
            <a:avLst/>
          </a:prstGeom>
        </p:spPr>
      </p:pic>
      <p:sp>
        <p:nvSpPr>
          <p:cNvPr id="39" name="Text 30"/>
          <p:cNvSpPr txBox="1"/>
          <p:nvPr/>
        </p:nvSpPr>
        <p:spPr>
          <a:xfrm>
            <a:off x="7863840" y="3703320"/>
            <a:ext cx="3749040" cy="292608"/>
          </a:xfrm>
          <a:prstGeom prst="rect">
            <a:avLst/>
          </a:prstGeom>
          <a:noFill/>
          <a:ln/>
        </p:spPr>
        <p:txBody>
          <a:bodyPr wrap="square" lIns="0" tIns="0" rIns="0" bIns="0" rtlCol="0" anchor="t"/>
          <a:lstStyle/>
          <a:p>
            <a:pPr indent="0" marL="0">
              <a:buNone/>
            </a:pPr>
            <a:r>
              <a:rPr lang="en-US" sz="1450" b="1" dirty="0">
                <a:solidFill>
                  <a:srgbClr val="12343B"/>
                </a:solidFill>
                <a:latin typeface="Calibri" pitchFamily="34" charset="0"/>
                <a:ea typeface="Calibri" pitchFamily="34" charset="-122"/>
                <a:cs typeface="Calibri" pitchFamily="34" charset="-120"/>
              </a:rPr>
              <a:t>Specific concerns</a:t>
            </a:r>
            <a:endParaRPr lang="en-US" sz="1450" dirty="0"/>
          </a:p>
        </p:txBody>
      </p:sp>
      <p:sp>
        <p:nvSpPr>
          <p:cNvPr id="40" name="Text 31"/>
          <p:cNvSpPr txBox="1"/>
          <p:nvPr/>
        </p:nvSpPr>
        <p:spPr>
          <a:xfrm>
            <a:off x="7863840" y="4005072"/>
            <a:ext cx="3749040" cy="41148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Given more depth in the report and matrix</a:t>
            </a:r>
            <a:endParaRPr lang="en-US" sz="1200" dirty="0"/>
          </a:p>
        </p:txBody>
      </p:sp>
      <p:pic>
        <p:nvPicPr>
          <p:cNvPr id="41" name="Image 7" descr="preencoded.png">    </p:cNvPr>
          <p:cNvPicPr>
            <a:picLocks noChangeAspect="1"/>
          </p:cNvPicPr>
          <p:nvPr/>
        </p:nvPicPr>
        <p:blipFill>
          <a:blip r:embed="rId8"/>
          <a:stretch>
            <a:fillRect/>
          </a:stretch>
        </p:blipFill>
        <p:spPr>
          <a:xfrm>
            <a:off x="7315200" y="4599432"/>
            <a:ext cx="347472" cy="347472"/>
          </a:xfrm>
          <a:prstGeom prst="rect">
            <a:avLst/>
          </a:prstGeom>
        </p:spPr>
      </p:pic>
      <p:sp>
        <p:nvSpPr>
          <p:cNvPr id="42" name="Text 32"/>
          <p:cNvSpPr txBox="1"/>
          <p:nvPr/>
        </p:nvSpPr>
        <p:spPr>
          <a:xfrm>
            <a:off x="7863840" y="4526280"/>
            <a:ext cx="3749040" cy="292608"/>
          </a:xfrm>
          <a:prstGeom prst="rect">
            <a:avLst/>
          </a:prstGeom>
          <a:noFill/>
          <a:ln/>
        </p:spPr>
        <p:txBody>
          <a:bodyPr wrap="square" lIns="0" tIns="0" rIns="0" bIns="0" rtlCol="0" anchor="t"/>
          <a:lstStyle/>
          <a:p>
            <a:pPr indent="0" marL="0">
              <a:buNone/>
            </a:pPr>
            <a:r>
              <a:rPr lang="en-US" sz="1450" b="1" dirty="0">
                <a:solidFill>
                  <a:srgbClr val="12343B"/>
                </a:solidFill>
                <a:latin typeface="Calibri" pitchFamily="34" charset="0"/>
                <a:ea typeface="Calibri" pitchFamily="34" charset="-122"/>
                <a:cs typeface="Calibri" pitchFamily="34" charset="-120"/>
              </a:rPr>
              <a:t>Output preferences</a:t>
            </a:r>
            <a:endParaRPr lang="en-US" sz="1450" dirty="0"/>
          </a:p>
        </p:txBody>
      </p:sp>
      <p:sp>
        <p:nvSpPr>
          <p:cNvPr id="43" name="Text 33"/>
          <p:cNvSpPr txBox="1"/>
          <p:nvPr/>
        </p:nvSpPr>
        <p:spPr>
          <a:xfrm>
            <a:off x="7863840" y="4828032"/>
            <a:ext cx="3749040" cy="41148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Language and PDF or Word</a:t>
            </a:r>
            <a:endParaRPr lang="en-US" sz="1200" dirty="0"/>
          </a:p>
        </p:txBody>
      </p:sp>
      <p:pic>
        <p:nvPicPr>
          <p:cNvPr id="44" name="Image 8" descr="preencoded.png">    </p:cNvPr>
          <p:cNvPicPr>
            <a:picLocks noChangeAspect="1"/>
          </p:cNvPicPr>
          <p:nvPr/>
        </p:nvPicPr>
        <p:blipFill>
          <a:blip r:embed="rId9"/>
          <a:stretch>
            <a:fillRect/>
          </a:stretch>
        </p:blipFill>
        <p:spPr>
          <a:xfrm>
            <a:off x="7315200" y="5422392"/>
            <a:ext cx="347472" cy="347472"/>
          </a:xfrm>
          <a:prstGeom prst="rect">
            <a:avLst/>
          </a:prstGeom>
        </p:spPr>
      </p:pic>
      <p:sp>
        <p:nvSpPr>
          <p:cNvPr id="45" name="Text 34"/>
          <p:cNvSpPr txBox="1"/>
          <p:nvPr/>
        </p:nvSpPr>
        <p:spPr>
          <a:xfrm>
            <a:off x="7863840" y="5349240"/>
            <a:ext cx="3749040" cy="292608"/>
          </a:xfrm>
          <a:prstGeom prst="rect">
            <a:avLst/>
          </a:prstGeom>
          <a:noFill/>
          <a:ln/>
        </p:spPr>
        <p:txBody>
          <a:bodyPr wrap="square" lIns="0" tIns="0" rIns="0" bIns="0" rtlCol="0" anchor="t"/>
          <a:lstStyle/>
          <a:p>
            <a:pPr indent="0" marL="0">
              <a:buNone/>
            </a:pPr>
            <a:r>
              <a:rPr lang="en-US" sz="1450" b="1" dirty="0">
                <a:solidFill>
                  <a:srgbClr val="12343B"/>
                </a:solidFill>
                <a:latin typeface="Calibri" pitchFamily="34" charset="0"/>
                <a:ea typeface="Calibri" pitchFamily="34" charset="-122"/>
                <a:cs typeface="Calibri" pitchFamily="34" charset="-120"/>
              </a:rPr>
              <a:t>Data cut-off date</a:t>
            </a:r>
            <a:endParaRPr lang="en-US" sz="1450" dirty="0"/>
          </a:p>
        </p:txBody>
      </p:sp>
      <p:sp>
        <p:nvSpPr>
          <p:cNvPr id="46" name="Text 35"/>
          <p:cNvSpPr txBox="1"/>
          <p:nvPr/>
        </p:nvSpPr>
        <p:spPr>
          <a:xfrm>
            <a:off x="7863840" y="5650992"/>
            <a:ext cx="3749040" cy="41148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Defaults to the latest official edition</a:t>
            </a:r>
            <a:endParaRPr lang="en-US" sz="1200" dirty="0"/>
          </a:p>
        </p:txBody>
      </p:sp>
      <p:sp>
        <p:nvSpPr>
          <p:cNvPr id="47" name="Text 36"/>
          <p:cNvSpPr txBox="1"/>
          <p:nvPr/>
        </p:nvSpPr>
        <p:spPr>
          <a:xfrm>
            <a:off x="548640" y="6473952"/>
            <a:ext cx="6400800" cy="228600"/>
          </a:xfrm>
          <a:prstGeom prst="rect">
            <a:avLst/>
          </a:prstGeom>
          <a:noFill/>
          <a:ln/>
        </p:spPr>
        <p:txBody>
          <a:bodyPr wrap="square" lIns="0" tIns="0" rIns="0" bIns="0" rtlCol="0" anchor="t"/>
          <a:lstStyle/>
          <a:p>
            <a:pPr indent="0" marL="0">
              <a:buNone/>
            </a:pPr>
            <a:r>
              <a:rPr lang="en-US" sz="900" dirty="0">
                <a:solidFill>
                  <a:srgbClr val="95A1A8"/>
                </a:solidFill>
                <a:latin typeface="Calibri" pitchFamily="34" charset="0"/>
                <a:ea typeface="Calibri" pitchFamily="34" charset="-122"/>
                <a:cs typeface="Calibri" pitchFamily="34" charset="-120"/>
              </a:rPr>
              <a:t>Macroenvironment Agent · Business Requirements · Board review</a:t>
            </a:r>
            <a:endParaRPr lang="en-US" sz="900" dirty="0"/>
          </a:p>
        </p:txBody>
      </p:sp>
      <p:sp>
        <p:nvSpPr>
          <p:cNvPr id="48" name="Text 37"/>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95A1A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84048"/>
            <a:ext cx="11094415" cy="685800"/>
          </a:xfrm>
          <a:prstGeom prst="rect">
            <a:avLst/>
          </a:prstGeom>
          <a:noFill/>
          <a:ln/>
        </p:spPr>
        <p:txBody>
          <a:bodyPr wrap="square" lIns="0" tIns="0" rIns="0" bIns="0" rtlCol="0" anchor="ctr"/>
          <a:lstStyle/>
          <a:p>
            <a:pPr indent="0" marL="0">
              <a:buNone/>
            </a:pPr>
            <a:r>
              <a:rPr lang="en-US" sz="3000" b="1" dirty="0">
                <a:solidFill>
                  <a:srgbClr val="12343B"/>
                </a:solidFill>
                <a:latin typeface="Cambria" pitchFamily="34" charset="0"/>
                <a:ea typeface="Cambria" pitchFamily="34" charset="-122"/>
                <a:cs typeface="Cambria" pitchFamily="34" charset="-120"/>
              </a:rPr>
              <a:t>What the client receives</a:t>
            </a:r>
            <a:endParaRPr lang="en-US" sz="3000" dirty="0"/>
          </a:p>
        </p:txBody>
      </p:sp>
      <p:sp>
        <p:nvSpPr>
          <p:cNvPr id="3" name="Text 1"/>
          <p:cNvSpPr txBox="1"/>
          <p:nvPr/>
        </p:nvSpPr>
        <p:spPr>
          <a:xfrm>
            <a:off x="548640" y="1069848"/>
            <a:ext cx="11094415" cy="411480"/>
          </a:xfrm>
          <a:prstGeom prst="rect">
            <a:avLst/>
          </a:prstGeom>
          <a:noFill/>
          <a:ln/>
        </p:spPr>
        <p:txBody>
          <a:bodyPr wrap="square" lIns="0" tIns="0" rIns="0" bIns="0" rtlCol="0" anchor="t"/>
          <a:lstStyle/>
          <a:p>
            <a:pPr indent="0" marL="0">
              <a:buNone/>
            </a:pPr>
            <a:r>
              <a:rPr lang="en-US" sz="1500" dirty="0">
                <a:solidFill>
                  <a:srgbClr val="5B6770"/>
                </a:solidFill>
                <a:latin typeface="Calibri" pitchFamily="34" charset="0"/>
                <a:ea typeface="Calibri" pitchFamily="34" charset="-122"/>
                <a:cs typeface="Calibri" pitchFamily="34" charset="-120"/>
              </a:rPr>
              <a:t>Three documents from the same register, so a shared number is always identical</a:t>
            </a:r>
            <a:endParaRPr lang="en-US" sz="1500" dirty="0"/>
          </a:p>
        </p:txBody>
      </p:sp>
      <p:sp>
        <p:nvSpPr>
          <p:cNvPr id="4" name="Shape 2"/>
          <p:cNvSpPr/>
          <p:nvPr/>
        </p:nvSpPr>
        <p:spPr>
          <a:xfrm>
            <a:off x="548640" y="1737360"/>
            <a:ext cx="3484778" cy="4434840"/>
          </a:xfrm>
          <a:prstGeom prst="roundRect">
            <a:avLst>
              <a:gd name="adj" fmla="val 2099"/>
            </a:avLst>
          </a:prstGeom>
          <a:solidFill>
            <a:srgbClr val="EFF6F5"/>
          </a:solidFill>
          <a:ln w="12700">
            <a:solidFill>
              <a:srgbClr val="EFF6F5"/>
            </a:solidFill>
            <a:prstDash val="solid"/>
          </a:ln>
        </p:spPr>
      </p:sp>
      <p:sp>
        <p:nvSpPr>
          <p:cNvPr id="5" name="Shape 3"/>
          <p:cNvSpPr/>
          <p:nvPr/>
        </p:nvSpPr>
        <p:spPr>
          <a:xfrm>
            <a:off x="548640" y="1737360"/>
            <a:ext cx="3484778" cy="1234440"/>
          </a:xfrm>
          <a:prstGeom prst="roundRect">
            <a:avLst>
              <a:gd name="adj" fmla="val 5926"/>
            </a:avLst>
          </a:prstGeom>
          <a:solidFill>
            <a:srgbClr val="12343B"/>
          </a:solidFill>
          <a:ln w="12700">
            <a:solidFill>
              <a:srgbClr val="12343B"/>
            </a:solidFill>
            <a:prstDash val="solid"/>
          </a:ln>
        </p:spPr>
      </p:sp>
      <p:sp>
        <p:nvSpPr>
          <p:cNvPr id="6" name="Shape 4"/>
          <p:cNvSpPr/>
          <p:nvPr/>
        </p:nvSpPr>
        <p:spPr>
          <a:xfrm>
            <a:off x="548640" y="2743200"/>
            <a:ext cx="3484778" cy="228600"/>
          </a:xfrm>
          <a:prstGeom prst="rect">
            <a:avLst/>
          </a:prstGeom>
          <a:solidFill>
            <a:srgbClr val="12343B"/>
          </a:solidFill>
          <a:ln w="12700">
            <a:solidFill>
              <a:srgbClr val="12343B"/>
            </a:solidFill>
            <a:prstDash val="solid"/>
          </a:ln>
        </p:spPr>
      </p:sp>
      <p:sp>
        <p:nvSpPr>
          <p:cNvPr id="7" name="Shape 5"/>
          <p:cNvSpPr/>
          <p:nvPr/>
        </p:nvSpPr>
        <p:spPr>
          <a:xfrm>
            <a:off x="777240" y="2039112"/>
            <a:ext cx="640080" cy="640080"/>
          </a:xfrm>
          <a:prstGeom prst="ellipse">
            <a:avLst/>
          </a:prstGeom>
          <a:solidFill>
            <a:srgbClr val="B8862B"/>
          </a:solidFill>
          <a:ln w="12700">
            <a:solidFill>
              <a:srgbClr val="B8862B"/>
            </a:solidFill>
            <a:prstDash val="solid"/>
          </a:ln>
        </p:spPr>
      </p:sp>
      <p:pic>
        <p:nvPicPr>
          <p:cNvPr id="8" name="Image 0" descr="preencoded.png">    </p:cNvPr>
          <p:cNvPicPr>
            <a:picLocks noChangeAspect="1"/>
          </p:cNvPicPr>
          <p:nvPr/>
        </p:nvPicPr>
        <p:blipFill>
          <a:blip r:embed="rId1"/>
          <a:stretch>
            <a:fillRect/>
          </a:stretch>
        </p:blipFill>
        <p:spPr>
          <a:xfrm>
            <a:off x="943661" y="2205533"/>
            <a:ext cx="307238" cy="307238"/>
          </a:xfrm>
          <a:prstGeom prst="rect">
            <a:avLst/>
          </a:prstGeom>
        </p:spPr>
      </p:pic>
      <p:sp>
        <p:nvSpPr>
          <p:cNvPr id="9" name="Text 6"/>
          <p:cNvSpPr txBox="1"/>
          <p:nvPr/>
        </p:nvSpPr>
        <p:spPr>
          <a:xfrm>
            <a:off x="1572768" y="1920240"/>
            <a:ext cx="2296058" cy="8686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Macroeconomic Impact Report</a:t>
            </a:r>
            <a:endParaRPr lang="en-US" sz="1700" dirty="0"/>
          </a:p>
        </p:txBody>
      </p:sp>
      <p:sp>
        <p:nvSpPr>
          <p:cNvPr id="10" name="Text 7"/>
          <p:cNvSpPr txBox="1"/>
          <p:nvPr/>
        </p:nvSpPr>
        <p:spPr>
          <a:xfrm>
            <a:off x="822960" y="3200400"/>
            <a:ext cx="2936138" cy="274320"/>
          </a:xfrm>
          <a:prstGeom prst="rect">
            <a:avLst/>
          </a:prstGeom>
          <a:noFill/>
          <a:ln/>
        </p:spPr>
        <p:txBody>
          <a:bodyPr wrap="square" lIns="0" tIns="0" rIns="0" bIns="0" rtlCol="0" anchor="t"/>
          <a:lstStyle/>
          <a:p>
            <a:pPr indent="0" marL="0">
              <a:buNone/>
            </a:pPr>
            <a:r>
              <a:rPr lang="en-US" sz="1150" b="1" spc="100" kern="0" dirty="0">
                <a:solidFill>
                  <a:srgbClr val="1F7A7A"/>
                </a:solidFill>
                <a:latin typeface="Calibri" pitchFamily="34" charset="0"/>
                <a:ea typeface="Calibri" pitchFamily="34" charset="-122"/>
                <a:cs typeface="Calibri" pitchFamily="34" charset="-120"/>
              </a:rPr>
              <a:t>NARRATIVE ANALYSIS</a:t>
            </a:r>
            <a:endParaRPr lang="en-US" sz="1150" dirty="0"/>
          </a:p>
        </p:txBody>
      </p:sp>
      <p:sp>
        <p:nvSpPr>
          <p:cNvPr id="11" name="Text 8"/>
          <p:cNvSpPr txBox="1"/>
          <p:nvPr/>
        </p:nvSpPr>
        <p:spPr>
          <a:xfrm>
            <a:off x="822960" y="3520440"/>
            <a:ext cx="2936138" cy="868680"/>
          </a:xfrm>
          <a:prstGeom prst="rect">
            <a:avLst/>
          </a:prstGeom>
          <a:noFill/>
          <a:ln/>
        </p:spPr>
        <p:txBody>
          <a:bodyPr wrap="square" lIns="0" tIns="0" rIns="0" bIns="0" rtlCol="0" anchor="t"/>
          <a:lstStyle/>
          <a:p>
            <a:pPr indent="0" marL="0">
              <a:buNone/>
            </a:pPr>
            <a:r>
              <a:rPr lang="en-US" sz="1400" dirty="0">
                <a:solidFill>
                  <a:srgbClr val="1E2A30"/>
                </a:solidFill>
                <a:latin typeface="Calibri" pitchFamily="34" charset="0"/>
                <a:ea typeface="Calibri" pitchFamily="34" charset="-122"/>
                <a:cs typeface="Calibri" pitchFamily="34" charset="-120"/>
              </a:rPr>
              <a:t>What the economy is likely to do and what it means for the client's sector.</a:t>
            </a:r>
            <a:endParaRPr lang="en-US" sz="1400" dirty="0"/>
          </a:p>
        </p:txBody>
      </p:sp>
      <p:sp>
        <p:nvSpPr>
          <p:cNvPr id="12" name="Text 9"/>
          <p:cNvSpPr txBox="1"/>
          <p:nvPr/>
        </p:nvSpPr>
        <p:spPr>
          <a:xfrm>
            <a:off x="822960" y="4434840"/>
            <a:ext cx="2936138" cy="914400"/>
          </a:xfrm>
          <a:prstGeom prst="rect">
            <a:avLst/>
          </a:prstGeom>
          <a:noFill/>
          <a:ln/>
        </p:spPr>
        <p:txBody>
          <a:bodyPr wrap="square" lIns="0" tIns="0" rIns="0" bIns="0" rtlCol="0" anchor="t"/>
          <a:lstStyle/>
          <a:p>
            <a:pPr indent="0" marL="0">
              <a:buNone/>
            </a:pPr>
            <a:r>
              <a:rPr lang="en-US" sz="1350" b="1" dirty="0">
                <a:solidFill>
                  <a:srgbClr val="12343B"/>
                </a:solidFill>
                <a:latin typeface="Calibri" pitchFamily="34" charset="0"/>
                <a:ea typeface="Calibri" pitchFamily="34" charset="-122"/>
                <a:cs typeface="Calibri" pitchFamily="34" charset="-120"/>
              </a:rPr>
              <a:t>Business value  </a:t>
            </a:r>
            <a:pPr indent="0" marL="0">
              <a:buNone/>
            </a:pPr>
            <a:r>
              <a:rPr lang="en-US" sz="1350" dirty="0">
                <a:solidFill>
                  <a:srgbClr val="1E2A30"/>
                </a:solidFill>
                <a:latin typeface="Calibri" pitchFamily="34" charset="0"/>
                <a:ea typeface="Calibri" pitchFamily="34" charset="-122"/>
                <a:cs typeface="Calibri" pitchFamily="34" charset="-120"/>
              </a:rPr>
              <a:t>Supports decisions on market entry, expansion, pricing and budgets.</a:t>
            </a:r>
            <a:endParaRPr lang="en-US" sz="1350" dirty="0"/>
          </a:p>
        </p:txBody>
      </p:sp>
      <p:sp>
        <p:nvSpPr>
          <p:cNvPr id="13" name="Shape 10"/>
          <p:cNvSpPr/>
          <p:nvPr/>
        </p:nvSpPr>
        <p:spPr>
          <a:xfrm>
            <a:off x="822960" y="5504688"/>
            <a:ext cx="2936138" cy="0"/>
          </a:xfrm>
          <a:prstGeom prst="line">
            <a:avLst/>
          </a:prstGeom>
          <a:noFill/>
          <a:ln w="12700">
            <a:solidFill>
              <a:srgbClr val="C9D3D6"/>
            </a:solidFill>
            <a:prstDash val="solid"/>
          </a:ln>
        </p:spPr>
      </p:sp>
      <p:sp>
        <p:nvSpPr>
          <p:cNvPr id="14" name="Text 11"/>
          <p:cNvSpPr txBox="1"/>
          <p:nvPr/>
        </p:nvSpPr>
        <p:spPr>
          <a:xfrm>
            <a:off x="822960" y="5623560"/>
            <a:ext cx="2936138" cy="365760"/>
          </a:xfrm>
          <a:prstGeom prst="rect">
            <a:avLst/>
          </a:prstGeom>
          <a:noFill/>
          <a:ln/>
        </p:spPr>
        <p:txBody>
          <a:bodyPr wrap="square" lIns="0" tIns="0" rIns="0" bIns="0" rtlCol="0" anchor="t"/>
          <a:lstStyle/>
          <a:p>
            <a:pPr indent="0" marL="0">
              <a:buNone/>
            </a:pPr>
            <a:r>
              <a:rPr lang="en-US" sz="1300" b="1" dirty="0">
                <a:solidFill>
                  <a:srgbClr val="12343B"/>
                </a:solidFill>
                <a:latin typeface="Calibri" pitchFamily="34" charset="0"/>
                <a:ea typeface="Calibri" pitchFamily="34" charset="-122"/>
                <a:cs typeface="Calibri" pitchFamily="34" charset="-120"/>
              </a:rPr>
              <a:t>PDF or Word · 25–30 pages</a:t>
            </a:r>
            <a:endParaRPr lang="en-US" sz="1300" dirty="0"/>
          </a:p>
        </p:txBody>
      </p:sp>
      <p:sp>
        <p:nvSpPr>
          <p:cNvPr id="15" name="Shape 12"/>
          <p:cNvSpPr/>
          <p:nvPr/>
        </p:nvSpPr>
        <p:spPr>
          <a:xfrm>
            <a:off x="4353458" y="1737360"/>
            <a:ext cx="3484778" cy="4434840"/>
          </a:xfrm>
          <a:prstGeom prst="roundRect">
            <a:avLst>
              <a:gd name="adj" fmla="val 2099"/>
            </a:avLst>
          </a:prstGeom>
          <a:solidFill>
            <a:srgbClr val="EFF6F5"/>
          </a:solidFill>
          <a:ln w="12700">
            <a:solidFill>
              <a:srgbClr val="EFF6F5"/>
            </a:solidFill>
            <a:prstDash val="solid"/>
          </a:ln>
        </p:spPr>
      </p:sp>
      <p:sp>
        <p:nvSpPr>
          <p:cNvPr id="16" name="Shape 13"/>
          <p:cNvSpPr/>
          <p:nvPr/>
        </p:nvSpPr>
        <p:spPr>
          <a:xfrm>
            <a:off x="4353458" y="1737360"/>
            <a:ext cx="3484778" cy="1234440"/>
          </a:xfrm>
          <a:prstGeom prst="roundRect">
            <a:avLst>
              <a:gd name="adj" fmla="val 5926"/>
            </a:avLst>
          </a:prstGeom>
          <a:solidFill>
            <a:srgbClr val="12343B"/>
          </a:solidFill>
          <a:ln w="12700">
            <a:solidFill>
              <a:srgbClr val="12343B"/>
            </a:solidFill>
            <a:prstDash val="solid"/>
          </a:ln>
        </p:spPr>
      </p:sp>
      <p:sp>
        <p:nvSpPr>
          <p:cNvPr id="17" name="Shape 14"/>
          <p:cNvSpPr/>
          <p:nvPr/>
        </p:nvSpPr>
        <p:spPr>
          <a:xfrm>
            <a:off x="4353458" y="2743200"/>
            <a:ext cx="3484778" cy="228600"/>
          </a:xfrm>
          <a:prstGeom prst="rect">
            <a:avLst/>
          </a:prstGeom>
          <a:solidFill>
            <a:srgbClr val="12343B"/>
          </a:solidFill>
          <a:ln w="12700">
            <a:solidFill>
              <a:srgbClr val="12343B"/>
            </a:solidFill>
            <a:prstDash val="solid"/>
          </a:ln>
        </p:spPr>
      </p:sp>
      <p:sp>
        <p:nvSpPr>
          <p:cNvPr id="18" name="Shape 15"/>
          <p:cNvSpPr/>
          <p:nvPr/>
        </p:nvSpPr>
        <p:spPr>
          <a:xfrm>
            <a:off x="4582058" y="2039112"/>
            <a:ext cx="640080" cy="640080"/>
          </a:xfrm>
          <a:prstGeom prst="ellipse">
            <a:avLst/>
          </a:prstGeom>
          <a:solidFill>
            <a:srgbClr val="B8862B"/>
          </a:solidFill>
          <a:ln w="12700">
            <a:solidFill>
              <a:srgbClr val="B8862B"/>
            </a:solidFill>
            <a:prstDash val="solid"/>
          </a:ln>
        </p:spPr>
      </p:sp>
      <p:pic>
        <p:nvPicPr>
          <p:cNvPr id="19" name="Image 1" descr="preencoded.png">    </p:cNvPr>
          <p:cNvPicPr>
            <a:picLocks noChangeAspect="1"/>
          </p:cNvPicPr>
          <p:nvPr/>
        </p:nvPicPr>
        <p:blipFill>
          <a:blip r:embed="rId2"/>
          <a:stretch>
            <a:fillRect/>
          </a:stretch>
        </p:blipFill>
        <p:spPr>
          <a:xfrm>
            <a:off x="4748479" y="2205533"/>
            <a:ext cx="307238" cy="307238"/>
          </a:xfrm>
          <a:prstGeom prst="rect">
            <a:avLst/>
          </a:prstGeom>
        </p:spPr>
      </p:pic>
      <p:sp>
        <p:nvSpPr>
          <p:cNvPr id="20" name="Text 16"/>
          <p:cNvSpPr txBox="1"/>
          <p:nvPr/>
        </p:nvSpPr>
        <p:spPr>
          <a:xfrm>
            <a:off x="5377586" y="1920240"/>
            <a:ext cx="2296058" cy="8686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Risk &amp; Opportunities Matrix</a:t>
            </a:r>
            <a:endParaRPr lang="en-US" sz="1700" dirty="0"/>
          </a:p>
        </p:txBody>
      </p:sp>
      <p:sp>
        <p:nvSpPr>
          <p:cNvPr id="21" name="Text 17"/>
          <p:cNvSpPr txBox="1"/>
          <p:nvPr/>
        </p:nvSpPr>
        <p:spPr>
          <a:xfrm>
            <a:off x="4627778" y="3200400"/>
            <a:ext cx="2936138" cy="274320"/>
          </a:xfrm>
          <a:prstGeom prst="rect">
            <a:avLst/>
          </a:prstGeom>
          <a:noFill/>
          <a:ln/>
        </p:spPr>
        <p:txBody>
          <a:bodyPr wrap="square" lIns="0" tIns="0" rIns="0" bIns="0" rtlCol="0" anchor="t"/>
          <a:lstStyle/>
          <a:p>
            <a:pPr indent="0" marL="0">
              <a:buNone/>
            </a:pPr>
            <a:r>
              <a:rPr lang="en-US" sz="1150" b="1" spc="100" kern="0" dirty="0">
                <a:solidFill>
                  <a:srgbClr val="1F7A7A"/>
                </a:solidFill>
                <a:latin typeface="Calibri" pitchFamily="34" charset="0"/>
                <a:ea typeface="Calibri" pitchFamily="34" charset="-122"/>
                <a:cs typeface="Calibri" pitchFamily="34" charset="-120"/>
              </a:rPr>
              <a:t>CONTINGENCY PLAN</a:t>
            </a:r>
            <a:endParaRPr lang="en-US" sz="1150" dirty="0"/>
          </a:p>
        </p:txBody>
      </p:sp>
      <p:sp>
        <p:nvSpPr>
          <p:cNvPr id="22" name="Text 18"/>
          <p:cNvSpPr txBox="1"/>
          <p:nvPr/>
        </p:nvSpPr>
        <p:spPr>
          <a:xfrm>
            <a:off x="4627778" y="3520440"/>
            <a:ext cx="2936138" cy="868680"/>
          </a:xfrm>
          <a:prstGeom prst="rect">
            <a:avLst/>
          </a:prstGeom>
          <a:noFill/>
          <a:ln/>
        </p:spPr>
        <p:txBody>
          <a:bodyPr wrap="square" lIns="0" tIns="0" rIns="0" bIns="0" rtlCol="0" anchor="t"/>
          <a:lstStyle/>
          <a:p>
            <a:pPr indent="0" marL="0">
              <a:buNone/>
            </a:pPr>
            <a:r>
              <a:rPr lang="en-US" sz="1400" dirty="0">
                <a:solidFill>
                  <a:srgbClr val="1E2A30"/>
                </a:solidFill>
                <a:latin typeface="Calibri" pitchFamily="34" charset="0"/>
                <a:ea typeface="Calibri" pitchFamily="34" charset="-122"/>
                <a:cs typeface="Calibri" pitchFamily="34" charset="-120"/>
              </a:rPr>
              <a:t>Each risk rated by likelihood and impact, with a response and a warning signal.</a:t>
            </a:r>
            <a:endParaRPr lang="en-US" sz="1400" dirty="0"/>
          </a:p>
        </p:txBody>
      </p:sp>
      <p:sp>
        <p:nvSpPr>
          <p:cNvPr id="23" name="Text 19"/>
          <p:cNvSpPr txBox="1"/>
          <p:nvPr/>
        </p:nvSpPr>
        <p:spPr>
          <a:xfrm>
            <a:off x="4627778" y="4434840"/>
            <a:ext cx="2936138" cy="914400"/>
          </a:xfrm>
          <a:prstGeom prst="rect">
            <a:avLst/>
          </a:prstGeom>
          <a:noFill/>
          <a:ln/>
        </p:spPr>
        <p:txBody>
          <a:bodyPr wrap="square" lIns="0" tIns="0" rIns="0" bIns="0" rtlCol="0" anchor="t"/>
          <a:lstStyle/>
          <a:p>
            <a:pPr indent="0" marL="0">
              <a:buNone/>
            </a:pPr>
            <a:r>
              <a:rPr lang="en-US" sz="1350" b="1" dirty="0">
                <a:solidFill>
                  <a:srgbClr val="12343B"/>
                </a:solidFill>
                <a:latin typeface="Calibri" pitchFamily="34" charset="0"/>
                <a:ea typeface="Calibri" pitchFamily="34" charset="-122"/>
                <a:cs typeface="Calibri" pitchFamily="34" charset="-120"/>
              </a:rPr>
              <a:t>Business value  </a:t>
            </a:r>
            <a:pPr indent="0" marL="0">
              <a:buNone/>
            </a:pPr>
            <a:r>
              <a:rPr lang="en-US" sz="1350" dirty="0">
                <a:solidFill>
                  <a:srgbClr val="1E2A30"/>
                </a:solidFill>
                <a:latin typeface="Calibri" pitchFamily="34" charset="0"/>
                <a:ea typeface="Calibri" pitchFamily="34" charset="-122"/>
                <a:cs typeface="Calibri" pitchFamily="34" charset="-120"/>
              </a:rPr>
              <a:t>Tells the client how to prepare and when to act.</a:t>
            </a:r>
            <a:endParaRPr lang="en-US" sz="1350" dirty="0"/>
          </a:p>
        </p:txBody>
      </p:sp>
      <p:sp>
        <p:nvSpPr>
          <p:cNvPr id="24" name="Shape 20"/>
          <p:cNvSpPr/>
          <p:nvPr/>
        </p:nvSpPr>
        <p:spPr>
          <a:xfrm>
            <a:off x="4627778" y="5504688"/>
            <a:ext cx="2936138" cy="0"/>
          </a:xfrm>
          <a:prstGeom prst="line">
            <a:avLst/>
          </a:prstGeom>
          <a:noFill/>
          <a:ln w="12700">
            <a:solidFill>
              <a:srgbClr val="C9D3D6"/>
            </a:solidFill>
            <a:prstDash val="solid"/>
          </a:ln>
        </p:spPr>
      </p:sp>
      <p:sp>
        <p:nvSpPr>
          <p:cNvPr id="25" name="Text 21"/>
          <p:cNvSpPr txBox="1"/>
          <p:nvPr/>
        </p:nvSpPr>
        <p:spPr>
          <a:xfrm>
            <a:off x="4627778" y="5623560"/>
            <a:ext cx="2936138" cy="365760"/>
          </a:xfrm>
          <a:prstGeom prst="rect">
            <a:avLst/>
          </a:prstGeom>
          <a:noFill/>
          <a:ln/>
        </p:spPr>
        <p:txBody>
          <a:bodyPr wrap="square" lIns="0" tIns="0" rIns="0" bIns="0" rtlCol="0" anchor="t"/>
          <a:lstStyle/>
          <a:p>
            <a:pPr indent="0" marL="0">
              <a:buNone/>
            </a:pPr>
            <a:r>
              <a:rPr lang="en-US" sz="1300" b="1" dirty="0">
                <a:solidFill>
                  <a:srgbClr val="12343B"/>
                </a:solidFill>
                <a:latin typeface="Calibri" pitchFamily="34" charset="0"/>
                <a:ea typeface="Calibri" pitchFamily="34" charset="-122"/>
                <a:cs typeface="Calibri" pitchFamily="34" charset="-120"/>
              </a:rPr>
              <a:t>PDF or Word · 5–8 pages</a:t>
            </a:r>
            <a:endParaRPr lang="en-US" sz="1300" dirty="0"/>
          </a:p>
        </p:txBody>
      </p:sp>
      <p:sp>
        <p:nvSpPr>
          <p:cNvPr id="26" name="Shape 22"/>
          <p:cNvSpPr/>
          <p:nvPr/>
        </p:nvSpPr>
        <p:spPr>
          <a:xfrm>
            <a:off x="8158277" y="1737360"/>
            <a:ext cx="3484778" cy="4434840"/>
          </a:xfrm>
          <a:prstGeom prst="roundRect">
            <a:avLst>
              <a:gd name="adj" fmla="val 2099"/>
            </a:avLst>
          </a:prstGeom>
          <a:solidFill>
            <a:srgbClr val="EFF6F5"/>
          </a:solidFill>
          <a:ln w="12700">
            <a:solidFill>
              <a:srgbClr val="EFF6F5"/>
            </a:solidFill>
            <a:prstDash val="solid"/>
          </a:ln>
        </p:spPr>
      </p:sp>
      <p:sp>
        <p:nvSpPr>
          <p:cNvPr id="27" name="Shape 23"/>
          <p:cNvSpPr/>
          <p:nvPr/>
        </p:nvSpPr>
        <p:spPr>
          <a:xfrm>
            <a:off x="8158277" y="1737360"/>
            <a:ext cx="3484778" cy="1234440"/>
          </a:xfrm>
          <a:prstGeom prst="roundRect">
            <a:avLst>
              <a:gd name="adj" fmla="val 5926"/>
            </a:avLst>
          </a:prstGeom>
          <a:solidFill>
            <a:srgbClr val="12343B"/>
          </a:solidFill>
          <a:ln w="12700">
            <a:solidFill>
              <a:srgbClr val="12343B"/>
            </a:solidFill>
            <a:prstDash val="solid"/>
          </a:ln>
        </p:spPr>
      </p:sp>
      <p:sp>
        <p:nvSpPr>
          <p:cNvPr id="28" name="Shape 24"/>
          <p:cNvSpPr/>
          <p:nvPr/>
        </p:nvSpPr>
        <p:spPr>
          <a:xfrm>
            <a:off x="8158277" y="2743200"/>
            <a:ext cx="3484778" cy="228600"/>
          </a:xfrm>
          <a:prstGeom prst="rect">
            <a:avLst/>
          </a:prstGeom>
          <a:solidFill>
            <a:srgbClr val="12343B"/>
          </a:solidFill>
          <a:ln w="12700">
            <a:solidFill>
              <a:srgbClr val="12343B"/>
            </a:solidFill>
            <a:prstDash val="solid"/>
          </a:ln>
        </p:spPr>
      </p:sp>
      <p:sp>
        <p:nvSpPr>
          <p:cNvPr id="29" name="Shape 25"/>
          <p:cNvSpPr/>
          <p:nvPr/>
        </p:nvSpPr>
        <p:spPr>
          <a:xfrm>
            <a:off x="8386877" y="2039112"/>
            <a:ext cx="640080" cy="640080"/>
          </a:xfrm>
          <a:prstGeom prst="ellipse">
            <a:avLst/>
          </a:prstGeom>
          <a:solidFill>
            <a:srgbClr val="B8862B"/>
          </a:solidFill>
          <a:ln w="12700">
            <a:solidFill>
              <a:srgbClr val="B8862B"/>
            </a:solidFill>
            <a:prstDash val="solid"/>
          </a:ln>
        </p:spPr>
      </p:sp>
      <p:pic>
        <p:nvPicPr>
          <p:cNvPr id="30" name="Image 2" descr="preencoded.png">    </p:cNvPr>
          <p:cNvPicPr>
            <a:picLocks noChangeAspect="1"/>
          </p:cNvPicPr>
          <p:nvPr/>
        </p:nvPicPr>
        <p:blipFill>
          <a:blip r:embed="rId3"/>
          <a:stretch>
            <a:fillRect/>
          </a:stretch>
        </p:blipFill>
        <p:spPr>
          <a:xfrm>
            <a:off x="8553298" y="2205533"/>
            <a:ext cx="307238" cy="307238"/>
          </a:xfrm>
          <a:prstGeom prst="rect">
            <a:avLst/>
          </a:prstGeom>
        </p:spPr>
      </p:pic>
      <p:sp>
        <p:nvSpPr>
          <p:cNvPr id="31" name="Text 26"/>
          <p:cNvSpPr txBox="1"/>
          <p:nvPr/>
        </p:nvSpPr>
        <p:spPr>
          <a:xfrm>
            <a:off x="9182405" y="1920240"/>
            <a:ext cx="2296058" cy="8686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Key Indicators Database</a:t>
            </a:r>
            <a:endParaRPr lang="en-US" sz="1700" dirty="0"/>
          </a:p>
        </p:txBody>
      </p:sp>
      <p:sp>
        <p:nvSpPr>
          <p:cNvPr id="32" name="Text 27"/>
          <p:cNvSpPr txBox="1"/>
          <p:nvPr/>
        </p:nvSpPr>
        <p:spPr>
          <a:xfrm>
            <a:off x="8432597" y="3200400"/>
            <a:ext cx="2936138" cy="274320"/>
          </a:xfrm>
          <a:prstGeom prst="rect">
            <a:avLst/>
          </a:prstGeom>
          <a:noFill/>
          <a:ln/>
        </p:spPr>
        <p:txBody>
          <a:bodyPr wrap="square" lIns="0" tIns="0" rIns="0" bIns="0" rtlCol="0" anchor="t"/>
          <a:lstStyle/>
          <a:p>
            <a:pPr indent="0" marL="0">
              <a:buNone/>
            </a:pPr>
            <a:r>
              <a:rPr lang="en-US" sz="1150" b="1" spc="100" kern="0" dirty="0">
                <a:solidFill>
                  <a:srgbClr val="1F7A7A"/>
                </a:solidFill>
                <a:latin typeface="Calibri" pitchFamily="34" charset="0"/>
                <a:ea typeface="Calibri" pitchFamily="34" charset="-122"/>
                <a:cs typeface="Calibri" pitchFamily="34" charset="-120"/>
              </a:rPr>
              <a:t>STRUCTURED DATA FILE</a:t>
            </a:r>
            <a:endParaRPr lang="en-US" sz="1150" dirty="0"/>
          </a:p>
        </p:txBody>
      </p:sp>
      <p:sp>
        <p:nvSpPr>
          <p:cNvPr id="33" name="Text 28"/>
          <p:cNvSpPr txBox="1"/>
          <p:nvPr/>
        </p:nvSpPr>
        <p:spPr>
          <a:xfrm>
            <a:off x="8432597" y="3520440"/>
            <a:ext cx="2936138" cy="868680"/>
          </a:xfrm>
          <a:prstGeom prst="rect">
            <a:avLst/>
          </a:prstGeom>
          <a:noFill/>
          <a:ln/>
        </p:spPr>
        <p:txBody>
          <a:bodyPr wrap="square" lIns="0" tIns="0" rIns="0" bIns="0" rtlCol="0" anchor="t"/>
          <a:lstStyle/>
          <a:p>
            <a:pPr indent="0" marL="0">
              <a:buNone/>
            </a:pPr>
            <a:r>
              <a:rPr lang="en-US" sz="1400" dirty="0">
                <a:solidFill>
                  <a:srgbClr val="1E2A30"/>
                </a:solidFill>
                <a:latin typeface="Calibri" pitchFamily="34" charset="0"/>
                <a:ea typeface="Calibri" pitchFamily="34" charset="-122"/>
                <a:cs typeface="Calibri" pitchFamily="34" charset="-120"/>
              </a:rPr>
              <a:t>Clean historical and forecast figures, each with its source.</a:t>
            </a:r>
            <a:endParaRPr lang="en-US" sz="1400" dirty="0"/>
          </a:p>
        </p:txBody>
      </p:sp>
      <p:sp>
        <p:nvSpPr>
          <p:cNvPr id="34" name="Text 29"/>
          <p:cNvSpPr txBox="1"/>
          <p:nvPr/>
        </p:nvSpPr>
        <p:spPr>
          <a:xfrm>
            <a:off x="8432597" y="4434840"/>
            <a:ext cx="2936138" cy="914400"/>
          </a:xfrm>
          <a:prstGeom prst="rect">
            <a:avLst/>
          </a:prstGeom>
          <a:noFill/>
          <a:ln/>
        </p:spPr>
        <p:txBody>
          <a:bodyPr wrap="square" lIns="0" tIns="0" rIns="0" bIns="0" rtlCol="0" anchor="t"/>
          <a:lstStyle/>
          <a:p>
            <a:pPr indent="0" marL="0">
              <a:buNone/>
            </a:pPr>
            <a:r>
              <a:rPr lang="en-US" sz="1350" b="1" dirty="0">
                <a:solidFill>
                  <a:srgbClr val="12343B"/>
                </a:solidFill>
                <a:latin typeface="Calibri" pitchFamily="34" charset="0"/>
                <a:ea typeface="Calibri" pitchFamily="34" charset="-122"/>
                <a:cs typeface="Calibri" pitchFamily="34" charset="-120"/>
              </a:rPr>
              <a:t>Business value  </a:t>
            </a:r>
            <a:pPr indent="0" marL="0">
              <a:buNone/>
            </a:pPr>
            <a:r>
              <a:rPr lang="en-US" sz="1350" dirty="0">
                <a:solidFill>
                  <a:srgbClr val="1E2A30"/>
                </a:solidFill>
                <a:latin typeface="Calibri" pitchFamily="34" charset="0"/>
                <a:ea typeface="Calibri" pitchFamily="34" charset="-122"/>
                <a:cs typeface="Calibri" pitchFamily="34" charset="-120"/>
              </a:rPr>
              <a:t>Feeds the later financial calculations without retyping.</a:t>
            </a:r>
            <a:endParaRPr lang="en-US" sz="1350" dirty="0"/>
          </a:p>
        </p:txBody>
      </p:sp>
      <p:sp>
        <p:nvSpPr>
          <p:cNvPr id="35" name="Shape 30"/>
          <p:cNvSpPr/>
          <p:nvPr/>
        </p:nvSpPr>
        <p:spPr>
          <a:xfrm>
            <a:off x="8432597" y="5504688"/>
            <a:ext cx="2936138" cy="0"/>
          </a:xfrm>
          <a:prstGeom prst="line">
            <a:avLst/>
          </a:prstGeom>
          <a:noFill/>
          <a:ln w="12700">
            <a:solidFill>
              <a:srgbClr val="C9D3D6"/>
            </a:solidFill>
            <a:prstDash val="solid"/>
          </a:ln>
        </p:spPr>
      </p:sp>
      <p:sp>
        <p:nvSpPr>
          <p:cNvPr id="36" name="Text 31"/>
          <p:cNvSpPr txBox="1"/>
          <p:nvPr/>
        </p:nvSpPr>
        <p:spPr>
          <a:xfrm>
            <a:off x="8432597" y="5623560"/>
            <a:ext cx="2936138" cy="365760"/>
          </a:xfrm>
          <a:prstGeom prst="rect">
            <a:avLst/>
          </a:prstGeom>
          <a:noFill/>
          <a:ln/>
        </p:spPr>
        <p:txBody>
          <a:bodyPr wrap="square" lIns="0" tIns="0" rIns="0" bIns="0" rtlCol="0" anchor="t"/>
          <a:lstStyle/>
          <a:p>
            <a:pPr indent="0" marL="0">
              <a:buNone/>
            </a:pPr>
            <a:r>
              <a:rPr lang="en-US" sz="1300" b="1" dirty="0">
                <a:solidFill>
                  <a:srgbClr val="12343B"/>
                </a:solidFill>
                <a:latin typeface="Calibri" pitchFamily="34" charset="0"/>
                <a:ea typeface="Calibri" pitchFamily="34" charset="-122"/>
                <a:cs typeface="Calibri" pitchFamily="34" charset="-120"/>
              </a:rPr>
              <a:t>Excel · 100+ rows</a:t>
            </a:r>
            <a:endParaRPr lang="en-US" sz="1300" dirty="0"/>
          </a:p>
        </p:txBody>
      </p:sp>
      <p:sp>
        <p:nvSpPr>
          <p:cNvPr id="37" name="Text 32"/>
          <p:cNvSpPr txBox="1"/>
          <p:nvPr/>
        </p:nvSpPr>
        <p:spPr>
          <a:xfrm>
            <a:off x="548640" y="6236208"/>
            <a:ext cx="5486400" cy="228600"/>
          </a:xfrm>
          <a:prstGeom prst="rect">
            <a:avLst/>
          </a:prstGeom>
          <a:noFill/>
          <a:ln/>
        </p:spPr>
        <p:txBody>
          <a:bodyPr wrap="square" lIns="0" tIns="0" rIns="0" bIns="0" rtlCol="0" anchor="t"/>
          <a:lstStyle/>
          <a:p>
            <a:pPr indent="0" marL="0">
              <a:buNone/>
            </a:pPr>
            <a:r>
              <a:rPr lang="en-US" sz="1000" i="1" dirty="0">
                <a:solidFill>
                  <a:srgbClr val="5B6770"/>
                </a:solidFill>
                <a:latin typeface="Calibri" pitchFamily="34" charset="0"/>
                <a:ea typeface="Calibri" pitchFamily="34" charset="-122"/>
                <a:cs typeface="Calibri" pitchFamily="34" charset="-120"/>
              </a:rPr>
              <a:t>Page and row counts are design targets.</a:t>
            </a:r>
            <a:endParaRPr lang="en-US" sz="1000" dirty="0"/>
          </a:p>
        </p:txBody>
      </p:sp>
      <p:sp>
        <p:nvSpPr>
          <p:cNvPr id="38" name="Text 33"/>
          <p:cNvSpPr txBox="1"/>
          <p:nvPr/>
        </p:nvSpPr>
        <p:spPr>
          <a:xfrm>
            <a:off x="548640" y="6473952"/>
            <a:ext cx="6400800" cy="228600"/>
          </a:xfrm>
          <a:prstGeom prst="rect">
            <a:avLst/>
          </a:prstGeom>
          <a:noFill/>
          <a:ln/>
        </p:spPr>
        <p:txBody>
          <a:bodyPr wrap="square" lIns="0" tIns="0" rIns="0" bIns="0" rtlCol="0" anchor="t"/>
          <a:lstStyle/>
          <a:p>
            <a:pPr indent="0" marL="0">
              <a:buNone/>
            </a:pPr>
            <a:r>
              <a:rPr lang="en-US" sz="900" dirty="0">
                <a:solidFill>
                  <a:srgbClr val="95A1A8"/>
                </a:solidFill>
                <a:latin typeface="Calibri" pitchFamily="34" charset="0"/>
                <a:ea typeface="Calibri" pitchFamily="34" charset="-122"/>
                <a:cs typeface="Calibri" pitchFamily="34" charset="-120"/>
              </a:rPr>
              <a:t>Macroenvironment Agent · Business Requirements · Board review</a:t>
            </a:r>
            <a:endParaRPr lang="en-US" sz="900" dirty="0"/>
          </a:p>
        </p:txBody>
      </p:sp>
      <p:sp>
        <p:nvSpPr>
          <p:cNvPr id="39" name="Text 34"/>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95A1A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11094415" cy="685800"/>
          </a:xfrm>
          <a:prstGeom prst="rect">
            <a:avLst/>
          </a:prstGeom>
          <a:noFill/>
          <a:ln/>
        </p:spPr>
        <p:txBody>
          <a:bodyPr wrap="square" lIns="0" tIns="0" rIns="0" bIns="0" rtlCol="0" anchor="ctr"/>
          <a:lstStyle/>
          <a:p>
            <a:pPr indent="0" marL="0">
              <a:buNone/>
            </a:pPr>
            <a:r>
              <a:rPr lang="en-US" sz="3000" b="1" dirty="0">
                <a:solidFill>
                  <a:srgbClr val="12343B"/>
                </a:solidFill>
                <a:latin typeface="Cambria" pitchFamily="34" charset="0"/>
                <a:ea typeface="Cambria" pitchFamily="34" charset="-122"/>
                <a:cs typeface="Cambria" pitchFamily="34" charset="-120"/>
              </a:rPr>
              <a:t>Deliverable 1: Macroeconomic Impact Report</a:t>
            </a:r>
            <a:endParaRPr lang="en-US" sz="3000" dirty="0"/>
          </a:p>
        </p:txBody>
      </p:sp>
      <p:sp>
        <p:nvSpPr>
          <p:cNvPr id="3" name="Text 1"/>
          <p:cNvSpPr txBox="1"/>
          <p:nvPr/>
        </p:nvSpPr>
        <p:spPr>
          <a:xfrm>
            <a:off x="548640" y="1069848"/>
            <a:ext cx="11094415" cy="411480"/>
          </a:xfrm>
          <a:prstGeom prst="rect">
            <a:avLst/>
          </a:prstGeom>
          <a:noFill/>
          <a:ln/>
        </p:spPr>
        <p:txBody>
          <a:bodyPr wrap="square" lIns="0" tIns="0" rIns="0" bIns="0" rtlCol="0" anchor="t"/>
          <a:lstStyle/>
          <a:p>
            <a:pPr indent="0" marL="0">
              <a:buNone/>
            </a:pPr>
            <a:r>
              <a:rPr lang="en-US" sz="1500" dirty="0">
                <a:solidFill>
                  <a:srgbClr val="5B6770"/>
                </a:solidFill>
                <a:latin typeface="Calibri" pitchFamily="34" charset="0"/>
                <a:ea typeface="Calibri" pitchFamily="34" charset="-122"/>
                <a:cs typeface="Calibri" pitchFamily="34" charset="-120"/>
              </a:rPr>
              <a:t>Follows the IMF sequence: recent developments, outlook, risks, implications</a:t>
            </a:r>
            <a:endParaRPr lang="en-US" sz="1500" dirty="0"/>
          </a:p>
        </p:txBody>
      </p:sp>
      <p:sp>
        <p:nvSpPr>
          <p:cNvPr id="4" name="Shape 2"/>
          <p:cNvSpPr/>
          <p:nvPr/>
        </p:nvSpPr>
        <p:spPr>
          <a:xfrm>
            <a:off x="548640" y="1856232"/>
            <a:ext cx="438912" cy="438912"/>
          </a:xfrm>
          <a:prstGeom prst="ellipse">
            <a:avLst/>
          </a:prstGeom>
          <a:solidFill>
            <a:srgbClr val="B8862B"/>
          </a:solidFill>
          <a:ln w="12700">
            <a:solidFill>
              <a:srgbClr val="B8862B"/>
            </a:solidFill>
            <a:prstDash val="solid"/>
          </a:ln>
        </p:spPr>
      </p:sp>
      <p:sp>
        <p:nvSpPr>
          <p:cNvPr id="5" name="Text 3"/>
          <p:cNvSpPr txBox="1"/>
          <p:nvPr/>
        </p:nvSpPr>
        <p:spPr>
          <a:xfrm>
            <a:off x="548640" y="1856232"/>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a:t>
            </a:r>
            <a:endParaRPr lang="en-US" sz="1300" dirty="0"/>
          </a:p>
        </p:txBody>
      </p:sp>
      <p:sp>
        <p:nvSpPr>
          <p:cNvPr id="6" name="Text 4"/>
          <p:cNvSpPr txBox="1"/>
          <p:nvPr/>
        </p:nvSpPr>
        <p:spPr>
          <a:xfrm>
            <a:off x="1143000" y="1783080"/>
            <a:ext cx="3017520" cy="585216"/>
          </a:xfrm>
          <a:prstGeom prst="rect">
            <a:avLst/>
          </a:prstGeom>
          <a:noFill/>
          <a:ln/>
        </p:spPr>
        <p:txBody>
          <a:bodyPr wrap="square" lIns="0" tIns="0" rIns="0" bIns="0" rtlCol="0" anchor="ctr"/>
          <a:lstStyle/>
          <a:p>
            <a:pPr indent="0" marL="0">
              <a:buNone/>
            </a:pPr>
            <a:r>
              <a:rPr lang="en-US" sz="1450" dirty="0">
                <a:solidFill>
                  <a:srgbClr val="12343B"/>
                </a:solidFill>
                <a:latin typeface="Calibri" pitchFamily="34" charset="0"/>
                <a:ea typeface="Calibri" pitchFamily="34" charset="-122"/>
                <a:cs typeface="Calibri" pitchFamily="34" charset="-120"/>
              </a:rPr>
              <a:t>Executive summary</a:t>
            </a:r>
            <a:endParaRPr lang="en-US" sz="1450" dirty="0"/>
          </a:p>
        </p:txBody>
      </p:sp>
      <p:sp>
        <p:nvSpPr>
          <p:cNvPr id="7" name="Shape 5"/>
          <p:cNvSpPr/>
          <p:nvPr/>
        </p:nvSpPr>
        <p:spPr>
          <a:xfrm>
            <a:off x="548640" y="2569464"/>
            <a:ext cx="438912" cy="438912"/>
          </a:xfrm>
          <a:prstGeom prst="ellipse">
            <a:avLst/>
          </a:prstGeom>
          <a:solidFill>
            <a:srgbClr val="1F7A7A"/>
          </a:solidFill>
          <a:ln w="12700">
            <a:solidFill>
              <a:srgbClr val="1F7A7A"/>
            </a:solidFill>
            <a:prstDash val="solid"/>
          </a:ln>
        </p:spPr>
      </p:sp>
      <p:sp>
        <p:nvSpPr>
          <p:cNvPr id="8" name="Text 6"/>
          <p:cNvSpPr txBox="1"/>
          <p:nvPr/>
        </p:nvSpPr>
        <p:spPr>
          <a:xfrm>
            <a:off x="548640" y="2569464"/>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143000" y="2496312"/>
            <a:ext cx="3017520" cy="585216"/>
          </a:xfrm>
          <a:prstGeom prst="rect">
            <a:avLst/>
          </a:prstGeom>
          <a:noFill/>
          <a:ln/>
        </p:spPr>
        <p:txBody>
          <a:bodyPr wrap="square" lIns="0" tIns="0" rIns="0" bIns="0" rtlCol="0" anchor="ctr"/>
          <a:lstStyle/>
          <a:p>
            <a:pPr indent="0" marL="0">
              <a:buNone/>
            </a:pPr>
            <a:r>
              <a:rPr lang="en-US" sz="1450" dirty="0">
                <a:solidFill>
                  <a:srgbClr val="12343B"/>
                </a:solidFill>
                <a:latin typeface="Calibri" pitchFamily="34" charset="0"/>
                <a:ea typeface="Calibri" pitchFamily="34" charset="-122"/>
                <a:cs typeface="Calibri" pitchFamily="34" charset="-120"/>
              </a:rPr>
              <a:t>Introduction and scope</a:t>
            </a:r>
            <a:endParaRPr lang="en-US" sz="1450" dirty="0"/>
          </a:p>
        </p:txBody>
      </p:sp>
      <p:sp>
        <p:nvSpPr>
          <p:cNvPr id="10" name="Shape 8"/>
          <p:cNvSpPr/>
          <p:nvPr/>
        </p:nvSpPr>
        <p:spPr>
          <a:xfrm>
            <a:off x="548640" y="3282696"/>
            <a:ext cx="438912" cy="438912"/>
          </a:xfrm>
          <a:prstGeom prst="ellipse">
            <a:avLst/>
          </a:prstGeom>
          <a:solidFill>
            <a:srgbClr val="1F7A7A"/>
          </a:solidFill>
          <a:ln w="12700">
            <a:solidFill>
              <a:srgbClr val="1F7A7A"/>
            </a:solidFill>
            <a:prstDash val="solid"/>
          </a:ln>
        </p:spPr>
      </p:sp>
      <p:sp>
        <p:nvSpPr>
          <p:cNvPr id="11" name="Text 9"/>
          <p:cNvSpPr txBox="1"/>
          <p:nvPr/>
        </p:nvSpPr>
        <p:spPr>
          <a:xfrm>
            <a:off x="548640" y="3282696"/>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143000" y="3209544"/>
            <a:ext cx="3017520" cy="585216"/>
          </a:xfrm>
          <a:prstGeom prst="rect">
            <a:avLst/>
          </a:prstGeom>
          <a:noFill/>
          <a:ln/>
        </p:spPr>
        <p:txBody>
          <a:bodyPr wrap="square" lIns="0" tIns="0" rIns="0" bIns="0" rtlCol="0" anchor="ctr"/>
          <a:lstStyle/>
          <a:p>
            <a:pPr indent="0" marL="0">
              <a:buNone/>
            </a:pPr>
            <a:r>
              <a:rPr lang="en-US" sz="1450" dirty="0">
                <a:solidFill>
                  <a:srgbClr val="12343B"/>
                </a:solidFill>
                <a:latin typeface="Calibri" pitchFamily="34" charset="0"/>
                <a:ea typeface="Calibri" pitchFamily="34" charset="-122"/>
                <a:cs typeface="Calibri" pitchFamily="34" charset="-120"/>
              </a:rPr>
              <a:t>Economic overview</a:t>
            </a:r>
            <a:endParaRPr lang="en-US" sz="1450" dirty="0"/>
          </a:p>
        </p:txBody>
      </p:sp>
      <p:sp>
        <p:nvSpPr>
          <p:cNvPr id="13" name="Shape 11"/>
          <p:cNvSpPr/>
          <p:nvPr/>
        </p:nvSpPr>
        <p:spPr>
          <a:xfrm>
            <a:off x="548640" y="3995928"/>
            <a:ext cx="438912" cy="438912"/>
          </a:xfrm>
          <a:prstGeom prst="ellipse">
            <a:avLst/>
          </a:prstGeom>
          <a:solidFill>
            <a:srgbClr val="1F7A7A"/>
          </a:solidFill>
          <a:ln w="12700">
            <a:solidFill>
              <a:srgbClr val="1F7A7A"/>
            </a:solidFill>
            <a:prstDash val="solid"/>
          </a:ln>
        </p:spPr>
      </p:sp>
      <p:sp>
        <p:nvSpPr>
          <p:cNvPr id="14" name="Text 12"/>
          <p:cNvSpPr txBox="1"/>
          <p:nvPr/>
        </p:nvSpPr>
        <p:spPr>
          <a:xfrm>
            <a:off x="548640" y="3995928"/>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143000" y="3922776"/>
            <a:ext cx="3017520" cy="585216"/>
          </a:xfrm>
          <a:prstGeom prst="rect">
            <a:avLst/>
          </a:prstGeom>
          <a:noFill/>
          <a:ln/>
        </p:spPr>
        <p:txBody>
          <a:bodyPr wrap="square" lIns="0" tIns="0" rIns="0" bIns="0" rtlCol="0" anchor="ctr"/>
          <a:lstStyle/>
          <a:p>
            <a:pPr indent="0" marL="0">
              <a:buNone/>
            </a:pPr>
            <a:r>
              <a:rPr lang="en-US" sz="1450" dirty="0">
                <a:solidFill>
                  <a:srgbClr val="12343B"/>
                </a:solidFill>
                <a:latin typeface="Calibri" pitchFamily="34" charset="0"/>
                <a:ea typeface="Calibri" pitchFamily="34" charset="-122"/>
                <a:cs typeface="Calibri" pitchFamily="34" charset="-120"/>
              </a:rPr>
              <a:t>Growth outlook (GDP)</a:t>
            </a:r>
            <a:endParaRPr lang="en-US" sz="1450" dirty="0"/>
          </a:p>
        </p:txBody>
      </p:sp>
      <p:sp>
        <p:nvSpPr>
          <p:cNvPr id="16" name="Shape 14"/>
          <p:cNvSpPr/>
          <p:nvPr/>
        </p:nvSpPr>
        <p:spPr>
          <a:xfrm>
            <a:off x="548640" y="4709160"/>
            <a:ext cx="438912" cy="438912"/>
          </a:xfrm>
          <a:prstGeom prst="ellipse">
            <a:avLst/>
          </a:prstGeom>
          <a:solidFill>
            <a:srgbClr val="1F7A7A"/>
          </a:solidFill>
          <a:ln w="12700">
            <a:solidFill>
              <a:srgbClr val="1F7A7A"/>
            </a:solidFill>
            <a:prstDash val="solid"/>
          </a:ln>
        </p:spPr>
      </p:sp>
      <p:sp>
        <p:nvSpPr>
          <p:cNvPr id="17" name="Text 15"/>
          <p:cNvSpPr txBox="1"/>
          <p:nvPr/>
        </p:nvSpPr>
        <p:spPr>
          <a:xfrm>
            <a:off x="548640" y="4709160"/>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143000" y="4636008"/>
            <a:ext cx="3017520" cy="585216"/>
          </a:xfrm>
          <a:prstGeom prst="rect">
            <a:avLst/>
          </a:prstGeom>
          <a:noFill/>
          <a:ln/>
        </p:spPr>
        <p:txBody>
          <a:bodyPr wrap="square" lIns="0" tIns="0" rIns="0" bIns="0" rtlCol="0" anchor="ctr"/>
          <a:lstStyle/>
          <a:p>
            <a:pPr indent="0" marL="0">
              <a:buNone/>
            </a:pPr>
            <a:r>
              <a:rPr lang="en-US" sz="1450" dirty="0">
                <a:solidFill>
                  <a:srgbClr val="12343B"/>
                </a:solidFill>
                <a:latin typeface="Calibri" pitchFamily="34" charset="0"/>
                <a:ea typeface="Calibri" pitchFamily="34" charset="-122"/>
                <a:cs typeface="Calibri" pitchFamily="34" charset="-120"/>
              </a:rPr>
              <a:t>Inflation</a:t>
            </a:r>
            <a:endParaRPr lang="en-US" sz="1450" dirty="0"/>
          </a:p>
        </p:txBody>
      </p:sp>
      <p:sp>
        <p:nvSpPr>
          <p:cNvPr id="19" name="Shape 17"/>
          <p:cNvSpPr/>
          <p:nvPr/>
        </p:nvSpPr>
        <p:spPr>
          <a:xfrm>
            <a:off x="548640" y="5422392"/>
            <a:ext cx="438912" cy="438912"/>
          </a:xfrm>
          <a:prstGeom prst="ellipse">
            <a:avLst/>
          </a:prstGeom>
          <a:solidFill>
            <a:srgbClr val="1F7A7A"/>
          </a:solidFill>
          <a:ln w="12700">
            <a:solidFill>
              <a:srgbClr val="1F7A7A"/>
            </a:solidFill>
            <a:prstDash val="solid"/>
          </a:ln>
        </p:spPr>
      </p:sp>
      <p:sp>
        <p:nvSpPr>
          <p:cNvPr id="20" name="Text 18"/>
          <p:cNvSpPr txBox="1"/>
          <p:nvPr/>
        </p:nvSpPr>
        <p:spPr>
          <a:xfrm>
            <a:off x="548640" y="5422392"/>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1" name="Text 19"/>
          <p:cNvSpPr txBox="1"/>
          <p:nvPr/>
        </p:nvSpPr>
        <p:spPr>
          <a:xfrm>
            <a:off x="1143000" y="5349240"/>
            <a:ext cx="3017520" cy="585216"/>
          </a:xfrm>
          <a:prstGeom prst="rect">
            <a:avLst/>
          </a:prstGeom>
          <a:noFill/>
          <a:ln/>
        </p:spPr>
        <p:txBody>
          <a:bodyPr wrap="square" lIns="0" tIns="0" rIns="0" bIns="0" rtlCol="0" anchor="ctr"/>
          <a:lstStyle/>
          <a:p>
            <a:pPr indent="0" marL="0">
              <a:buNone/>
            </a:pPr>
            <a:r>
              <a:rPr lang="en-US" sz="1450" dirty="0">
                <a:solidFill>
                  <a:srgbClr val="12343B"/>
                </a:solidFill>
                <a:latin typeface="Calibri" pitchFamily="34" charset="0"/>
                <a:ea typeface="Calibri" pitchFamily="34" charset="-122"/>
                <a:cs typeface="Calibri" pitchFamily="34" charset="-120"/>
              </a:rPr>
              <a:t>Monetary policy and interest rates</a:t>
            </a:r>
            <a:endParaRPr lang="en-US" sz="1450" dirty="0"/>
          </a:p>
        </p:txBody>
      </p:sp>
      <p:sp>
        <p:nvSpPr>
          <p:cNvPr id="22" name="Shape 20"/>
          <p:cNvSpPr/>
          <p:nvPr/>
        </p:nvSpPr>
        <p:spPr>
          <a:xfrm>
            <a:off x="4297680" y="1856232"/>
            <a:ext cx="438912" cy="438912"/>
          </a:xfrm>
          <a:prstGeom prst="ellipse">
            <a:avLst/>
          </a:prstGeom>
          <a:solidFill>
            <a:srgbClr val="1F7A7A"/>
          </a:solidFill>
          <a:ln w="12700">
            <a:solidFill>
              <a:srgbClr val="1F7A7A"/>
            </a:solidFill>
            <a:prstDash val="solid"/>
          </a:ln>
        </p:spPr>
      </p:sp>
      <p:sp>
        <p:nvSpPr>
          <p:cNvPr id="23" name="Text 21"/>
          <p:cNvSpPr txBox="1"/>
          <p:nvPr/>
        </p:nvSpPr>
        <p:spPr>
          <a:xfrm>
            <a:off x="4297680" y="1856232"/>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4" name="Text 22"/>
          <p:cNvSpPr txBox="1"/>
          <p:nvPr/>
        </p:nvSpPr>
        <p:spPr>
          <a:xfrm>
            <a:off x="4892040" y="1783080"/>
            <a:ext cx="3017520" cy="585216"/>
          </a:xfrm>
          <a:prstGeom prst="rect">
            <a:avLst/>
          </a:prstGeom>
          <a:noFill/>
          <a:ln/>
        </p:spPr>
        <p:txBody>
          <a:bodyPr wrap="square" lIns="0" tIns="0" rIns="0" bIns="0" rtlCol="0" anchor="ctr"/>
          <a:lstStyle/>
          <a:p>
            <a:pPr indent="0" marL="0">
              <a:buNone/>
            </a:pPr>
            <a:r>
              <a:rPr lang="en-US" sz="1450" dirty="0">
                <a:solidFill>
                  <a:srgbClr val="12343B"/>
                </a:solidFill>
                <a:latin typeface="Calibri" pitchFamily="34" charset="0"/>
                <a:ea typeface="Calibri" pitchFamily="34" charset="-122"/>
                <a:cs typeface="Calibri" pitchFamily="34" charset="-120"/>
              </a:rPr>
              <a:t>Government finances</a:t>
            </a:r>
            <a:endParaRPr lang="en-US" sz="1450" dirty="0"/>
          </a:p>
        </p:txBody>
      </p:sp>
      <p:sp>
        <p:nvSpPr>
          <p:cNvPr id="25" name="Shape 23"/>
          <p:cNvSpPr/>
          <p:nvPr/>
        </p:nvSpPr>
        <p:spPr>
          <a:xfrm>
            <a:off x="4297680" y="2569464"/>
            <a:ext cx="438912" cy="438912"/>
          </a:xfrm>
          <a:prstGeom prst="ellipse">
            <a:avLst/>
          </a:prstGeom>
          <a:solidFill>
            <a:srgbClr val="1F7A7A"/>
          </a:solidFill>
          <a:ln w="12700">
            <a:solidFill>
              <a:srgbClr val="1F7A7A"/>
            </a:solidFill>
            <a:prstDash val="solid"/>
          </a:ln>
        </p:spPr>
      </p:sp>
      <p:sp>
        <p:nvSpPr>
          <p:cNvPr id="26" name="Text 24"/>
          <p:cNvSpPr txBox="1"/>
          <p:nvPr/>
        </p:nvSpPr>
        <p:spPr>
          <a:xfrm>
            <a:off x="4297680" y="2569464"/>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7" name="Text 25"/>
          <p:cNvSpPr txBox="1"/>
          <p:nvPr/>
        </p:nvSpPr>
        <p:spPr>
          <a:xfrm>
            <a:off x="4892040" y="2496312"/>
            <a:ext cx="3017520" cy="585216"/>
          </a:xfrm>
          <a:prstGeom prst="rect">
            <a:avLst/>
          </a:prstGeom>
          <a:noFill/>
          <a:ln/>
        </p:spPr>
        <p:txBody>
          <a:bodyPr wrap="square" lIns="0" tIns="0" rIns="0" bIns="0" rtlCol="0" anchor="ctr"/>
          <a:lstStyle/>
          <a:p>
            <a:pPr indent="0" marL="0">
              <a:buNone/>
            </a:pPr>
            <a:r>
              <a:rPr lang="en-US" sz="1450" dirty="0">
                <a:solidFill>
                  <a:srgbClr val="12343B"/>
                </a:solidFill>
                <a:latin typeface="Calibri" pitchFamily="34" charset="0"/>
                <a:ea typeface="Calibri" pitchFamily="34" charset="-122"/>
                <a:cs typeface="Calibri" pitchFamily="34" charset="-120"/>
              </a:rPr>
              <a:t>External sector and exchange rate</a:t>
            </a:r>
            <a:endParaRPr lang="en-US" sz="1450" dirty="0"/>
          </a:p>
        </p:txBody>
      </p:sp>
      <p:sp>
        <p:nvSpPr>
          <p:cNvPr id="28" name="Shape 26"/>
          <p:cNvSpPr/>
          <p:nvPr/>
        </p:nvSpPr>
        <p:spPr>
          <a:xfrm>
            <a:off x="4297680" y="3282696"/>
            <a:ext cx="438912" cy="438912"/>
          </a:xfrm>
          <a:prstGeom prst="ellipse">
            <a:avLst/>
          </a:prstGeom>
          <a:solidFill>
            <a:srgbClr val="1F7A7A"/>
          </a:solidFill>
          <a:ln w="12700">
            <a:solidFill>
              <a:srgbClr val="1F7A7A"/>
            </a:solidFill>
            <a:prstDash val="solid"/>
          </a:ln>
        </p:spPr>
      </p:sp>
      <p:sp>
        <p:nvSpPr>
          <p:cNvPr id="29" name="Text 27"/>
          <p:cNvSpPr txBox="1"/>
          <p:nvPr/>
        </p:nvSpPr>
        <p:spPr>
          <a:xfrm>
            <a:off x="4297680" y="3282696"/>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0" name="Text 28"/>
          <p:cNvSpPr txBox="1"/>
          <p:nvPr/>
        </p:nvSpPr>
        <p:spPr>
          <a:xfrm>
            <a:off x="4892040" y="3209544"/>
            <a:ext cx="3017520" cy="585216"/>
          </a:xfrm>
          <a:prstGeom prst="rect">
            <a:avLst/>
          </a:prstGeom>
          <a:noFill/>
          <a:ln/>
        </p:spPr>
        <p:txBody>
          <a:bodyPr wrap="square" lIns="0" tIns="0" rIns="0" bIns="0" rtlCol="0" anchor="ctr"/>
          <a:lstStyle/>
          <a:p>
            <a:pPr indent="0" marL="0">
              <a:buNone/>
            </a:pPr>
            <a:r>
              <a:rPr lang="en-US" sz="1450" dirty="0">
                <a:solidFill>
                  <a:srgbClr val="12343B"/>
                </a:solidFill>
                <a:latin typeface="Calibri" pitchFamily="34" charset="0"/>
                <a:ea typeface="Calibri" pitchFamily="34" charset="-122"/>
                <a:cs typeface="Calibri" pitchFamily="34" charset="-120"/>
              </a:rPr>
              <a:t>Impact on the client's sector</a:t>
            </a:r>
            <a:endParaRPr lang="en-US" sz="1450" dirty="0"/>
          </a:p>
        </p:txBody>
      </p:sp>
      <p:sp>
        <p:nvSpPr>
          <p:cNvPr id="31" name="Shape 29"/>
          <p:cNvSpPr/>
          <p:nvPr/>
        </p:nvSpPr>
        <p:spPr>
          <a:xfrm>
            <a:off x="4297680" y="3995928"/>
            <a:ext cx="438912" cy="438912"/>
          </a:xfrm>
          <a:prstGeom prst="ellipse">
            <a:avLst/>
          </a:prstGeom>
          <a:solidFill>
            <a:srgbClr val="1F7A7A"/>
          </a:solidFill>
          <a:ln w="12700">
            <a:solidFill>
              <a:srgbClr val="1F7A7A"/>
            </a:solidFill>
            <a:prstDash val="solid"/>
          </a:ln>
        </p:spPr>
      </p:sp>
      <p:sp>
        <p:nvSpPr>
          <p:cNvPr id="32" name="Text 30"/>
          <p:cNvSpPr txBox="1"/>
          <p:nvPr/>
        </p:nvSpPr>
        <p:spPr>
          <a:xfrm>
            <a:off x="4297680" y="3995928"/>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3" name="Text 31"/>
          <p:cNvSpPr txBox="1"/>
          <p:nvPr/>
        </p:nvSpPr>
        <p:spPr>
          <a:xfrm>
            <a:off x="4892040" y="3922776"/>
            <a:ext cx="3017520" cy="585216"/>
          </a:xfrm>
          <a:prstGeom prst="rect">
            <a:avLst/>
          </a:prstGeom>
          <a:noFill/>
          <a:ln/>
        </p:spPr>
        <p:txBody>
          <a:bodyPr wrap="square" lIns="0" tIns="0" rIns="0" bIns="0" rtlCol="0" anchor="ctr"/>
          <a:lstStyle/>
          <a:p>
            <a:pPr indent="0" marL="0">
              <a:buNone/>
            </a:pPr>
            <a:r>
              <a:rPr lang="en-US" sz="1450" dirty="0">
                <a:solidFill>
                  <a:srgbClr val="12343B"/>
                </a:solidFill>
                <a:latin typeface="Calibri" pitchFamily="34" charset="0"/>
                <a:ea typeface="Calibri" pitchFamily="34" charset="-122"/>
                <a:cs typeface="Calibri" pitchFamily="34" charset="-120"/>
              </a:rPr>
              <a:t>Scenarios: base, upside, downside</a:t>
            </a:r>
            <a:endParaRPr lang="en-US" sz="1450" dirty="0"/>
          </a:p>
        </p:txBody>
      </p:sp>
      <p:sp>
        <p:nvSpPr>
          <p:cNvPr id="34" name="Shape 32"/>
          <p:cNvSpPr/>
          <p:nvPr/>
        </p:nvSpPr>
        <p:spPr>
          <a:xfrm>
            <a:off x="4297680" y="4709160"/>
            <a:ext cx="438912" cy="438912"/>
          </a:xfrm>
          <a:prstGeom prst="ellipse">
            <a:avLst/>
          </a:prstGeom>
          <a:solidFill>
            <a:srgbClr val="1F7A7A"/>
          </a:solidFill>
          <a:ln w="12700">
            <a:solidFill>
              <a:srgbClr val="1F7A7A"/>
            </a:solidFill>
            <a:prstDash val="solid"/>
          </a:ln>
        </p:spPr>
      </p:sp>
      <p:sp>
        <p:nvSpPr>
          <p:cNvPr id="35" name="Text 33"/>
          <p:cNvSpPr txBox="1"/>
          <p:nvPr/>
        </p:nvSpPr>
        <p:spPr>
          <a:xfrm>
            <a:off x="4297680" y="4709160"/>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36" name="Text 34"/>
          <p:cNvSpPr txBox="1"/>
          <p:nvPr/>
        </p:nvSpPr>
        <p:spPr>
          <a:xfrm>
            <a:off x="4892040" y="4636008"/>
            <a:ext cx="3017520" cy="585216"/>
          </a:xfrm>
          <a:prstGeom prst="rect">
            <a:avLst/>
          </a:prstGeom>
          <a:noFill/>
          <a:ln/>
        </p:spPr>
        <p:txBody>
          <a:bodyPr wrap="square" lIns="0" tIns="0" rIns="0" bIns="0" rtlCol="0" anchor="ctr"/>
          <a:lstStyle/>
          <a:p>
            <a:pPr indent="0" marL="0">
              <a:buNone/>
            </a:pPr>
            <a:r>
              <a:rPr lang="en-US" sz="1450" dirty="0">
                <a:solidFill>
                  <a:srgbClr val="12343B"/>
                </a:solidFill>
                <a:latin typeface="Calibri" pitchFamily="34" charset="0"/>
                <a:ea typeface="Calibri" pitchFamily="34" charset="-122"/>
                <a:cs typeface="Calibri" pitchFamily="34" charset="-120"/>
              </a:rPr>
              <a:t>Conclusions and implications</a:t>
            </a:r>
            <a:endParaRPr lang="en-US" sz="1450" dirty="0"/>
          </a:p>
        </p:txBody>
      </p:sp>
      <p:sp>
        <p:nvSpPr>
          <p:cNvPr id="37" name="Shape 35"/>
          <p:cNvSpPr/>
          <p:nvPr/>
        </p:nvSpPr>
        <p:spPr>
          <a:xfrm>
            <a:off x="4297680" y="5422392"/>
            <a:ext cx="438912" cy="438912"/>
          </a:xfrm>
          <a:prstGeom prst="ellipse">
            <a:avLst/>
          </a:prstGeom>
          <a:solidFill>
            <a:srgbClr val="B8862B"/>
          </a:solidFill>
          <a:ln w="12700">
            <a:solidFill>
              <a:srgbClr val="B8862B"/>
            </a:solidFill>
            <a:prstDash val="solid"/>
          </a:ln>
        </p:spPr>
      </p:sp>
      <p:sp>
        <p:nvSpPr>
          <p:cNvPr id="38" name="Text 36"/>
          <p:cNvSpPr txBox="1"/>
          <p:nvPr/>
        </p:nvSpPr>
        <p:spPr>
          <a:xfrm>
            <a:off x="4297680" y="5422392"/>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39" name="Text 37"/>
          <p:cNvSpPr txBox="1"/>
          <p:nvPr/>
        </p:nvSpPr>
        <p:spPr>
          <a:xfrm>
            <a:off x="4892040" y="5349240"/>
            <a:ext cx="3017520" cy="585216"/>
          </a:xfrm>
          <a:prstGeom prst="rect">
            <a:avLst/>
          </a:prstGeom>
          <a:noFill/>
          <a:ln/>
        </p:spPr>
        <p:txBody>
          <a:bodyPr wrap="square" lIns="0" tIns="0" rIns="0" bIns="0" rtlCol="0" anchor="ctr"/>
          <a:lstStyle/>
          <a:p>
            <a:pPr indent="0" marL="0">
              <a:buNone/>
            </a:pPr>
            <a:r>
              <a:rPr lang="en-US" sz="1450" dirty="0">
                <a:solidFill>
                  <a:srgbClr val="12343B"/>
                </a:solidFill>
                <a:latin typeface="Calibri" pitchFamily="34" charset="0"/>
                <a:ea typeface="Calibri" pitchFamily="34" charset="-122"/>
                <a:cs typeface="Calibri" pitchFamily="34" charset="-120"/>
              </a:rPr>
              <a:t>Appendices: data, sources, method</a:t>
            </a:r>
            <a:endParaRPr lang="en-US" sz="1450" dirty="0"/>
          </a:p>
        </p:txBody>
      </p:sp>
      <p:sp>
        <p:nvSpPr>
          <p:cNvPr id="40" name="Shape 38"/>
          <p:cNvSpPr/>
          <p:nvPr/>
        </p:nvSpPr>
        <p:spPr>
          <a:xfrm>
            <a:off x="8229600" y="1783080"/>
            <a:ext cx="3413455" cy="4160520"/>
          </a:xfrm>
          <a:prstGeom prst="roundRect">
            <a:avLst>
              <a:gd name="adj" fmla="val 2143"/>
            </a:avLst>
          </a:prstGeom>
          <a:solidFill>
            <a:srgbClr val="12343B"/>
          </a:solidFill>
          <a:ln w="12700">
            <a:solidFill>
              <a:srgbClr val="12343B"/>
            </a:solidFill>
            <a:prstDash val="solid"/>
          </a:ln>
        </p:spPr>
      </p:sp>
      <p:sp>
        <p:nvSpPr>
          <p:cNvPr id="41" name="Text 39"/>
          <p:cNvSpPr txBox="1"/>
          <p:nvPr/>
        </p:nvSpPr>
        <p:spPr>
          <a:xfrm>
            <a:off x="8503920" y="1965960"/>
            <a:ext cx="2864815" cy="411480"/>
          </a:xfrm>
          <a:prstGeom prst="rect">
            <a:avLst/>
          </a:prstGeom>
          <a:noFill/>
          <a:ln/>
        </p:spPr>
        <p:txBody>
          <a:bodyPr wrap="square" lIns="0" tIns="0" rIns="0" bIns="0" rtlCol="0" anchor="t"/>
          <a:lstStyle/>
          <a:p>
            <a:pPr indent="0" marL="0">
              <a:buNone/>
            </a:pPr>
            <a:r>
              <a:rPr lang="en-US" sz="1700" b="1" dirty="0">
                <a:solidFill>
                  <a:srgbClr val="E2B863"/>
                </a:solidFill>
                <a:latin typeface="Calibri" pitchFamily="34" charset="0"/>
                <a:ea typeface="Calibri" pitchFamily="34" charset="-122"/>
                <a:cs typeface="Calibri" pitchFamily="34" charset="-120"/>
              </a:rPr>
              <a:t>What the reader gets</a:t>
            </a:r>
            <a:endParaRPr lang="en-US" sz="1700" dirty="0"/>
          </a:p>
        </p:txBody>
      </p:sp>
      <p:pic>
        <p:nvPicPr>
          <p:cNvPr id="42" name="Image 0" descr="preencoded.png">    </p:cNvPr>
          <p:cNvPicPr>
            <a:picLocks noChangeAspect="1"/>
          </p:cNvPicPr>
          <p:nvPr/>
        </p:nvPicPr>
        <p:blipFill>
          <a:blip r:embed="rId1"/>
          <a:stretch>
            <a:fillRect/>
          </a:stretch>
        </p:blipFill>
        <p:spPr>
          <a:xfrm>
            <a:off x="8503920" y="2651760"/>
            <a:ext cx="219456" cy="219456"/>
          </a:xfrm>
          <a:prstGeom prst="rect">
            <a:avLst/>
          </a:prstGeom>
        </p:spPr>
      </p:pic>
      <p:sp>
        <p:nvSpPr>
          <p:cNvPr id="43" name="Text 40"/>
          <p:cNvSpPr txBox="1"/>
          <p:nvPr/>
        </p:nvSpPr>
        <p:spPr>
          <a:xfrm>
            <a:off x="8851392" y="2606040"/>
            <a:ext cx="2544775" cy="73152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One sourced view of the economy the client operates in</a:t>
            </a:r>
            <a:endParaRPr lang="en-US" sz="1350" dirty="0"/>
          </a:p>
        </p:txBody>
      </p:sp>
      <p:pic>
        <p:nvPicPr>
          <p:cNvPr id="44" name="Image 1" descr="preencoded.png">    </p:cNvPr>
          <p:cNvPicPr>
            <a:picLocks noChangeAspect="1"/>
          </p:cNvPicPr>
          <p:nvPr/>
        </p:nvPicPr>
        <p:blipFill>
          <a:blip r:embed="rId2"/>
          <a:stretch>
            <a:fillRect/>
          </a:stretch>
        </p:blipFill>
        <p:spPr>
          <a:xfrm>
            <a:off x="8503920" y="3474720"/>
            <a:ext cx="219456" cy="219456"/>
          </a:xfrm>
          <a:prstGeom prst="rect">
            <a:avLst/>
          </a:prstGeom>
        </p:spPr>
      </p:pic>
      <p:sp>
        <p:nvSpPr>
          <p:cNvPr id="45" name="Text 41"/>
          <p:cNvSpPr txBox="1"/>
          <p:nvPr/>
        </p:nvSpPr>
        <p:spPr>
          <a:xfrm>
            <a:off x="8851392" y="3429000"/>
            <a:ext cx="2544775" cy="73152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Every figure labelled actual or forecast</a:t>
            </a:r>
            <a:endParaRPr lang="en-US" sz="1350" dirty="0"/>
          </a:p>
        </p:txBody>
      </p:sp>
      <p:pic>
        <p:nvPicPr>
          <p:cNvPr id="46" name="Image 2" descr="preencoded.png">    </p:cNvPr>
          <p:cNvPicPr>
            <a:picLocks noChangeAspect="1"/>
          </p:cNvPicPr>
          <p:nvPr/>
        </p:nvPicPr>
        <p:blipFill>
          <a:blip r:embed="rId3"/>
          <a:stretch>
            <a:fillRect/>
          </a:stretch>
        </p:blipFill>
        <p:spPr>
          <a:xfrm>
            <a:off x="8503920" y="4297680"/>
            <a:ext cx="219456" cy="219456"/>
          </a:xfrm>
          <a:prstGeom prst="rect">
            <a:avLst/>
          </a:prstGeom>
        </p:spPr>
      </p:pic>
      <p:sp>
        <p:nvSpPr>
          <p:cNvPr id="47" name="Text 42"/>
          <p:cNvSpPr txBox="1"/>
          <p:nvPr/>
        </p:nvSpPr>
        <p:spPr>
          <a:xfrm>
            <a:off x="8851392" y="4251960"/>
            <a:ext cx="2544775" cy="73152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Clear link from each macro variable to demand, costs and margins</a:t>
            </a:r>
            <a:endParaRPr lang="en-US" sz="1350" dirty="0"/>
          </a:p>
        </p:txBody>
      </p:sp>
      <p:pic>
        <p:nvPicPr>
          <p:cNvPr id="48" name="Image 3" descr="preencoded.png">    </p:cNvPr>
          <p:cNvPicPr>
            <a:picLocks noChangeAspect="1"/>
          </p:cNvPicPr>
          <p:nvPr/>
        </p:nvPicPr>
        <p:blipFill>
          <a:blip r:embed="rId4"/>
          <a:stretch>
            <a:fillRect/>
          </a:stretch>
        </p:blipFill>
        <p:spPr>
          <a:xfrm>
            <a:off x="8503920" y="5120640"/>
            <a:ext cx="219456" cy="219456"/>
          </a:xfrm>
          <a:prstGeom prst="rect">
            <a:avLst/>
          </a:prstGeom>
        </p:spPr>
      </p:pic>
      <p:sp>
        <p:nvSpPr>
          <p:cNvPr id="49" name="Text 43"/>
          <p:cNvSpPr txBox="1"/>
          <p:nvPr/>
        </p:nvSpPr>
        <p:spPr>
          <a:xfrm>
            <a:off x="8851392" y="5074920"/>
            <a:ext cx="2544775" cy="73152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A source list that lets anyone check every number</a:t>
            </a:r>
            <a:endParaRPr lang="en-US" sz="1350" dirty="0"/>
          </a:p>
        </p:txBody>
      </p:sp>
      <p:sp>
        <p:nvSpPr>
          <p:cNvPr id="50" name="Text 44"/>
          <p:cNvSpPr txBox="1"/>
          <p:nvPr/>
        </p:nvSpPr>
        <p:spPr>
          <a:xfrm>
            <a:off x="548640" y="6473952"/>
            <a:ext cx="6400800" cy="228600"/>
          </a:xfrm>
          <a:prstGeom prst="rect">
            <a:avLst/>
          </a:prstGeom>
          <a:noFill/>
          <a:ln/>
        </p:spPr>
        <p:txBody>
          <a:bodyPr wrap="square" lIns="0" tIns="0" rIns="0" bIns="0" rtlCol="0" anchor="t"/>
          <a:lstStyle/>
          <a:p>
            <a:pPr indent="0" marL="0">
              <a:buNone/>
            </a:pPr>
            <a:r>
              <a:rPr lang="en-US" sz="900" dirty="0">
                <a:solidFill>
                  <a:srgbClr val="95A1A8"/>
                </a:solidFill>
                <a:latin typeface="Calibri" pitchFamily="34" charset="0"/>
                <a:ea typeface="Calibri" pitchFamily="34" charset="-122"/>
                <a:cs typeface="Calibri" pitchFamily="34" charset="-120"/>
              </a:rPr>
              <a:t>Macroenvironment Agent · Business Requirements · Board review</a:t>
            </a:r>
            <a:endParaRPr lang="en-US" sz="900" dirty="0"/>
          </a:p>
        </p:txBody>
      </p:sp>
      <p:sp>
        <p:nvSpPr>
          <p:cNvPr id="51" name="Text 45"/>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95A1A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84048"/>
            <a:ext cx="11094415" cy="685800"/>
          </a:xfrm>
          <a:prstGeom prst="rect">
            <a:avLst/>
          </a:prstGeom>
          <a:noFill/>
          <a:ln/>
        </p:spPr>
        <p:txBody>
          <a:bodyPr wrap="square" lIns="0" tIns="0" rIns="0" bIns="0" rtlCol="0" anchor="ctr"/>
          <a:lstStyle/>
          <a:p>
            <a:pPr indent="0" marL="0">
              <a:buNone/>
            </a:pPr>
            <a:r>
              <a:rPr lang="en-US" sz="3000" b="1" dirty="0">
                <a:solidFill>
                  <a:srgbClr val="12343B"/>
                </a:solidFill>
                <a:latin typeface="Cambria" pitchFamily="34" charset="0"/>
                <a:ea typeface="Cambria" pitchFamily="34" charset="-122"/>
                <a:cs typeface="Cambria" pitchFamily="34" charset="-120"/>
              </a:rPr>
              <a:t>Deliverable 2: Risk &amp; Opportunities Matrix</a:t>
            </a:r>
            <a:endParaRPr lang="en-US" sz="3000" dirty="0"/>
          </a:p>
        </p:txBody>
      </p:sp>
      <p:sp>
        <p:nvSpPr>
          <p:cNvPr id="3" name="Text 1"/>
          <p:cNvSpPr txBox="1"/>
          <p:nvPr/>
        </p:nvSpPr>
        <p:spPr>
          <a:xfrm>
            <a:off x="548640" y="1069848"/>
            <a:ext cx="11094415" cy="411480"/>
          </a:xfrm>
          <a:prstGeom prst="rect">
            <a:avLst/>
          </a:prstGeom>
          <a:noFill/>
          <a:ln/>
        </p:spPr>
        <p:txBody>
          <a:bodyPr wrap="square" lIns="0" tIns="0" rIns="0" bIns="0" rtlCol="0" anchor="t"/>
          <a:lstStyle/>
          <a:p>
            <a:pPr indent="0" marL="0">
              <a:buNone/>
            </a:pPr>
            <a:r>
              <a:rPr lang="en-US" sz="1500" dirty="0">
                <a:solidFill>
                  <a:srgbClr val="5B6770"/>
                </a:solidFill>
                <a:latin typeface="Calibri" pitchFamily="34" charset="0"/>
                <a:ea typeface="Calibri" pitchFamily="34" charset="-122"/>
                <a:cs typeface="Calibri" pitchFamily="34" charset="-120"/>
              </a:rPr>
              <a:t>Built on the logic of the IMF Risk Assessment Matrix</a:t>
            </a:r>
            <a:endParaRPr lang="en-US" sz="1500" dirty="0"/>
          </a:p>
        </p:txBody>
      </p:sp>
      <p:sp>
        <p:nvSpPr>
          <p:cNvPr id="4" name="Shape 2"/>
          <p:cNvSpPr/>
          <p:nvPr/>
        </p:nvSpPr>
        <p:spPr>
          <a:xfrm>
            <a:off x="1600200" y="2194560"/>
            <a:ext cx="978408" cy="978408"/>
          </a:xfrm>
          <a:prstGeom prst="roundRect">
            <a:avLst>
              <a:gd name="adj" fmla="val 5607"/>
            </a:avLst>
          </a:prstGeom>
          <a:solidFill>
            <a:srgbClr val="FBEFD2"/>
          </a:solidFill>
          <a:ln w="12700">
            <a:solidFill>
              <a:srgbClr val="FBEFD2"/>
            </a:solidFill>
            <a:prstDash val="solid"/>
          </a:ln>
        </p:spPr>
      </p:sp>
      <p:sp>
        <p:nvSpPr>
          <p:cNvPr id="5" name="Shape 3"/>
          <p:cNvSpPr/>
          <p:nvPr/>
        </p:nvSpPr>
        <p:spPr>
          <a:xfrm>
            <a:off x="2651760" y="2194560"/>
            <a:ext cx="978408" cy="978408"/>
          </a:xfrm>
          <a:prstGeom prst="roundRect">
            <a:avLst>
              <a:gd name="adj" fmla="val 5607"/>
            </a:avLst>
          </a:prstGeom>
          <a:solidFill>
            <a:srgbClr val="F4C9BF"/>
          </a:solidFill>
          <a:ln w="12700">
            <a:solidFill>
              <a:srgbClr val="F4C9BF"/>
            </a:solidFill>
            <a:prstDash val="solid"/>
          </a:ln>
        </p:spPr>
      </p:sp>
      <p:sp>
        <p:nvSpPr>
          <p:cNvPr id="6" name="Shape 4"/>
          <p:cNvSpPr/>
          <p:nvPr/>
        </p:nvSpPr>
        <p:spPr>
          <a:xfrm>
            <a:off x="3703320" y="2194560"/>
            <a:ext cx="978408" cy="978408"/>
          </a:xfrm>
          <a:prstGeom prst="roundRect">
            <a:avLst>
              <a:gd name="adj" fmla="val 5607"/>
            </a:avLst>
          </a:prstGeom>
          <a:solidFill>
            <a:srgbClr val="F4C9BF"/>
          </a:solidFill>
          <a:ln w="12700">
            <a:solidFill>
              <a:srgbClr val="F4C9BF"/>
            </a:solidFill>
            <a:prstDash val="solid"/>
          </a:ln>
        </p:spPr>
      </p:sp>
      <p:sp>
        <p:nvSpPr>
          <p:cNvPr id="7" name="Shape 5"/>
          <p:cNvSpPr/>
          <p:nvPr/>
        </p:nvSpPr>
        <p:spPr>
          <a:xfrm>
            <a:off x="1600200" y="3246120"/>
            <a:ext cx="978408" cy="978408"/>
          </a:xfrm>
          <a:prstGeom prst="roundRect">
            <a:avLst>
              <a:gd name="adj" fmla="val 5607"/>
            </a:avLst>
          </a:prstGeom>
          <a:solidFill>
            <a:srgbClr val="DDEFE3"/>
          </a:solidFill>
          <a:ln w="12700">
            <a:solidFill>
              <a:srgbClr val="DDEFE3"/>
            </a:solidFill>
            <a:prstDash val="solid"/>
          </a:ln>
        </p:spPr>
      </p:sp>
      <p:sp>
        <p:nvSpPr>
          <p:cNvPr id="8" name="Shape 6"/>
          <p:cNvSpPr/>
          <p:nvPr/>
        </p:nvSpPr>
        <p:spPr>
          <a:xfrm>
            <a:off x="2651760" y="3246120"/>
            <a:ext cx="978408" cy="978408"/>
          </a:xfrm>
          <a:prstGeom prst="roundRect">
            <a:avLst>
              <a:gd name="adj" fmla="val 5607"/>
            </a:avLst>
          </a:prstGeom>
          <a:solidFill>
            <a:srgbClr val="FBEFD2"/>
          </a:solidFill>
          <a:ln w="12700">
            <a:solidFill>
              <a:srgbClr val="FBEFD2"/>
            </a:solidFill>
            <a:prstDash val="solid"/>
          </a:ln>
        </p:spPr>
      </p:sp>
      <p:sp>
        <p:nvSpPr>
          <p:cNvPr id="9" name="Shape 7"/>
          <p:cNvSpPr/>
          <p:nvPr/>
        </p:nvSpPr>
        <p:spPr>
          <a:xfrm>
            <a:off x="3703320" y="3246120"/>
            <a:ext cx="978408" cy="978408"/>
          </a:xfrm>
          <a:prstGeom prst="roundRect">
            <a:avLst>
              <a:gd name="adj" fmla="val 5607"/>
            </a:avLst>
          </a:prstGeom>
          <a:solidFill>
            <a:srgbClr val="F4C9BF"/>
          </a:solidFill>
          <a:ln w="12700">
            <a:solidFill>
              <a:srgbClr val="F4C9BF"/>
            </a:solidFill>
            <a:prstDash val="solid"/>
          </a:ln>
        </p:spPr>
      </p:sp>
      <p:sp>
        <p:nvSpPr>
          <p:cNvPr id="10" name="Shape 8"/>
          <p:cNvSpPr/>
          <p:nvPr/>
        </p:nvSpPr>
        <p:spPr>
          <a:xfrm>
            <a:off x="1600200" y="4297680"/>
            <a:ext cx="978408" cy="978408"/>
          </a:xfrm>
          <a:prstGeom prst="roundRect">
            <a:avLst>
              <a:gd name="adj" fmla="val 5607"/>
            </a:avLst>
          </a:prstGeom>
          <a:solidFill>
            <a:srgbClr val="DDEFE3"/>
          </a:solidFill>
          <a:ln w="12700">
            <a:solidFill>
              <a:srgbClr val="DDEFE3"/>
            </a:solidFill>
            <a:prstDash val="solid"/>
          </a:ln>
        </p:spPr>
      </p:sp>
      <p:sp>
        <p:nvSpPr>
          <p:cNvPr id="11" name="Shape 9"/>
          <p:cNvSpPr/>
          <p:nvPr/>
        </p:nvSpPr>
        <p:spPr>
          <a:xfrm>
            <a:off x="2651760" y="4297680"/>
            <a:ext cx="978408" cy="978408"/>
          </a:xfrm>
          <a:prstGeom prst="roundRect">
            <a:avLst>
              <a:gd name="adj" fmla="val 5607"/>
            </a:avLst>
          </a:prstGeom>
          <a:solidFill>
            <a:srgbClr val="DDEFE3"/>
          </a:solidFill>
          <a:ln w="12700">
            <a:solidFill>
              <a:srgbClr val="DDEFE3"/>
            </a:solidFill>
            <a:prstDash val="solid"/>
          </a:ln>
        </p:spPr>
      </p:sp>
      <p:sp>
        <p:nvSpPr>
          <p:cNvPr id="12" name="Shape 10"/>
          <p:cNvSpPr/>
          <p:nvPr/>
        </p:nvSpPr>
        <p:spPr>
          <a:xfrm>
            <a:off x="3703320" y="4297680"/>
            <a:ext cx="978408" cy="978408"/>
          </a:xfrm>
          <a:prstGeom prst="roundRect">
            <a:avLst>
              <a:gd name="adj" fmla="val 5607"/>
            </a:avLst>
          </a:prstGeom>
          <a:solidFill>
            <a:srgbClr val="FBEFD2"/>
          </a:solidFill>
          <a:ln w="12700">
            <a:solidFill>
              <a:srgbClr val="FBEFD2"/>
            </a:solidFill>
            <a:prstDash val="solid"/>
          </a:ln>
        </p:spPr>
      </p:sp>
      <p:sp>
        <p:nvSpPr>
          <p:cNvPr id="13" name="Text 11"/>
          <p:cNvSpPr txBox="1"/>
          <p:nvPr/>
        </p:nvSpPr>
        <p:spPr>
          <a:xfrm>
            <a:off x="1600200" y="5376672"/>
            <a:ext cx="978408" cy="274320"/>
          </a:xfrm>
          <a:prstGeom prst="rect">
            <a:avLst/>
          </a:prstGeom>
          <a:noFill/>
          <a:ln/>
        </p:spPr>
        <p:txBody>
          <a:bodyPr wrap="square" lIns="0" tIns="0" rIns="0" bIns="0" rtlCol="0" anchor="t"/>
          <a:lstStyle/>
          <a:p>
            <a:pPr algn="ctr" indent="0" marL="0">
              <a:buNone/>
            </a:pPr>
            <a:r>
              <a:rPr lang="en-US" sz="1200" dirty="0">
                <a:solidFill>
                  <a:srgbClr val="5B6770"/>
                </a:solidFill>
                <a:latin typeface="Calibri" pitchFamily="34" charset="0"/>
                <a:ea typeface="Calibri" pitchFamily="34" charset="-122"/>
                <a:cs typeface="Calibri" pitchFamily="34" charset="-120"/>
              </a:rPr>
              <a:t>Low</a:t>
            </a:r>
            <a:endParaRPr lang="en-US" sz="1200" dirty="0"/>
          </a:p>
        </p:txBody>
      </p:sp>
      <p:sp>
        <p:nvSpPr>
          <p:cNvPr id="14" name="Text 12"/>
          <p:cNvSpPr txBox="1"/>
          <p:nvPr/>
        </p:nvSpPr>
        <p:spPr>
          <a:xfrm>
            <a:off x="685800" y="4649724"/>
            <a:ext cx="822960" cy="274320"/>
          </a:xfrm>
          <a:prstGeom prst="rect">
            <a:avLst/>
          </a:prstGeom>
          <a:noFill/>
          <a:ln/>
        </p:spPr>
        <p:txBody>
          <a:bodyPr wrap="square" lIns="0" tIns="0" rIns="0" bIns="0" rtlCol="0" anchor="t"/>
          <a:lstStyle/>
          <a:p>
            <a:pPr algn="r" indent="0" marL="0">
              <a:buNone/>
            </a:pPr>
            <a:r>
              <a:rPr lang="en-US" sz="1200" dirty="0">
                <a:solidFill>
                  <a:srgbClr val="5B6770"/>
                </a:solidFill>
                <a:latin typeface="Calibri" pitchFamily="34" charset="0"/>
                <a:ea typeface="Calibri" pitchFamily="34" charset="-122"/>
                <a:cs typeface="Calibri" pitchFamily="34" charset="-120"/>
              </a:rPr>
              <a:t>Low</a:t>
            </a:r>
            <a:endParaRPr lang="en-US" sz="1200" dirty="0"/>
          </a:p>
        </p:txBody>
      </p:sp>
      <p:sp>
        <p:nvSpPr>
          <p:cNvPr id="15" name="Text 13"/>
          <p:cNvSpPr txBox="1"/>
          <p:nvPr/>
        </p:nvSpPr>
        <p:spPr>
          <a:xfrm>
            <a:off x="2651760" y="5376672"/>
            <a:ext cx="978408" cy="274320"/>
          </a:xfrm>
          <a:prstGeom prst="rect">
            <a:avLst/>
          </a:prstGeom>
          <a:noFill/>
          <a:ln/>
        </p:spPr>
        <p:txBody>
          <a:bodyPr wrap="square" lIns="0" tIns="0" rIns="0" bIns="0" rtlCol="0" anchor="t"/>
          <a:lstStyle/>
          <a:p>
            <a:pPr algn="ctr" indent="0" marL="0">
              <a:buNone/>
            </a:pPr>
            <a:r>
              <a:rPr lang="en-US" sz="1200" dirty="0">
                <a:solidFill>
                  <a:srgbClr val="5B6770"/>
                </a:solidFill>
                <a:latin typeface="Calibri" pitchFamily="34" charset="0"/>
                <a:ea typeface="Calibri" pitchFamily="34" charset="-122"/>
                <a:cs typeface="Calibri" pitchFamily="34" charset="-120"/>
              </a:rPr>
              <a:t>Medium</a:t>
            </a:r>
            <a:endParaRPr lang="en-US" sz="1200" dirty="0"/>
          </a:p>
        </p:txBody>
      </p:sp>
      <p:sp>
        <p:nvSpPr>
          <p:cNvPr id="16" name="Text 14"/>
          <p:cNvSpPr txBox="1"/>
          <p:nvPr/>
        </p:nvSpPr>
        <p:spPr>
          <a:xfrm>
            <a:off x="685800" y="3598164"/>
            <a:ext cx="822960" cy="274320"/>
          </a:xfrm>
          <a:prstGeom prst="rect">
            <a:avLst/>
          </a:prstGeom>
          <a:noFill/>
          <a:ln/>
        </p:spPr>
        <p:txBody>
          <a:bodyPr wrap="square" lIns="0" tIns="0" rIns="0" bIns="0" rtlCol="0" anchor="t"/>
          <a:lstStyle/>
          <a:p>
            <a:pPr algn="r" indent="0" marL="0">
              <a:buNone/>
            </a:pPr>
            <a:r>
              <a:rPr lang="en-US" sz="1200" dirty="0">
                <a:solidFill>
                  <a:srgbClr val="5B6770"/>
                </a:solidFill>
                <a:latin typeface="Calibri" pitchFamily="34" charset="0"/>
                <a:ea typeface="Calibri" pitchFamily="34" charset="-122"/>
                <a:cs typeface="Calibri" pitchFamily="34" charset="-120"/>
              </a:rPr>
              <a:t>Medium</a:t>
            </a:r>
            <a:endParaRPr lang="en-US" sz="1200" dirty="0"/>
          </a:p>
        </p:txBody>
      </p:sp>
      <p:sp>
        <p:nvSpPr>
          <p:cNvPr id="17" name="Text 15"/>
          <p:cNvSpPr txBox="1"/>
          <p:nvPr/>
        </p:nvSpPr>
        <p:spPr>
          <a:xfrm>
            <a:off x="3703320" y="5376672"/>
            <a:ext cx="978408" cy="274320"/>
          </a:xfrm>
          <a:prstGeom prst="rect">
            <a:avLst/>
          </a:prstGeom>
          <a:noFill/>
          <a:ln/>
        </p:spPr>
        <p:txBody>
          <a:bodyPr wrap="square" lIns="0" tIns="0" rIns="0" bIns="0" rtlCol="0" anchor="t"/>
          <a:lstStyle/>
          <a:p>
            <a:pPr algn="ctr" indent="0" marL="0">
              <a:buNone/>
            </a:pPr>
            <a:r>
              <a:rPr lang="en-US" sz="1200" dirty="0">
                <a:solidFill>
                  <a:srgbClr val="5B6770"/>
                </a:solidFill>
                <a:latin typeface="Calibri" pitchFamily="34" charset="0"/>
                <a:ea typeface="Calibri" pitchFamily="34" charset="-122"/>
                <a:cs typeface="Calibri" pitchFamily="34" charset="-120"/>
              </a:rPr>
              <a:t>High</a:t>
            </a:r>
            <a:endParaRPr lang="en-US" sz="1200" dirty="0"/>
          </a:p>
        </p:txBody>
      </p:sp>
      <p:sp>
        <p:nvSpPr>
          <p:cNvPr id="18" name="Text 16"/>
          <p:cNvSpPr txBox="1"/>
          <p:nvPr/>
        </p:nvSpPr>
        <p:spPr>
          <a:xfrm>
            <a:off x="685800" y="2546604"/>
            <a:ext cx="822960" cy="274320"/>
          </a:xfrm>
          <a:prstGeom prst="rect">
            <a:avLst/>
          </a:prstGeom>
          <a:noFill/>
          <a:ln/>
        </p:spPr>
        <p:txBody>
          <a:bodyPr wrap="square" lIns="0" tIns="0" rIns="0" bIns="0" rtlCol="0" anchor="t"/>
          <a:lstStyle/>
          <a:p>
            <a:pPr algn="r" indent="0" marL="0">
              <a:buNone/>
            </a:pPr>
            <a:r>
              <a:rPr lang="en-US" sz="1200" dirty="0">
                <a:solidFill>
                  <a:srgbClr val="5B6770"/>
                </a:solidFill>
                <a:latin typeface="Calibri" pitchFamily="34" charset="0"/>
                <a:ea typeface="Calibri" pitchFamily="34" charset="-122"/>
                <a:cs typeface="Calibri" pitchFamily="34" charset="-120"/>
              </a:rPr>
              <a:t>High</a:t>
            </a:r>
            <a:endParaRPr lang="en-US" sz="1200" dirty="0"/>
          </a:p>
        </p:txBody>
      </p:sp>
      <p:sp>
        <p:nvSpPr>
          <p:cNvPr id="19" name="Text 17"/>
          <p:cNvSpPr txBox="1"/>
          <p:nvPr/>
        </p:nvSpPr>
        <p:spPr>
          <a:xfrm>
            <a:off x="1600200" y="5678424"/>
            <a:ext cx="3154680" cy="274320"/>
          </a:xfrm>
          <a:prstGeom prst="rect">
            <a:avLst/>
          </a:prstGeom>
          <a:noFill/>
          <a:ln/>
        </p:spPr>
        <p:txBody>
          <a:bodyPr wrap="square" lIns="0" tIns="0" rIns="0" bIns="0" rtlCol="0" anchor="t"/>
          <a:lstStyle/>
          <a:p>
            <a:pPr algn="ctr" indent="0" marL="0">
              <a:buNone/>
            </a:pPr>
            <a:r>
              <a:rPr lang="en-US" sz="1300" b="1" dirty="0">
                <a:solidFill>
                  <a:srgbClr val="12343B"/>
                </a:solidFill>
                <a:latin typeface="Calibri" pitchFamily="34" charset="0"/>
                <a:ea typeface="Calibri" pitchFamily="34" charset="-122"/>
                <a:cs typeface="Calibri" pitchFamily="34" charset="-120"/>
              </a:rPr>
              <a:t>Expected impact</a:t>
            </a:r>
            <a:endParaRPr lang="en-US" sz="1300" dirty="0"/>
          </a:p>
        </p:txBody>
      </p:sp>
      <p:sp>
        <p:nvSpPr>
          <p:cNvPr id="20" name="Text 18"/>
          <p:cNvSpPr txBox="1"/>
          <p:nvPr/>
        </p:nvSpPr>
        <p:spPr>
          <a:xfrm>
            <a:off x="548640" y="1828800"/>
            <a:ext cx="1280160" cy="274320"/>
          </a:xfrm>
          <a:prstGeom prst="rect">
            <a:avLst/>
          </a:prstGeom>
          <a:noFill/>
          <a:ln/>
        </p:spPr>
        <p:txBody>
          <a:bodyPr wrap="square" lIns="0" tIns="0" rIns="0" bIns="0" rtlCol="0" anchor="t"/>
          <a:lstStyle/>
          <a:p>
            <a:pPr indent="0" marL="0">
              <a:buNone/>
            </a:pPr>
            <a:r>
              <a:rPr lang="en-US" sz="1300" b="1" dirty="0">
                <a:solidFill>
                  <a:srgbClr val="12343B"/>
                </a:solidFill>
                <a:latin typeface="Calibri" pitchFamily="34" charset="0"/>
                <a:ea typeface="Calibri" pitchFamily="34" charset="-122"/>
                <a:cs typeface="Calibri" pitchFamily="34" charset="-120"/>
              </a:rPr>
              <a:t>Likelihood</a:t>
            </a:r>
            <a:endParaRPr lang="en-US" sz="1300" dirty="0"/>
          </a:p>
        </p:txBody>
      </p:sp>
      <p:sp>
        <p:nvSpPr>
          <p:cNvPr id="21" name="Shape 19"/>
          <p:cNvSpPr/>
          <p:nvPr/>
        </p:nvSpPr>
        <p:spPr>
          <a:xfrm>
            <a:off x="1920240" y="1783080"/>
            <a:ext cx="201168" cy="201168"/>
          </a:xfrm>
          <a:prstGeom prst="roundRect">
            <a:avLst>
              <a:gd name="adj" fmla="val 18182"/>
            </a:avLst>
          </a:prstGeom>
          <a:solidFill>
            <a:srgbClr val="DDEFE3"/>
          </a:solidFill>
          <a:ln w="12700">
            <a:solidFill>
              <a:srgbClr val="DDEFE3"/>
            </a:solidFill>
            <a:prstDash val="solid"/>
          </a:ln>
        </p:spPr>
      </p:sp>
      <p:sp>
        <p:nvSpPr>
          <p:cNvPr id="22" name="Text 20"/>
          <p:cNvSpPr txBox="1"/>
          <p:nvPr/>
        </p:nvSpPr>
        <p:spPr>
          <a:xfrm>
            <a:off x="2176272" y="1755648"/>
            <a:ext cx="685800" cy="256032"/>
          </a:xfrm>
          <a:prstGeom prst="rect">
            <a:avLst/>
          </a:prstGeom>
          <a:noFill/>
          <a:ln/>
        </p:spPr>
        <p:txBody>
          <a:bodyPr wrap="square" lIns="0" tIns="0" rIns="0" bIns="0" rtlCol="0" anchor="t"/>
          <a:lstStyle/>
          <a:p>
            <a:pPr indent="0" marL="0">
              <a:buNone/>
            </a:pPr>
            <a:r>
              <a:rPr lang="en-US" sz="1100" dirty="0">
                <a:solidFill>
                  <a:srgbClr val="1E2A30"/>
                </a:solidFill>
                <a:latin typeface="Calibri" pitchFamily="34" charset="0"/>
                <a:ea typeface="Calibri" pitchFamily="34" charset="-122"/>
                <a:cs typeface="Calibri" pitchFamily="34" charset="-120"/>
              </a:rPr>
              <a:t>Monitor</a:t>
            </a:r>
            <a:endParaRPr lang="en-US" sz="1100" dirty="0"/>
          </a:p>
        </p:txBody>
      </p:sp>
      <p:sp>
        <p:nvSpPr>
          <p:cNvPr id="23" name="Shape 21"/>
          <p:cNvSpPr/>
          <p:nvPr/>
        </p:nvSpPr>
        <p:spPr>
          <a:xfrm>
            <a:off x="2880360" y="1783080"/>
            <a:ext cx="201168" cy="201168"/>
          </a:xfrm>
          <a:prstGeom prst="roundRect">
            <a:avLst>
              <a:gd name="adj" fmla="val 18182"/>
            </a:avLst>
          </a:prstGeom>
          <a:solidFill>
            <a:srgbClr val="FBEFD2"/>
          </a:solidFill>
          <a:ln w="12700">
            <a:solidFill>
              <a:srgbClr val="FBEFD2"/>
            </a:solidFill>
            <a:prstDash val="solid"/>
          </a:ln>
        </p:spPr>
      </p:sp>
      <p:sp>
        <p:nvSpPr>
          <p:cNvPr id="24" name="Text 22"/>
          <p:cNvSpPr txBox="1"/>
          <p:nvPr/>
        </p:nvSpPr>
        <p:spPr>
          <a:xfrm>
            <a:off x="3136392" y="1755648"/>
            <a:ext cx="685800" cy="256032"/>
          </a:xfrm>
          <a:prstGeom prst="rect">
            <a:avLst/>
          </a:prstGeom>
          <a:noFill/>
          <a:ln/>
        </p:spPr>
        <p:txBody>
          <a:bodyPr wrap="square" lIns="0" tIns="0" rIns="0" bIns="0" rtlCol="0" anchor="t"/>
          <a:lstStyle/>
          <a:p>
            <a:pPr indent="0" marL="0">
              <a:buNone/>
            </a:pPr>
            <a:r>
              <a:rPr lang="en-US" sz="1100" dirty="0">
                <a:solidFill>
                  <a:srgbClr val="1E2A30"/>
                </a:solidFill>
                <a:latin typeface="Calibri" pitchFamily="34" charset="0"/>
                <a:ea typeface="Calibri" pitchFamily="34" charset="-122"/>
                <a:cs typeface="Calibri" pitchFamily="34" charset="-120"/>
              </a:rPr>
              <a:t>Prepare</a:t>
            </a:r>
            <a:endParaRPr lang="en-US" sz="1100" dirty="0"/>
          </a:p>
        </p:txBody>
      </p:sp>
      <p:sp>
        <p:nvSpPr>
          <p:cNvPr id="25" name="Shape 23"/>
          <p:cNvSpPr/>
          <p:nvPr/>
        </p:nvSpPr>
        <p:spPr>
          <a:xfrm>
            <a:off x="3840480" y="1783080"/>
            <a:ext cx="201168" cy="201168"/>
          </a:xfrm>
          <a:prstGeom prst="roundRect">
            <a:avLst>
              <a:gd name="adj" fmla="val 18182"/>
            </a:avLst>
          </a:prstGeom>
          <a:solidFill>
            <a:srgbClr val="F4C9BF"/>
          </a:solidFill>
          <a:ln w="12700">
            <a:solidFill>
              <a:srgbClr val="F4C9BF"/>
            </a:solidFill>
            <a:prstDash val="solid"/>
          </a:ln>
        </p:spPr>
      </p:sp>
      <p:sp>
        <p:nvSpPr>
          <p:cNvPr id="26" name="Text 24"/>
          <p:cNvSpPr txBox="1"/>
          <p:nvPr/>
        </p:nvSpPr>
        <p:spPr>
          <a:xfrm>
            <a:off x="4096512" y="1755648"/>
            <a:ext cx="685800" cy="256032"/>
          </a:xfrm>
          <a:prstGeom prst="rect">
            <a:avLst/>
          </a:prstGeom>
          <a:noFill/>
          <a:ln/>
        </p:spPr>
        <p:txBody>
          <a:bodyPr wrap="square" lIns="0" tIns="0" rIns="0" bIns="0" rtlCol="0" anchor="t"/>
          <a:lstStyle/>
          <a:p>
            <a:pPr indent="0" marL="0">
              <a:buNone/>
            </a:pPr>
            <a:r>
              <a:rPr lang="en-US" sz="1100" dirty="0">
                <a:solidFill>
                  <a:srgbClr val="1E2A30"/>
                </a:solidFill>
                <a:latin typeface="Calibri" pitchFamily="34" charset="0"/>
                <a:ea typeface="Calibri" pitchFamily="34" charset="-122"/>
                <a:cs typeface="Calibri" pitchFamily="34" charset="-120"/>
              </a:rPr>
              <a:t>Act now</a:t>
            </a:r>
            <a:endParaRPr lang="en-US" sz="1100" dirty="0"/>
          </a:p>
        </p:txBody>
      </p:sp>
      <p:sp>
        <p:nvSpPr>
          <p:cNvPr id="27" name="Text 25"/>
          <p:cNvSpPr txBox="1"/>
          <p:nvPr/>
        </p:nvSpPr>
        <p:spPr>
          <a:xfrm>
            <a:off x="1600200" y="6007608"/>
            <a:ext cx="3154680" cy="228600"/>
          </a:xfrm>
          <a:prstGeom prst="rect">
            <a:avLst/>
          </a:prstGeom>
          <a:noFill/>
          <a:ln/>
        </p:spPr>
        <p:txBody>
          <a:bodyPr wrap="square" lIns="0" tIns="0" rIns="0" bIns="0" rtlCol="0" anchor="t"/>
          <a:lstStyle/>
          <a:p>
            <a:pPr algn="ctr" indent="0" marL="0">
              <a:buNone/>
            </a:pPr>
            <a:r>
              <a:rPr lang="en-US" sz="1000" i="1" dirty="0">
                <a:solidFill>
                  <a:srgbClr val="5B6770"/>
                </a:solidFill>
                <a:latin typeface="Calibri" pitchFamily="34" charset="0"/>
                <a:ea typeface="Calibri" pitchFamily="34" charset="-122"/>
                <a:cs typeface="Calibri" pitchFamily="34" charset="-120"/>
              </a:rPr>
              <a:t>Illustrative layout only, no data</a:t>
            </a:r>
            <a:endParaRPr lang="en-US" sz="1000" dirty="0"/>
          </a:p>
        </p:txBody>
      </p:sp>
      <p:sp>
        <p:nvSpPr>
          <p:cNvPr id="28" name="Text 26"/>
          <p:cNvSpPr txBox="1"/>
          <p:nvPr/>
        </p:nvSpPr>
        <p:spPr>
          <a:xfrm>
            <a:off x="5577840" y="1691640"/>
            <a:ext cx="4572000" cy="274320"/>
          </a:xfrm>
          <a:prstGeom prst="rect">
            <a:avLst/>
          </a:prstGeom>
          <a:noFill/>
          <a:ln/>
        </p:spPr>
        <p:txBody>
          <a:bodyPr wrap="square" lIns="0" tIns="0" rIns="0" bIns="0" rtlCol="0" anchor="t"/>
          <a:lstStyle/>
          <a:p>
            <a:pPr indent="0" marL="0">
              <a:buNone/>
            </a:pPr>
            <a:r>
              <a:rPr lang="en-US" sz="1200" b="1" spc="200" kern="0" dirty="0">
                <a:solidFill>
                  <a:srgbClr val="1F7A7A"/>
                </a:solidFill>
                <a:latin typeface="Calibri" pitchFamily="34" charset="0"/>
                <a:ea typeface="Calibri" pitchFamily="34" charset="-122"/>
                <a:cs typeface="Calibri" pitchFamily="34" charset="-120"/>
              </a:rPr>
              <a:t>EACH RISK RECORDS</a:t>
            </a:r>
            <a:endParaRPr lang="en-US" sz="1200" dirty="0"/>
          </a:p>
        </p:txBody>
      </p:sp>
      <p:sp>
        <p:nvSpPr>
          <p:cNvPr id="29" name="Shape 27"/>
          <p:cNvSpPr/>
          <p:nvPr/>
        </p:nvSpPr>
        <p:spPr>
          <a:xfrm>
            <a:off x="5577840" y="2057400"/>
            <a:ext cx="6065215" cy="493776"/>
          </a:xfrm>
          <a:prstGeom prst="roundRect">
            <a:avLst>
              <a:gd name="adj" fmla="val 14815"/>
            </a:avLst>
          </a:prstGeom>
          <a:solidFill>
            <a:srgbClr val="EFF6F5"/>
          </a:solidFill>
          <a:ln w="12700">
            <a:solidFill>
              <a:srgbClr val="EFF6F5"/>
            </a:solidFill>
            <a:prstDash val="solid"/>
          </a:ln>
        </p:spPr>
      </p:sp>
      <p:sp>
        <p:nvSpPr>
          <p:cNvPr id="30" name="Text 28"/>
          <p:cNvSpPr txBox="1"/>
          <p:nvPr/>
        </p:nvSpPr>
        <p:spPr>
          <a:xfrm>
            <a:off x="5760720" y="2057400"/>
            <a:ext cx="1920240" cy="493776"/>
          </a:xfrm>
          <a:prstGeom prst="rect">
            <a:avLst/>
          </a:prstGeom>
          <a:noFill/>
          <a:ln/>
        </p:spPr>
        <p:txBody>
          <a:bodyPr wrap="square" lIns="0" tIns="0" rIns="0" bIns="0" rtlCol="0" anchor="ctr"/>
          <a:lstStyle/>
          <a:p>
            <a:pPr indent="0" marL="0">
              <a:buNone/>
            </a:pPr>
            <a:r>
              <a:rPr lang="en-US" sz="1350" b="1" dirty="0">
                <a:solidFill>
                  <a:srgbClr val="12343B"/>
                </a:solidFill>
                <a:latin typeface="Calibri" pitchFamily="34" charset="0"/>
                <a:ea typeface="Calibri" pitchFamily="34" charset="-122"/>
                <a:cs typeface="Calibri" pitchFamily="34" charset="-120"/>
              </a:rPr>
              <a:t>Risk</a:t>
            </a:r>
            <a:endParaRPr lang="en-US" sz="1350" dirty="0"/>
          </a:p>
        </p:txBody>
      </p:sp>
      <p:sp>
        <p:nvSpPr>
          <p:cNvPr id="31" name="Text 29"/>
          <p:cNvSpPr txBox="1"/>
          <p:nvPr/>
        </p:nvSpPr>
        <p:spPr>
          <a:xfrm>
            <a:off x="7726680" y="2057400"/>
            <a:ext cx="3779215" cy="493776"/>
          </a:xfrm>
          <a:prstGeom prst="rect">
            <a:avLst/>
          </a:prstGeom>
          <a:noFill/>
          <a:ln/>
        </p:spPr>
        <p:txBody>
          <a:bodyPr wrap="square" lIns="0" tIns="0" rIns="0" bIns="0" rtlCol="0" anchor="ctr"/>
          <a:lstStyle/>
          <a:p>
            <a:pPr indent="0" marL="0">
              <a:buNone/>
            </a:pPr>
            <a:r>
              <a:rPr lang="en-US" sz="1300" dirty="0">
                <a:solidFill>
                  <a:srgbClr val="1E2A30"/>
                </a:solidFill>
                <a:latin typeface="Calibri" pitchFamily="34" charset="0"/>
                <a:ea typeface="Calibri" pitchFamily="34" charset="-122"/>
                <a:cs typeface="Calibri" pitchFamily="34" charset="-120"/>
              </a:rPr>
              <a:t>What could happen and why</a:t>
            </a:r>
            <a:endParaRPr lang="en-US" sz="1300" dirty="0"/>
          </a:p>
        </p:txBody>
      </p:sp>
      <p:sp>
        <p:nvSpPr>
          <p:cNvPr id="32" name="Shape 30"/>
          <p:cNvSpPr/>
          <p:nvPr/>
        </p:nvSpPr>
        <p:spPr>
          <a:xfrm>
            <a:off x="5577840" y="2624328"/>
            <a:ext cx="6065215" cy="493776"/>
          </a:xfrm>
          <a:prstGeom prst="roundRect">
            <a:avLst>
              <a:gd name="adj" fmla="val 14815"/>
            </a:avLst>
          </a:prstGeom>
          <a:solidFill>
            <a:srgbClr val="FFFFFF"/>
          </a:solidFill>
          <a:ln w="12700">
            <a:solidFill>
              <a:srgbClr val="FFFFFF"/>
            </a:solidFill>
            <a:prstDash val="solid"/>
          </a:ln>
        </p:spPr>
      </p:sp>
      <p:sp>
        <p:nvSpPr>
          <p:cNvPr id="33" name="Text 31"/>
          <p:cNvSpPr txBox="1"/>
          <p:nvPr/>
        </p:nvSpPr>
        <p:spPr>
          <a:xfrm>
            <a:off x="5760720" y="2624328"/>
            <a:ext cx="1920240" cy="493776"/>
          </a:xfrm>
          <a:prstGeom prst="rect">
            <a:avLst/>
          </a:prstGeom>
          <a:noFill/>
          <a:ln/>
        </p:spPr>
        <p:txBody>
          <a:bodyPr wrap="square" lIns="0" tIns="0" rIns="0" bIns="0" rtlCol="0" anchor="ctr"/>
          <a:lstStyle/>
          <a:p>
            <a:pPr indent="0" marL="0">
              <a:buNone/>
            </a:pPr>
            <a:r>
              <a:rPr lang="en-US" sz="1350" b="1" dirty="0">
                <a:solidFill>
                  <a:srgbClr val="12343B"/>
                </a:solidFill>
                <a:latin typeface="Calibri" pitchFamily="34" charset="0"/>
                <a:ea typeface="Calibri" pitchFamily="34" charset="-122"/>
                <a:cs typeface="Calibri" pitchFamily="34" charset="-120"/>
              </a:rPr>
              <a:t>Likelihood</a:t>
            </a:r>
            <a:endParaRPr lang="en-US" sz="1350" dirty="0"/>
          </a:p>
        </p:txBody>
      </p:sp>
      <p:sp>
        <p:nvSpPr>
          <p:cNvPr id="34" name="Text 32"/>
          <p:cNvSpPr txBox="1"/>
          <p:nvPr/>
        </p:nvSpPr>
        <p:spPr>
          <a:xfrm>
            <a:off x="7726680" y="2624328"/>
            <a:ext cx="3779215" cy="493776"/>
          </a:xfrm>
          <a:prstGeom prst="rect">
            <a:avLst/>
          </a:prstGeom>
          <a:noFill/>
          <a:ln/>
        </p:spPr>
        <p:txBody>
          <a:bodyPr wrap="square" lIns="0" tIns="0" rIns="0" bIns="0" rtlCol="0" anchor="ctr"/>
          <a:lstStyle/>
          <a:p>
            <a:pPr indent="0" marL="0">
              <a:buNone/>
            </a:pPr>
            <a:r>
              <a:rPr lang="en-US" sz="1300" dirty="0">
                <a:solidFill>
                  <a:srgbClr val="1E2A30"/>
                </a:solidFill>
                <a:latin typeface="Calibri" pitchFamily="34" charset="0"/>
                <a:ea typeface="Calibri" pitchFamily="34" charset="-122"/>
                <a:cs typeface="Calibri" pitchFamily="34" charset="-120"/>
              </a:rPr>
              <a:t>Low / medium / high, scale defined up front</a:t>
            </a:r>
            <a:endParaRPr lang="en-US" sz="1300" dirty="0"/>
          </a:p>
        </p:txBody>
      </p:sp>
      <p:sp>
        <p:nvSpPr>
          <p:cNvPr id="35" name="Shape 33"/>
          <p:cNvSpPr/>
          <p:nvPr/>
        </p:nvSpPr>
        <p:spPr>
          <a:xfrm>
            <a:off x="5577840" y="3191256"/>
            <a:ext cx="6065215" cy="493776"/>
          </a:xfrm>
          <a:prstGeom prst="roundRect">
            <a:avLst>
              <a:gd name="adj" fmla="val 14815"/>
            </a:avLst>
          </a:prstGeom>
          <a:solidFill>
            <a:srgbClr val="EFF6F5"/>
          </a:solidFill>
          <a:ln w="12700">
            <a:solidFill>
              <a:srgbClr val="EFF6F5"/>
            </a:solidFill>
            <a:prstDash val="solid"/>
          </a:ln>
        </p:spPr>
      </p:sp>
      <p:sp>
        <p:nvSpPr>
          <p:cNvPr id="36" name="Text 34"/>
          <p:cNvSpPr txBox="1"/>
          <p:nvPr/>
        </p:nvSpPr>
        <p:spPr>
          <a:xfrm>
            <a:off x="5760720" y="3191256"/>
            <a:ext cx="1920240" cy="493776"/>
          </a:xfrm>
          <a:prstGeom prst="rect">
            <a:avLst/>
          </a:prstGeom>
          <a:noFill/>
          <a:ln/>
        </p:spPr>
        <p:txBody>
          <a:bodyPr wrap="square" lIns="0" tIns="0" rIns="0" bIns="0" rtlCol="0" anchor="ctr"/>
          <a:lstStyle/>
          <a:p>
            <a:pPr indent="0" marL="0">
              <a:buNone/>
            </a:pPr>
            <a:r>
              <a:rPr lang="en-US" sz="1350" b="1" dirty="0">
                <a:solidFill>
                  <a:srgbClr val="12343B"/>
                </a:solidFill>
                <a:latin typeface="Calibri" pitchFamily="34" charset="0"/>
                <a:ea typeface="Calibri" pitchFamily="34" charset="-122"/>
                <a:cs typeface="Calibri" pitchFamily="34" charset="-120"/>
              </a:rPr>
              <a:t>Expected impact</a:t>
            </a:r>
            <a:endParaRPr lang="en-US" sz="1350" dirty="0"/>
          </a:p>
        </p:txBody>
      </p:sp>
      <p:sp>
        <p:nvSpPr>
          <p:cNvPr id="37" name="Text 35"/>
          <p:cNvSpPr txBox="1"/>
          <p:nvPr/>
        </p:nvSpPr>
        <p:spPr>
          <a:xfrm>
            <a:off x="7726680" y="3191256"/>
            <a:ext cx="3779215" cy="493776"/>
          </a:xfrm>
          <a:prstGeom prst="rect">
            <a:avLst/>
          </a:prstGeom>
          <a:noFill/>
          <a:ln/>
        </p:spPr>
        <p:txBody>
          <a:bodyPr wrap="square" lIns="0" tIns="0" rIns="0" bIns="0" rtlCol="0" anchor="ctr"/>
          <a:lstStyle/>
          <a:p>
            <a:pPr indent="0" marL="0">
              <a:buNone/>
            </a:pPr>
            <a:r>
              <a:rPr lang="en-US" sz="1300" dirty="0">
                <a:solidFill>
                  <a:srgbClr val="1E2A30"/>
                </a:solidFill>
                <a:latin typeface="Calibri" pitchFamily="34" charset="0"/>
                <a:ea typeface="Calibri" pitchFamily="34" charset="-122"/>
                <a:cs typeface="Calibri" pitchFamily="34" charset="-120"/>
              </a:rPr>
              <a:t>Low / medium / high, sized where data allows</a:t>
            </a:r>
            <a:endParaRPr lang="en-US" sz="1300" dirty="0"/>
          </a:p>
        </p:txBody>
      </p:sp>
      <p:sp>
        <p:nvSpPr>
          <p:cNvPr id="38" name="Shape 36"/>
          <p:cNvSpPr/>
          <p:nvPr/>
        </p:nvSpPr>
        <p:spPr>
          <a:xfrm>
            <a:off x="5577840" y="3758184"/>
            <a:ext cx="6065215" cy="493776"/>
          </a:xfrm>
          <a:prstGeom prst="roundRect">
            <a:avLst>
              <a:gd name="adj" fmla="val 14815"/>
            </a:avLst>
          </a:prstGeom>
          <a:solidFill>
            <a:srgbClr val="FFFFFF"/>
          </a:solidFill>
          <a:ln w="12700">
            <a:solidFill>
              <a:srgbClr val="FFFFFF"/>
            </a:solidFill>
            <a:prstDash val="solid"/>
          </a:ln>
        </p:spPr>
      </p:sp>
      <p:sp>
        <p:nvSpPr>
          <p:cNvPr id="39" name="Text 37"/>
          <p:cNvSpPr txBox="1"/>
          <p:nvPr/>
        </p:nvSpPr>
        <p:spPr>
          <a:xfrm>
            <a:off x="5760720" y="3758184"/>
            <a:ext cx="1920240" cy="493776"/>
          </a:xfrm>
          <a:prstGeom prst="rect">
            <a:avLst/>
          </a:prstGeom>
          <a:noFill/>
          <a:ln/>
        </p:spPr>
        <p:txBody>
          <a:bodyPr wrap="square" lIns="0" tIns="0" rIns="0" bIns="0" rtlCol="0" anchor="ctr"/>
          <a:lstStyle/>
          <a:p>
            <a:pPr indent="0" marL="0">
              <a:buNone/>
            </a:pPr>
            <a:r>
              <a:rPr lang="en-US" sz="1350" b="1" dirty="0">
                <a:solidFill>
                  <a:srgbClr val="12343B"/>
                </a:solidFill>
                <a:latin typeface="Calibri" pitchFamily="34" charset="0"/>
                <a:ea typeface="Calibri" pitchFamily="34" charset="-122"/>
                <a:cs typeface="Calibri" pitchFamily="34" charset="-120"/>
              </a:rPr>
              <a:t>Time horizon</a:t>
            </a:r>
            <a:endParaRPr lang="en-US" sz="1350" dirty="0"/>
          </a:p>
        </p:txBody>
      </p:sp>
      <p:sp>
        <p:nvSpPr>
          <p:cNvPr id="40" name="Text 38"/>
          <p:cNvSpPr txBox="1"/>
          <p:nvPr/>
        </p:nvSpPr>
        <p:spPr>
          <a:xfrm>
            <a:off x="7726680" y="3758184"/>
            <a:ext cx="3779215" cy="493776"/>
          </a:xfrm>
          <a:prstGeom prst="rect">
            <a:avLst/>
          </a:prstGeom>
          <a:noFill/>
          <a:ln/>
        </p:spPr>
        <p:txBody>
          <a:bodyPr wrap="square" lIns="0" tIns="0" rIns="0" bIns="0" rtlCol="0" anchor="ctr"/>
          <a:lstStyle/>
          <a:p>
            <a:pPr indent="0" marL="0">
              <a:buNone/>
            </a:pPr>
            <a:r>
              <a:rPr lang="en-US" sz="1300" dirty="0">
                <a:solidFill>
                  <a:srgbClr val="1E2A30"/>
                </a:solidFill>
                <a:latin typeface="Calibri" pitchFamily="34" charset="0"/>
                <a:ea typeface="Calibri" pitchFamily="34" charset="-122"/>
                <a:cs typeface="Calibri" pitchFamily="34" charset="-120"/>
              </a:rPr>
              <a:t>Short, medium or long term</a:t>
            </a:r>
            <a:endParaRPr lang="en-US" sz="1300" dirty="0"/>
          </a:p>
        </p:txBody>
      </p:sp>
      <p:sp>
        <p:nvSpPr>
          <p:cNvPr id="41" name="Shape 39"/>
          <p:cNvSpPr/>
          <p:nvPr/>
        </p:nvSpPr>
        <p:spPr>
          <a:xfrm>
            <a:off x="5577840" y="4325112"/>
            <a:ext cx="6065215" cy="493776"/>
          </a:xfrm>
          <a:prstGeom prst="roundRect">
            <a:avLst>
              <a:gd name="adj" fmla="val 14815"/>
            </a:avLst>
          </a:prstGeom>
          <a:solidFill>
            <a:srgbClr val="EFF6F5"/>
          </a:solidFill>
          <a:ln w="12700">
            <a:solidFill>
              <a:srgbClr val="EFF6F5"/>
            </a:solidFill>
            <a:prstDash val="solid"/>
          </a:ln>
        </p:spPr>
      </p:sp>
      <p:sp>
        <p:nvSpPr>
          <p:cNvPr id="42" name="Text 40"/>
          <p:cNvSpPr txBox="1"/>
          <p:nvPr/>
        </p:nvSpPr>
        <p:spPr>
          <a:xfrm>
            <a:off x="5760720" y="4325112"/>
            <a:ext cx="1920240" cy="493776"/>
          </a:xfrm>
          <a:prstGeom prst="rect">
            <a:avLst/>
          </a:prstGeom>
          <a:noFill/>
          <a:ln/>
        </p:spPr>
        <p:txBody>
          <a:bodyPr wrap="square" lIns="0" tIns="0" rIns="0" bIns="0" rtlCol="0" anchor="ctr"/>
          <a:lstStyle/>
          <a:p>
            <a:pPr indent="0" marL="0">
              <a:buNone/>
            </a:pPr>
            <a:r>
              <a:rPr lang="en-US" sz="1350" b="1" dirty="0">
                <a:solidFill>
                  <a:srgbClr val="12343B"/>
                </a:solidFill>
                <a:latin typeface="Calibri" pitchFamily="34" charset="0"/>
                <a:ea typeface="Calibri" pitchFamily="34" charset="-122"/>
                <a:cs typeface="Calibri" pitchFamily="34" charset="-120"/>
              </a:rPr>
              <a:t>Response</a:t>
            </a:r>
            <a:endParaRPr lang="en-US" sz="1350" dirty="0"/>
          </a:p>
        </p:txBody>
      </p:sp>
      <p:sp>
        <p:nvSpPr>
          <p:cNvPr id="43" name="Text 41"/>
          <p:cNvSpPr txBox="1"/>
          <p:nvPr/>
        </p:nvSpPr>
        <p:spPr>
          <a:xfrm>
            <a:off x="7726680" y="4325112"/>
            <a:ext cx="3779215" cy="493776"/>
          </a:xfrm>
          <a:prstGeom prst="rect">
            <a:avLst/>
          </a:prstGeom>
          <a:noFill/>
          <a:ln/>
        </p:spPr>
        <p:txBody>
          <a:bodyPr wrap="square" lIns="0" tIns="0" rIns="0" bIns="0" rtlCol="0" anchor="ctr"/>
          <a:lstStyle/>
          <a:p>
            <a:pPr indent="0" marL="0">
              <a:buNone/>
            </a:pPr>
            <a:r>
              <a:rPr lang="en-US" sz="1300" dirty="0">
                <a:solidFill>
                  <a:srgbClr val="1E2A30"/>
                </a:solidFill>
                <a:latin typeface="Calibri" pitchFamily="34" charset="0"/>
                <a:ea typeface="Calibri" pitchFamily="34" charset="-122"/>
                <a:cs typeface="Calibri" pitchFamily="34" charset="-120"/>
              </a:rPr>
              <a:t>The practical action, e.g. price clauses, currency or rate hedging</a:t>
            </a:r>
            <a:endParaRPr lang="en-US" sz="1300" dirty="0"/>
          </a:p>
        </p:txBody>
      </p:sp>
      <p:sp>
        <p:nvSpPr>
          <p:cNvPr id="44" name="Shape 42"/>
          <p:cNvSpPr/>
          <p:nvPr/>
        </p:nvSpPr>
        <p:spPr>
          <a:xfrm>
            <a:off x="5577840" y="4892040"/>
            <a:ext cx="6065215" cy="493776"/>
          </a:xfrm>
          <a:prstGeom prst="roundRect">
            <a:avLst>
              <a:gd name="adj" fmla="val 14815"/>
            </a:avLst>
          </a:prstGeom>
          <a:solidFill>
            <a:srgbClr val="FFFFFF"/>
          </a:solidFill>
          <a:ln w="12700">
            <a:solidFill>
              <a:srgbClr val="FFFFFF"/>
            </a:solidFill>
            <a:prstDash val="solid"/>
          </a:ln>
        </p:spPr>
      </p:sp>
      <p:sp>
        <p:nvSpPr>
          <p:cNvPr id="45" name="Text 43"/>
          <p:cNvSpPr txBox="1"/>
          <p:nvPr/>
        </p:nvSpPr>
        <p:spPr>
          <a:xfrm>
            <a:off x="5760720" y="4892040"/>
            <a:ext cx="1920240" cy="493776"/>
          </a:xfrm>
          <a:prstGeom prst="rect">
            <a:avLst/>
          </a:prstGeom>
          <a:noFill/>
          <a:ln/>
        </p:spPr>
        <p:txBody>
          <a:bodyPr wrap="square" lIns="0" tIns="0" rIns="0" bIns="0" rtlCol="0" anchor="ctr"/>
          <a:lstStyle/>
          <a:p>
            <a:pPr indent="0" marL="0">
              <a:buNone/>
            </a:pPr>
            <a:r>
              <a:rPr lang="en-US" sz="1350" b="1" dirty="0">
                <a:solidFill>
                  <a:srgbClr val="12343B"/>
                </a:solidFill>
                <a:latin typeface="Calibri" pitchFamily="34" charset="0"/>
                <a:ea typeface="Calibri" pitchFamily="34" charset="-122"/>
                <a:cs typeface="Calibri" pitchFamily="34" charset="-120"/>
              </a:rPr>
              <a:t>Early-warning signal</a:t>
            </a:r>
            <a:endParaRPr lang="en-US" sz="1350" dirty="0"/>
          </a:p>
        </p:txBody>
      </p:sp>
      <p:sp>
        <p:nvSpPr>
          <p:cNvPr id="46" name="Text 44"/>
          <p:cNvSpPr txBox="1"/>
          <p:nvPr/>
        </p:nvSpPr>
        <p:spPr>
          <a:xfrm>
            <a:off x="7726680" y="4892040"/>
            <a:ext cx="3779215" cy="493776"/>
          </a:xfrm>
          <a:prstGeom prst="rect">
            <a:avLst/>
          </a:prstGeom>
          <a:noFill/>
          <a:ln/>
        </p:spPr>
        <p:txBody>
          <a:bodyPr wrap="square" lIns="0" tIns="0" rIns="0" bIns="0" rtlCol="0" anchor="ctr"/>
          <a:lstStyle/>
          <a:p>
            <a:pPr indent="0" marL="0">
              <a:buNone/>
            </a:pPr>
            <a:r>
              <a:rPr lang="en-US" sz="1300" dirty="0">
                <a:solidFill>
                  <a:srgbClr val="1E2A30"/>
                </a:solidFill>
                <a:latin typeface="Calibri" pitchFamily="34" charset="0"/>
                <a:ea typeface="Calibri" pitchFamily="34" charset="-122"/>
                <a:cs typeface="Calibri" pitchFamily="34" charset="-120"/>
              </a:rPr>
              <a:t>Indicator to watch and the trigger level</a:t>
            </a:r>
            <a:endParaRPr lang="en-US" sz="1300" dirty="0"/>
          </a:p>
        </p:txBody>
      </p:sp>
      <p:sp>
        <p:nvSpPr>
          <p:cNvPr id="47" name="Text 45"/>
          <p:cNvSpPr txBox="1"/>
          <p:nvPr/>
        </p:nvSpPr>
        <p:spPr>
          <a:xfrm>
            <a:off x="5577840" y="5577840"/>
            <a:ext cx="6065215" cy="640080"/>
          </a:xfrm>
          <a:prstGeom prst="rect">
            <a:avLst/>
          </a:prstGeom>
          <a:noFill/>
          <a:ln/>
        </p:spPr>
        <p:txBody>
          <a:bodyPr wrap="square" lIns="0" tIns="0" rIns="0" bIns="0" rtlCol="0" anchor="t"/>
          <a:lstStyle/>
          <a:p>
            <a:pPr indent="0" marL="0">
              <a:buNone/>
            </a:pPr>
            <a:r>
              <a:rPr lang="en-US" sz="1300" b="1" dirty="0">
                <a:solidFill>
                  <a:srgbClr val="12343B"/>
                </a:solidFill>
                <a:latin typeface="Calibri" pitchFamily="34" charset="0"/>
                <a:ea typeface="Calibri" pitchFamily="34" charset="-122"/>
                <a:cs typeface="Calibri" pitchFamily="34" charset="-120"/>
              </a:rPr>
              <a:t>Risks covered: </a:t>
            </a:r>
            <a:pPr indent="0" marL="0">
              <a:buNone/>
            </a:pPr>
            <a:r>
              <a:rPr lang="en-US" sz="1300" dirty="0">
                <a:solidFill>
                  <a:srgbClr val="1E2A30"/>
                </a:solidFill>
                <a:latin typeface="Calibri" pitchFamily="34" charset="0"/>
                <a:ea typeface="Calibri" pitchFamily="34" charset="-122"/>
                <a:cs typeface="Calibri" pitchFamily="34" charset="-120"/>
              </a:rPr>
              <a:t>inflation, currency devaluation, interest rates, tax and policy, input costs, weaker demand. Plus an opportunities section and early-warning indicators.</a:t>
            </a:r>
            <a:endParaRPr lang="en-US" sz="1300" dirty="0"/>
          </a:p>
        </p:txBody>
      </p:sp>
      <p:sp>
        <p:nvSpPr>
          <p:cNvPr id="48" name="Text 46"/>
          <p:cNvSpPr txBox="1"/>
          <p:nvPr/>
        </p:nvSpPr>
        <p:spPr>
          <a:xfrm>
            <a:off x="548640" y="6473952"/>
            <a:ext cx="6400800" cy="228600"/>
          </a:xfrm>
          <a:prstGeom prst="rect">
            <a:avLst/>
          </a:prstGeom>
          <a:noFill/>
          <a:ln/>
        </p:spPr>
        <p:txBody>
          <a:bodyPr wrap="square" lIns="0" tIns="0" rIns="0" bIns="0" rtlCol="0" anchor="t"/>
          <a:lstStyle/>
          <a:p>
            <a:pPr indent="0" marL="0">
              <a:buNone/>
            </a:pPr>
            <a:r>
              <a:rPr lang="en-US" sz="900" dirty="0">
                <a:solidFill>
                  <a:srgbClr val="95A1A8"/>
                </a:solidFill>
                <a:latin typeface="Calibri" pitchFamily="34" charset="0"/>
                <a:ea typeface="Calibri" pitchFamily="34" charset="-122"/>
                <a:cs typeface="Calibri" pitchFamily="34" charset="-120"/>
              </a:rPr>
              <a:t>Macroenvironment Agent · Business Requirements · Board review</a:t>
            </a:r>
            <a:endParaRPr lang="en-US" sz="900" dirty="0"/>
          </a:p>
        </p:txBody>
      </p:sp>
      <p:sp>
        <p:nvSpPr>
          <p:cNvPr id="49" name="Text 47"/>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95A1A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84048"/>
            <a:ext cx="11094415" cy="685800"/>
          </a:xfrm>
          <a:prstGeom prst="rect">
            <a:avLst/>
          </a:prstGeom>
          <a:noFill/>
          <a:ln/>
        </p:spPr>
        <p:txBody>
          <a:bodyPr wrap="square" lIns="0" tIns="0" rIns="0" bIns="0" rtlCol="0" anchor="ctr"/>
          <a:lstStyle/>
          <a:p>
            <a:pPr indent="0" marL="0">
              <a:buNone/>
            </a:pPr>
            <a:r>
              <a:rPr lang="en-US" sz="3000" b="1" dirty="0">
                <a:solidFill>
                  <a:srgbClr val="12343B"/>
                </a:solidFill>
                <a:latin typeface="Cambria" pitchFamily="34" charset="0"/>
                <a:ea typeface="Cambria" pitchFamily="34" charset="-122"/>
                <a:cs typeface="Cambria" pitchFamily="34" charset="-120"/>
              </a:rPr>
              <a:t>Deliverable 3: Key Indicators Database</a:t>
            </a:r>
            <a:endParaRPr lang="en-US" sz="3000" dirty="0"/>
          </a:p>
        </p:txBody>
      </p:sp>
      <p:sp>
        <p:nvSpPr>
          <p:cNvPr id="3" name="Text 1"/>
          <p:cNvSpPr txBox="1"/>
          <p:nvPr/>
        </p:nvSpPr>
        <p:spPr>
          <a:xfrm>
            <a:off x="548640" y="1069848"/>
            <a:ext cx="11094415" cy="411480"/>
          </a:xfrm>
          <a:prstGeom prst="rect">
            <a:avLst/>
          </a:prstGeom>
          <a:noFill/>
          <a:ln/>
        </p:spPr>
        <p:txBody>
          <a:bodyPr wrap="square" lIns="0" tIns="0" rIns="0" bIns="0" rtlCol="0" anchor="t"/>
          <a:lstStyle/>
          <a:p>
            <a:pPr indent="0" marL="0">
              <a:buNone/>
            </a:pPr>
            <a:r>
              <a:rPr lang="en-US" sz="1500" dirty="0">
                <a:solidFill>
                  <a:srgbClr val="5B6770"/>
                </a:solidFill>
                <a:latin typeface="Calibri" pitchFamily="34" charset="0"/>
                <a:ea typeface="Calibri" pitchFamily="34" charset="-122"/>
                <a:cs typeface="Calibri" pitchFamily="34" charset="-120"/>
              </a:rPr>
              <a:t>Built by fixed rules straight from the register. Not written by the AI.</a:t>
            </a:r>
            <a:endParaRPr lang="en-US" sz="1500" dirty="0"/>
          </a:p>
        </p:txBody>
      </p:sp>
      <p:sp>
        <p:nvSpPr>
          <p:cNvPr id="4" name="Shape 2"/>
          <p:cNvSpPr/>
          <p:nvPr/>
        </p:nvSpPr>
        <p:spPr>
          <a:xfrm>
            <a:off x="548640" y="1737360"/>
            <a:ext cx="3566160" cy="960120"/>
          </a:xfrm>
          <a:prstGeom prst="roundRect">
            <a:avLst>
              <a:gd name="adj" fmla="val 7619"/>
            </a:avLst>
          </a:prstGeom>
          <a:solidFill>
            <a:srgbClr val="EFF6F5"/>
          </a:solidFill>
          <a:ln w="12700">
            <a:solidFill>
              <a:srgbClr val="EFF6F5"/>
            </a:solidFill>
            <a:prstDash val="solid"/>
          </a:ln>
        </p:spPr>
      </p:sp>
      <p:sp>
        <p:nvSpPr>
          <p:cNvPr id="5" name="Shape 3"/>
          <p:cNvSpPr/>
          <p:nvPr/>
        </p:nvSpPr>
        <p:spPr>
          <a:xfrm>
            <a:off x="731520" y="1920240"/>
            <a:ext cx="566928" cy="566928"/>
          </a:xfrm>
          <a:prstGeom prst="ellipse">
            <a:avLst/>
          </a:prstGeom>
          <a:solidFill>
            <a:srgbClr val="1F7A7A"/>
          </a:solidFill>
          <a:ln w="12700">
            <a:solidFill>
              <a:srgbClr val="1F7A7A"/>
            </a:solidFill>
            <a:prstDash val="solid"/>
          </a:ln>
        </p:spPr>
      </p:sp>
      <p:pic>
        <p:nvPicPr>
          <p:cNvPr id="6" name="Image 0" descr="preencoded.png">    </p:cNvPr>
          <p:cNvPicPr>
            <a:picLocks noChangeAspect="1"/>
          </p:cNvPicPr>
          <p:nvPr/>
        </p:nvPicPr>
        <p:blipFill>
          <a:blip r:embed="rId1"/>
          <a:stretch>
            <a:fillRect/>
          </a:stretch>
        </p:blipFill>
        <p:spPr>
          <a:xfrm>
            <a:off x="878921" y="2067641"/>
            <a:ext cx="272125" cy="272125"/>
          </a:xfrm>
          <a:prstGeom prst="rect">
            <a:avLst/>
          </a:prstGeom>
        </p:spPr>
      </p:pic>
      <p:sp>
        <p:nvSpPr>
          <p:cNvPr id="7" name="Text 4"/>
          <p:cNvSpPr txBox="1"/>
          <p:nvPr/>
        </p:nvSpPr>
        <p:spPr>
          <a:xfrm>
            <a:off x="1463040" y="1856232"/>
            <a:ext cx="2560320" cy="320040"/>
          </a:xfrm>
          <a:prstGeom prst="rect">
            <a:avLst/>
          </a:prstGeom>
          <a:noFill/>
          <a:ln/>
        </p:spPr>
        <p:txBody>
          <a:bodyPr wrap="square" lIns="0" tIns="0" rIns="0" bIns="0" rtlCol="0" anchor="t"/>
          <a:lstStyle/>
          <a:p>
            <a:pPr indent="0" marL="0">
              <a:buNone/>
            </a:pPr>
            <a:r>
              <a:rPr lang="en-US" sz="1500" b="1" dirty="0">
                <a:solidFill>
                  <a:srgbClr val="12343B"/>
                </a:solidFill>
                <a:latin typeface="Calibri" pitchFamily="34" charset="0"/>
                <a:ea typeface="Calibri" pitchFamily="34" charset="-122"/>
                <a:cs typeface="Calibri" pitchFamily="34" charset="-120"/>
              </a:rPr>
              <a:t>Sheet 1: Indicators</a:t>
            </a:r>
            <a:endParaRPr lang="en-US" sz="1500" dirty="0"/>
          </a:p>
        </p:txBody>
      </p:sp>
      <p:sp>
        <p:nvSpPr>
          <p:cNvPr id="8" name="Text 5"/>
          <p:cNvSpPr txBox="1"/>
          <p:nvPr/>
        </p:nvSpPr>
        <p:spPr>
          <a:xfrm>
            <a:off x="1463040" y="2194560"/>
            <a:ext cx="2560320" cy="411480"/>
          </a:xfrm>
          <a:prstGeom prst="rect">
            <a:avLst/>
          </a:prstGeom>
          <a:noFill/>
          <a:ln/>
        </p:spPr>
        <p:txBody>
          <a:bodyPr wrap="square" lIns="0" tIns="0" rIns="0" bIns="0" rtlCol="0" anchor="t"/>
          <a:lstStyle/>
          <a:p>
            <a:pPr indent="0" marL="0">
              <a:buNone/>
            </a:pPr>
            <a:r>
              <a:rPr lang="en-US" sz="1250" dirty="0">
                <a:solidFill>
                  <a:srgbClr val="1E2A30"/>
                </a:solidFill>
                <a:latin typeface="Calibri" pitchFamily="34" charset="0"/>
                <a:ea typeface="Calibri" pitchFamily="34" charset="-122"/>
                <a:cs typeface="Calibri" pitchFamily="34" charset="-120"/>
              </a:rPr>
              <a:t>One row per indicator per year</a:t>
            </a:r>
            <a:endParaRPr lang="en-US" sz="1250" dirty="0"/>
          </a:p>
        </p:txBody>
      </p:sp>
      <p:sp>
        <p:nvSpPr>
          <p:cNvPr id="9" name="Shape 6"/>
          <p:cNvSpPr/>
          <p:nvPr/>
        </p:nvSpPr>
        <p:spPr>
          <a:xfrm>
            <a:off x="4297680" y="1737360"/>
            <a:ext cx="3566160" cy="960120"/>
          </a:xfrm>
          <a:prstGeom prst="roundRect">
            <a:avLst>
              <a:gd name="adj" fmla="val 7619"/>
            </a:avLst>
          </a:prstGeom>
          <a:solidFill>
            <a:srgbClr val="EFF6F5"/>
          </a:solidFill>
          <a:ln w="12700">
            <a:solidFill>
              <a:srgbClr val="EFF6F5"/>
            </a:solidFill>
            <a:prstDash val="solid"/>
          </a:ln>
        </p:spPr>
      </p:sp>
      <p:sp>
        <p:nvSpPr>
          <p:cNvPr id="10" name="Shape 7"/>
          <p:cNvSpPr/>
          <p:nvPr/>
        </p:nvSpPr>
        <p:spPr>
          <a:xfrm>
            <a:off x="4480560" y="1920240"/>
            <a:ext cx="566928" cy="566928"/>
          </a:xfrm>
          <a:prstGeom prst="ellipse">
            <a:avLst/>
          </a:prstGeom>
          <a:solidFill>
            <a:srgbClr val="1F7A7A"/>
          </a:solidFill>
          <a:ln w="12700">
            <a:solidFill>
              <a:srgbClr val="1F7A7A"/>
            </a:solidFill>
            <a:prstDash val="solid"/>
          </a:ln>
        </p:spPr>
      </p:sp>
      <p:pic>
        <p:nvPicPr>
          <p:cNvPr id="11" name="Image 1" descr="preencoded.png">    </p:cNvPr>
          <p:cNvPicPr>
            <a:picLocks noChangeAspect="1"/>
          </p:cNvPicPr>
          <p:nvPr/>
        </p:nvPicPr>
        <p:blipFill>
          <a:blip r:embed="rId2"/>
          <a:stretch>
            <a:fillRect/>
          </a:stretch>
        </p:blipFill>
        <p:spPr>
          <a:xfrm>
            <a:off x="4627961" y="2067641"/>
            <a:ext cx="272125" cy="272125"/>
          </a:xfrm>
          <a:prstGeom prst="rect">
            <a:avLst/>
          </a:prstGeom>
        </p:spPr>
      </p:pic>
      <p:sp>
        <p:nvSpPr>
          <p:cNvPr id="12" name="Text 8"/>
          <p:cNvSpPr txBox="1"/>
          <p:nvPr/>
        </p:nvSpPr>
        <p:spPr>
          <a:xfrm>
            <a:off x="5212080" y="1856232"/>
            <a:ext cx="2560320" cy="320040"/>
          </a:xfrm>
          <a:prstGeom prst="rect">
            <a:avLst/>
          </a:prstGeom>
          <a:noFill/>
          <a:ln/>
        </p:spPr>
        <p:txBody>
          <a:bodyPr wrap="square" lIns="0" tIns="0" rIns="0" bIns="0" rtlCol="0" anchor="t"/>
          <a:lstStyle/>
          <a:p>
            <a:pPr indent="0" marL="0">
              <a:buNone/>
            </a:pPr>
            <a:r>
              <a:rPr lang="en-US" sz="1500" b="1" dirty="0">
                <a:solidFill>
                  <a:srgbClr val="12343B"/>
                </a:solidFill>
                <a:latin typeface="Calibri" pitchFamily="34" charset="0"/>
                <a:ea typeface="Calibri" pitchFamily="34" charset="-122"/>
                <a:cs typeface="Calibri" pitchFamily="34" charset="-120"/>
              </a:rPr>
              <a:t>Sheet 2: Sources</a:t>
            </a:r>
            <a:endParaRPr lang="en-US" sz="1500" dirty="0"/>
          </a:p>
        </p:txBody>
      </p:sp>
      <p:sp>
        <p:nvSpPr>
          <p:cNvPr id="13" name="Text 9"/>
          <p:cNvSpPr txBox="1"/>
          <p:nvPr/>
        </p:nvSpPr>
        <p:spPr>
          <a:xfrm>
            <a:off x="5212080" y="2194560"/>
            <a:ext cx="2560320" cy="411480"/>
          </a:xfrm>
          <a:prstGeom prst="rect">
            <a:avLst/>
          </a:prstGeom>
          <a:noFill/>
          <a:ln/>
        </p:spPr>
        <p:txBody>
          <a:bodyPr wrap="square" lIns="0" tIns="0" rIns="0" bIns="0" rtlCol="0" anchor="t"/>
          <a:lstStyle/>
          <a:p>
            <a:pPr indent="0" marL="0">
              <a:buNone/>
            </a:pPr>
            <a:r>
              <a:rPr lang="en-US" sz="1250" dirty="0">
                <a:solidFill>
                  <a:srgbClr val="1E2A30"/>
                </a:solidFill>
                <a:latin typeface="Calibri" pitchFamily="34" charset="0"/>
                <a:ea typeface="Calibri" pitchFamily="34" charset="-122"/>
                <a:cs typeface="Calibri" pitchFamily="34" charset="-120"/>
              </a:rPr>
              <a:t>Every publisher, link and access date</a:t>
            </a:r>
            <a:endParaRPr lang="en-US" sz="1250" dirty="0"/>
          </a:p>
        </p:txBody>
      </p:sp>
      <p:sp>
        <p:nvSpPr>
          <p:cNvPr id="14" name="Shape 10"/>
          <p:cNvSpPr/>
          <p:nvPr/>
        </p:nvSpPr>
        <p:spPr>
          <a:xfrm>
            <a:off x="8046720" y="1737360"/>
            <a:ext cx="3566160" cy="960120"/>
          </a:xfrm>
          <a:prstGeom prst="roundRect">
            <a:avLst>
              <a:gd name="adj" fmla="val 7619"/>
            </a:avLst>
          </a:prstGeom>
          <a:solidFill>
            <a:srgbClr val="EFF6F5"/>
          </a:solidFill>
          <a:ln w="12700">
            <a:solidFill>
              <a:srgbClr val="EFF6F5"/>
            </a:solidFill>
            <a:prstDash val="solid"/>
          </a:ln>
        </p:spPr>
      </p:sp>
      <p:sp>
        <p:nvSpPr>
          <p:cNvPr id="15" name="Shape 11"/>
          <p:cNvSpPr/>
          <p:nvPr/>
        </p:nvSpPr>
        <p:spPr>
          <a:xfrm>
            <a:off x="8229600" y="1920240"/>
            <a:ext cx="566928" cy="566928"/>
          </a:xfrm>
          <a:prstGeom prst="ellipse">
            <a:avLst/>
          </a:prstGeom>
          <a:solidFill>
            <a:srgbClr val="1F7A7A"/>
          </a:solidFill>
          <a:ln w="12700">
            <a:solidFill>
              <a:srgbClr val="1F7A7A"/>
            </a:solidFill>
            <a:prstDash val="solid"/>
          </a:ln>
        </p:spPr>
      </p:sp>
      <p:pic>
        <p:nvPicPr>
          <p:cNvPr id="16" name="Image 2" descr="preencoded.png">    </p:cNvPr>
          <p:cNvPicPr>
            <a:picLocks noChangeAspect="1"/>
          </p:cNvPicPr>
          <p:nvPr/>
        </p:nvPicPr>
        <p:blipFill>
          <a:blip r:embed="rId3"/>
          <a:stretch>
            <a:fillRect/>
          </a:stretch>
        </p:blipFill>
        <p:spPr>
          <a:xfrm>
            <a:off x="8377001" y="2067641"/>
            <a:ext cx="272125" cy="272125"/>
          </a:xfrm>
          <a:prstGeom prst="rect">
            <a:avLst/>
          </a:prstGeom>
        </p:spPr>
      </p:pic>
      <p:sp>
        <p:nvSpPr>
          <p:cNvPr id="17" name="Text 12"/>
          <p:cNvSpPr txBox="1"/>
          <p:nvPr/>
        </p:nvSpPr>
        <p:spPr>
          <a:xfrm>
            <a:off x="8961120" y="1856232"/>
            <a:ext cx="2560320" cy="320040"/>
          </a:xfrm>
          <a:prstGeom prst="rect">
            <a:avLst/>
          </a:prstGeom>
          <a:noFill/>
          <a:ln/>
        </p:spPr>
        <p:txBody>
          <a:bodyPr wrap="square" lIns="0" tIns="0" rIns="0" bIns="0" rtlCol="0" anchor="t"/>
          <a:lstStyle/>
          <a:p>
            <a:pPr indent="0" marL="0">
              <a:buNone/>
            </a:pPr>
            <a:r>
              <a:rPr lang="en-US" sz="1500" b="1" dirty="0">
                <a:solidFill>
                  <a:srgbClr val="12343B"/>
                </a:solidFill>
                <a:latin typeface="Calibri" pitchFamily="34" charset="0"/>
                <a:ea typeface="Calibri" pitchFamily="34" charset="-122"/>
                <a:cs typeface="Calibri" pitchFamily="34" charset="-120"/>
              </a:rPr>
              <a:t>Sheet 3: Metadata</a:t>
            </a:r>
            <a:endParaRPr lang="en-US" sz="1500" dirty="0"/>
          </a:p>
        </p:txBody>
      </p:sp>
      <p:sp>
        <p:nvSpPr>
          <p:cNvPr id="18" name="Text 13"/>
          <p:cNvSpPr txBox="1"/>
          <p:nvPr/>
        </p:nvSpPr>
        <p:spPr>
          <a:xfrm>
            <a:off x="8961120" y="2194560"/>
            <a:ext cx="2560320" cy="411480"/>
          </a:xfrm>
          <a:prstGeom prst="rect">
            <a:avLst/>
          </a:prstGeom>
          <a:noFill/>
          <a:ln/>
        </p:spPr>
        <p:txBody>
          <a:bodyPr wrap="square" lIns="0" tIns="0" rIns="0" bIns="0" rtlCol="0" anchor="t"/>
          <a:lstStyle/>
          <a:p>
            <a:pPr indent="0" marL="0">
              <a:buNone/>
            </a:pPr>
            <a:r>
              <a:rPr lang="en-US" sz="1250" dirty="0">
                <a:solidFill>
                  <a:srgbClr val="1E2A30"/>
                </a:solidFill>
                <a:latin typeface="Calibri" pitchFamily="34" charset="0"/>
                <a:ea typeface="Calibri" pitchFamily="34" charset="-122"/>
                <a:cs typeface="Calibri" pitchFamily="34" charset="-120"/>
              </a:rPr>
              <a:t>Country, currency, data edition, definitions</a:t>
            </a:r>
            <a:endParaRPr lang="en-US" sz="1250" dirty="0"/>
          </a:p>
        </p:txBody>
      </p:sp>
      <p:sp>
        <p:nvSpPr>
          <p:cNvPr id="19" name="Text 14"/>
          <p:cNvSpPr txBox="1"/>
          <p:nvPr/>
        </p:nvSpPr>
        <p:spPr>
          <a:xfrm>
            <a:off x="548640" y="2971800"/>
            <a:ext cx="7315200" cy="274320"/>
          </a:xfrm>
          <a:prstGeom prst="rect">
            <a:avLst/>
          </a:prstGeom>
          <a:noFill/>
          <a:ln/>
        </p:spPr>
        <p:txBody>
          <a:bodyPr wrap="square" lIns="0" tIns="0" rIns="0" bIns="0" rtlCol="0" anchor="t"/>
          <a:lstStyle/>
          <a:p>
            <a:pPr indent="0" marL="0">
              <a:buNone/>
            </a:pPr>
            <a:r>
              <a:rPr lang="en-US" sz="1200" b="1" spc="200" kern="0" dirty="0">
                <a:solidFill>
                  <a:srgbClr val="1F7A7A"/>
                </a:solidFill>
                <a:latin typeface="Calibri" pitchFamily="34" charset="0"/>
                <a:ea typeface="Calibri" pitchFamily="34" charset="-122"/>
                <a:cs typeface="Calibri" pitchFamily="34" charset="-120"/>
              </a:rPr>
              <a:t>COLUMNS IN THE INDICATORS SHEET (STRUCTURE ONLY)</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3310128"/>
          <a:ext cx="11094415" cy="914400"/>
        </p:xfrm>
        <a:graphic>
          <a:graphicData uri="http://schemas.openxmlformats.org/drawingml/2006/table">
            <a:tbl>
              <a:tblPr/>
              <a:tblGrid>
                <a:gridCol w="1920240"/>
                <a:gridCol w="1554480"/>
                <a:gridCol w="1417320"/>
                <a:gridCol w="1280160"/>
                <a:gridCol w="1508760"/>
                <a:gridCol w="1691640"/>
                <a:gridCol w="171907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Indicator</a:t>
                      </a:r>
                      <a:endParaRPr lang="en-US" sz="1300" dirty="0">
                        <a:latin typeface="Calibri" charset="0"/>
                        <a:ea typeface="Calibri" charset="0"/>
                        <a:cs typeface="Calibri" charset="0"/>
                      </a:endParaRPr>
                    </a:p>
                  </a:txBody>
                  <a:tcPr marL="73152" marR="73152" marT="73152" marB="73152">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3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Official code</a:t>
                      </a:r>
                      <a:endParaRPr lang="en-US" sz="1300" dirty="0">
                        <a:latin typeface="Calibri" charset="0"/>
                        <a:ea typeface="Calibri" charset="0"/>
                        <a:cs typeface="Calibri" charset="0"/>
                      </a:endParaRPr>
                    </a:p>
                  </a:txBody>
                  <a:tcPr marL="73152" marR="73152" marT="73152" marB="73152">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3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Year</a:t>
                      </a:r>
                      <a:endParaRPr lang="en-US" sz="1300" dirty="0">
                        <a:latin typeface="Calibri" charset="0"/>
                        <a:ea typeface="Calibri" charset="0"/>
                        <a:cs typeface="Calibri" charset="0"/>
                      </a:endParaRPr>
                    </a:p>
                  </a:txBody>
                  <a:tcPr marL="73152" marR="73152" marT="73152" marB="73152">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3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73152" marR="73152" marT="73152" marB="73152">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3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Unit</a:t>
                      </a:r>
                      <a:endParaRPr lang="en-US" sz="1300" dirty="0">
                        <a:latin typeface="Calibri" charset="0"/>
                        <a:ea typeface="Calibri" charset="0"/>
                        <a:cs typeface="Calibri" charset="0"/>
                      </a:endParaRPr>
                    </a:p>
                  </a:txBody>
                  <a:tcPr marL="73152" marR="73152" marT="73152" marB="73152">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3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Actual / forecast</a:t>
                      </a:r>
                      <a:endParaRPr lang="en-US" sz="1300" dirty="0">
                        <a:latin typeface="Calibri" charset="0"/>
                        <a:ea typeface="Calibri" charset="0"/>
                        <a:cs typeface="Calibri" charset="0"/>
                      </a:endParaRPr>
                    </a:p>
                  </a:txBody>
                  <a:tcPr marL="73152" marR="73152" marT="73152" marB="73152">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34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marL="73152" marR="73152" marT="73152" marB="73152">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12343B"/>
                    </a:solidFill>
                  </a:tcPr>
                </a:tc>
              </a:tr>
              <a:tr h="411480">
                <a:tc>
                  <a:txBody>
                    <a:bodyPr/>
                    <a:lstStyle/>
                    <a:p>
                      <a:pPr indent="0" marL="0">
                        <a:buNone/>
                      </a:pPr>
                      <a:r>
                        <a:rPr lang="en-US" sz="1200" dirty="0">
                          <a:solidFill>
                            <a:srgbClr val="5B6770"/>
                          </a:solidFill>
                          <a:latin typeface="Calibri" pitchFamily="34" charset="0"/>
                          <a:ea typeface="Calibri" pitchFamily="34" charset="-122"/>
                          <a:cs typeface="Calibri" pitchFamily="34" charset="-120"/>
                        </a:rPr>
                        <a:t>e.g. Real GDP growth</a:t>
                      </a:r>
                      <a:endParaRPr lang="en-US" sz="1200" dirty="0">
                        <a:latin typeface="Calibri" charset="0"/>
                        <a:ea typeface="Calibri" charset="0"/>
                        <a:cs typeface="Calibri" charset="0"/>
                      </a:endParaRPr>
                    </a:p>
                  </a:txBody>
                  <a:tcPr marL="73152" marR="73152" marT="73152" marB="73152">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200" dirty="0">
                          <a:solidFill>
                            <a:srgbClr val="5B6770"/>
                          </a:solidFill>
                          <a:latin typeface="Calibri" pitchFamily="34" charset="0"/>
                          <a:ea typeface="Calibri" pitchFamily="34" charset="-122"/>
                          <a:cs typeface="Calibri" pitchFamily="34" charset="-120"/>
                        </a:rPr>
                        <a:t>e.g. IMF code</a:t>
                      </a:r>
                      <a:endParaRPr lang="en-US" sz="1200" dirty="0">
                        <a:latin typeface="Calibri" charset="0"/>
                        <a:ea typeface="Calibri" charset="0"/>
                        <a:cs typeface="Calibri" charset="0"/>
                      </a:endParaRPr>
                    </a:p>
                  </a:txBody>
                  <a:tcPr marL="73152" marR="73152" marT="73152" marB="73152">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200" dirty="0">
                          <a:solidFill>
                            <a:srgbClr val="5B6770"/>
                          </a:solidFill>
                          <a:latin typeface="Calibri" pitchFamily="34" charset="0"/>
                          <a:ea typeface="Calibri" pitchFamily="34" charset="-122"/>
                          <a:cs typeface="Calibri" pitchFamily="34" charset="-120"/>
                        </a:rPr>
                        <a:t>One row per year</a:t>
                      </a:r>
                      <a:endParaRPr lang="en-US" sz="1200" dirty="0">
                        <a:latin typeface="Calibri" charset="0"/>
                        <a:ea typeface="Calibri" charset="0"/>
                        <a:cs typeface="Calibri" charset="0"/>
                      </a:endParaRPr>
                    </a:p>
                  </a:txBody>
                  <a:tcPr marL="73152" marR="73152" marT="73152" marB="73152">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200" dirty="0">
                          <a:solidFill>
                            <a:srgbClr val="5B6770"/>
                          </a:solidFill>
                          <a:latin typeface="Calibri" pitchFamily="34" charset="0"/>
                          <a:ea typeface="Calibri" pitchFamily="34" charset="-122"/>
                          <a:cs typeface="Calibri" pitchFamily="34" charset="-120"/>
                        </a:rPr>
                        <a:t>Number only</a:t>
                      </a:r>
                      <a:endParaRPr lang="en-US" sz="1200" dirty="0">
                        <a:latin typeface="Calibri" charset="0"/>
                        <a:ea typeface="Calibri" charset="0"/>
                        <a:cs typeface="Calibri" charset="0"/>
                      </a:endParaRPr>
                    </a:p>
                  </a:txBody>
                  <a:tcPr marL="73152" marR="73152" marT="73152" marB="73152">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200" dirty="0">
                          <a:solidFill>
                            <a:srgbClr val="5B6770"/>
                          </a:solidFill>
                          <a:latin typeface="Calibri" pitchFamily="34" charset="0"/>
                          <a:ea typeface="Calibri" pitchFamily="34" charset="-122"/>
                          <a:cs typeface="Calibri" pitchFamily="34" charset="-120"/>
                        </a:rPr>
                        <a:t>%, USD bn, index</a:t>
                      </a:r>
                      <a:endParaRPr lang="en-US" sz="1200" dirty="0">
                        <a:latin typeface="Calibri" charset="0"/>
                        <a:ea typeface="Calibri" charset="0"/>
                        <a:cs typeface="Calibri" charset="0"/>
                      </a:endParaRPr>
                    </a:p>
                  </a:txBody>
                  <a:tcPr marL="73152" marR="73152" marT="73152" marB="73152">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200" dirty="0">
                          <a:solidFill>
                            <a:srgbClr val="5B6770"/>
                          </a:solidFill>
                          <a:latin typeface="Calibri" pitchFamily="34" charset="0"/>
                          <a:ea typeface="Calibri" pitchFamily="34" charset="-122"/>
                          <a:cs typeface="Calibri" pitchFamily="34" charset="-120"/>
                        </a:rPr>
                        <a:t>The key flag</a:t>
                      </a:r>
                      <a:endParaRPr lang="en-US" sz="1200" dirty="0">
                        <a:latin typeface="Calibri" charset="0"/>
                        <a:ea typeface="Calibri" charset="0"/>
                        <a:cs typeface="Calibri" charset="0"/>
                      </a:endParaRPr>
                    </a:p>
                  </a:txBody>
                  <a:tcPr marL="73152" marR="73152" marT="73152" marB="73152">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c>
                  <a:txBody>
                    <a:bodyPr/>
                    <a:lstStyle/>
                    <a:p>
                      <a:pPr indent="0" marL="0">
                        <a:buNone/>
                      </a:pPr>
                      <a:r>
                        <a:rPr lang="en-US" sz="1200" dirty="0">
                          <a:solidFill>
                            <a:srgbClr val="5B6770"/>
                          </a:solidFill>
                          <a:latin typeface="Calibri" pitchFamily="34" charset="0"/>
                          <a:ea typeface="Calibri" pitchFamily="34" charset="-122"/>
                          <a:cs typeface="Calibri" pitchFamily="34" charset="-120"/>
                        </a:rPr>
                        <a:t>Publisher + link</a:t>
                      </a:r>
                      <a:endParaRPr lang="en-US" sz="1200" dirty="0">
                        <a:latin typeface="Calibri" charset="0"/>
                        <a:ea typeface="Calibri" charset="0"/>
                        <a:cs typeface="Calibri" charset="0"/>
                      </a:endParaRPr>
                    </a:p>
                  </a:txBody>
                  <a:tcPr marL="73152" marR="73152" marT="73152" marB="73152">
                    <a:lnL w="9525" cap="flat" cmpd="sng" algn="ctr">
                      <a:solidFill>
                        <a:srgbClr val="C9D3D6"/>
                      </a:solidFill>
                      <a:prstDash val="solid"/>
                      <a:round/>
                      <a:headEnd type="none" w="med" len="med"/>
                      <a:tailEnd type="none" w="med" len="med"/>
                    </a:lnL>
                    <a:lnR w="9525" cap="flat" cmpd="sng" algn="ctr">
                      <a:solidFill>
                        <a:srgbClr val="C9D3D6"/>
                      </a:solidFill>
                      <a:prstDash val="solid"/>
                      <a:round/>
                      <a:headEnd type="none" w="med" len="med"/>
                      <a:tailEnd type="none" w="med" len="med"/>
                    </a:lnR>
                    <a:lnT w="9525" cap="flat" cmpd="sng" algn="ctr">
                      <a:solidFill>
                        <a:srgbClr val="C9D3D6"/>
                      </a:solidFill>
                      <a:prstDash val="solid"/>
                      <a:round/>
                      <a:headEnd type="none" w="med" len="med"/>
                      <a:tailEnd type="none" w="med" len="med"/>
                    </a:lnT>
                    <a:lnB w="9525" cap="flat" cmpd="sng" algn="ctr">
                      <a:solidFill>
                        <a:srgbClr val="C9D3D6"/>
                      </a:solidFill>
                      <a:prstDash val="solid"/>
                      <a:round/>
                      <a:headEnd type="none" w="med" len="med"/>
                      <a:tailEnd type="none" w="med" len="med"/>
                    </a:lnB>
                    <a:solidFill>
                      <a:srgbClr val="FFFFFF"/>
                    </a:solidFill>
                  </a:tcPr>
                </a:tc>
              </a:tr>
            </a:tbl>
          </a:graphicData>
        </a:graphic>
      </p:graphicFrame>
      <p:sp>
        <p:nvSpPr>
          <p:cNvPr id="21" name="Text 15"/>
          <p:cNvSpPr txBox="1"/>
          <p:nvPr/>
        </p:nvSpPr>
        <p:spPr>
          <a:xfrm>
            <a:off x="548640" y="4480560"/>
            <a:ext cx="5486400" cy="274320"/>
          </a:xfrm>
          <a:prstGeom prst="rect">
            <a:avLst/>
          </a:prstGeom>
          <a:noFill/>
          <a:ln/>
        </p:spPr>
        <p:txBody>
          <a:bodyPr wrap="square" lIns="0" tIns="0" rIns="0" bIns="0" rtlCol="0" anchor="t"/>
          <a:lstStyle/>
          <a:p>
            <a:pPr indent="0" marL="0">
              <a:buNone/>
            </a:pPr>
            <a:r>
              <a:rPr lang="en-US" sz="1200" b="1" spc="200" kern="0" dirty="0">
                <a:solidFill>
                  <a:srgbClr val="1F7A7A"/>
                </a:solidFill>
                <a:latin typeface="Calibri" pitchFamily="34" charset="0"/>
                <a:ea typeface="Calibri" pitchFamily="34" charset="-122"/>
                <a:cs typeface="Calibri" pitchFamily="34" charset="-120"/>
              </a:rPr>
              <a:t>SIX INDICATOR GROUPS</a:t>
            </a:r>
            <a:endParaRPr lang="en-US" sz="1200" dirty="0"/>
          </a:p>
        </p:txBody>
      </p:sp>
      <p:sp>
        <p:nvSpPr>
          <p:cNvPr id="22" name="Shape 16"/>
          <p:cNvSpPr/>
          <p:nvPr/>
        </p:nvSpPr>
        <p:spPr>
          <a:xfrm>
            <a:off x="548640" y="4828032"/>
            <a:ext cx="1734769" cy="1234440"/>
          </a:xfrm>
          <a:prstGeom prst="roundRect">
            <a:avLst>
              <a:gd name="adj" fmla="val 5926"/>
            </a:avLst>
          </a:prstGeom>
          <a:solidFill>
            <a:srgbClr val="F4F6F7"/>
          </a:solidFill>
          <a:ln w="12700">
            <a:solidFill>
              <a:srgbClr val="F4F6F7"/>
            </a:solidFill>
            <a:prstDash val="solid"/>
          </a:ln>
        </p:spPr>
      </p:sp>
      <p:sp>
        <p:nvSpPr>
          <p:cNvPr id="23" name="Text 17"/>
          <p:cNvSpPr txBox="1"/>
          <p:nvPr/>
        </p:nvSpPr>
        <p:spPr>
          <a:xfrm>
            <a:off x="685800" y="4937760"/>
            <a:ext cx="1460449" cy="502920"/>
          </a:xfrm>
          <a:prstGeom prst="rect">
            <a:avLst/>
          </a:prstGeom>
          <a:noFill/>
          <a:ln/>
        </p:spPr>
        <p:txBody>
          <a:bodyPr wrap="square" lIns="0" tIns="0" rIns="0" bIns="0" rtlCol="0" anchor="t"/>
          <a:lstStyle/>
          <a:p>
            <a:pPr indent="0" marL="0">
              <a:buNone/>
            </a:pPr>
            <a:r>
              <a:rPr lang="en-US" sz="1300" b="1" dirty="0">
                <a:solidFill>
                  <a:srgbClr val="12343B"/>
                </a:solidFill>
                <a:latin typeface="Calibri" pitchFamily="34" charset="0"/>
                <a:ea typeface="Calibri" pitchFamily="34" charset="-122"/>
                <a:cs typeface="Calibri" pitchFamily="34" charset="-120"/>
              </a:rPr>
              <a:t>National accounts</a:t>
            </a:r>
            <a:endParaRPr lang="en-US" sz="1300" dirty="0"/>
          </a:p>
        </p:txBody>
      </p:sp>
      <p:sp>
        <p:nvSpPr>
          <p:cNvPr id="24" name="Text 18"/>
          <p:cNvSpPr txBox="1"/>
          <p:nvPr/>
        </p:nvSpPr>
        <p:spPr>
          <a:xfrm>
            <a:off x="685800" y="5440680"/>
            <a:ext cx="1460449" cy="548640"/>
          </a:xfrm>
          <a:prstGeom prst="rect">
            <a:avLst/>
          </a:prstGeom>
          <a:noFill/>
          <a:ln/>
        </p:spPr>
        <p:txBody>
          <a:bodyPr wrap="square" lIns="0" tIns="0" rIns="0" bIns="0" rtlCol="0" anchor="t"/>
          <a:lstStyle/>
          <a:p>
            <a:pPr indent="0" marL="0">
              <a:buNone/>
            </a:pPr>
            <a:r>
              <a:rPr lang="en-US" sz="1150" dirty="0">
                <a:solidFill>
                  <a:srgbClr val="1E2A30"/>
                </a:solidFill>
                <a:latin typeface="Calibri" pitchFamily="34" charset="0"/>
                <a:ea typeface="Calibri" pitchFamily="34" charset="-122"/>
                <a:cs typeface="Calibri" pitchFamily="34" charset="-120"/>
              </a:rPr>
              <a:t>GDP, investment, consumption</a:t>
            </a:r>
            <a:endParaRPr lang="en-US" sz="1150" dirty="0"/>
          </a:p>
        </p:txBody>
      </p:sp>
      <p:sp>
        <p:nvSpPr>
          <p:cNvPr id="25" name="Shape 19"/>
          <p:cNvSpPr/>
          <p:nvPr/>
        </p:nvSpPr>
        <p:spPr>
          <a:xfrm>
            <a:off x="2420569" y="4828032"/>
            <a:ext cx="1734769" cy="1234440"/>
          </a:xfrm>
          <a:prstGeom prst="roundRect">
            <a:avLst>
              <a:gd name="adj" fmla="val 5926"/>
            </a:avLst>
          </a:prstGeom>
          <a:solidFill>
            <a:srgbClr val="EFF6F5"/>
          </a:solidFill>
          <a:ln w="12700">
            <a:solidFill>
              <a:srgbClr val="EFF6F5"/>
            </a:solidFill>
            <a:prstDash val="solid"/>
          </a:ln>
        </p:spPr>
      </p:sp>
      <p:sp>
        <p:nvSpPr>
          <p:cNvPr id="26" name="Text 20"/>
          <p:cNvSpPr txBox="1"/>
          <p:nvPr/>
        </p:nvSpPr>
        <p:spPr>
          <a:xfrm>
            <a:off x="2557729" y="4937760"/>
            <a:ext cx="1460449" cy="502920"/>
          </a:xfrm>
          <a:prstGeom prst="rect">
            <a:avLst/>
          </a:prstGeom>
          <a:noFill/>
          <a:ln/>
        </p:spPr>
        <p:txBody>
          <a:bodyPr wrap="square" lIns="0" tIns="0" rIns="0" bIns="0" rtlCol="0" anchor="t"/>
          <a:lstStyle/>
          <a:p>
            <a:pPr indent="0" marL="0">
              <a:buNone/>
            </a:pPr>
            <a:r>
              <a:rPr lang="en-US" sz="1300" b="1" dirty="0">
                <a:solidFill>
                  <a:srgbClr val="12343B"/>
                </a:solidFill>
                <a:latin typeface="Calibri" pitchFamily="34" charset="0"/>
                <a:ea typeface="Calibri" pitchFamily="34" charset="-122"/>
                <a:cs typeface="Calibri" pitchFamily="34" charset="-120"/>
              </a:rPr>
              <a:t>Prices</a:t>
            </a:r>
            <a:endParaRPr lang="en-US" sz="1300" dirty="0"/>
          </a:p>
        </p:txBody>
      </p:sp>
      <p:sp>
        <p:nvSpPr>
          <p:cNvPr id="27" name="Text 21"/>
          <p:cNvSpPr txBox="1"/>
          <p:nvPr/>
        </p:nvSpPr>
        <p:spPr>
          <a:xfrm>
            <a:off x="2557729" y="5440680"/>
            <a:ext cx="1460449" cy="548640"/>
          </a:xfrm>
          <a:prstGeom prst="rect">
            <a:avLst/>
          </a:prstGeom>
          <a:noFill/>
          <a:ln/>
        </p:spPr>
        <p:txBody>
          <a:bodyPr wrap="square" lIns="0" tIns="0" rIns="0" bIns="0" rtlCol="0" anchor="t"/>
          <a:lstStyle/>
          <a:p>
            <a:pPr indent="0" marL="0">
              <a:buNone/>
            </a:pPr>
            <a:r>
              <a:rPr lang="en-US" sz="1150" dirty="0">
                <a:solidFill>
                  <a:srgbClr val="1E2A30"/>
                </a:solidFill>
                <a:latin typeface="Calibri" pitchFamily="34" charset="0"/>
                <a:ea typeface="Calibri" pitchFamily="34" charset="-122"/>
                <a:cs typeface="Calibri" pitchFamily="34" charset="-120"/>
              </a:rPr>
              <a:t>Consumer and producer inflation</a:t>
            </a:r>
            <a:endParaRPr lang="en-US" sz="1150" dirty="0"/>
          </a:p>
        </p:txBody>
      </p:sp>
      <p:sp>
        <p:nvSpPr>
          <p:cNvPr id="28" name="Shape 22"/>
          <p:cNvSpPr/>
          <p:nvPr/>
        </p:nvSpPr>
        <p:spPr>
          <a:xfrm>
            <a:off x="4292498" y="4828032"/>
            <a:ext cx="1734769" cy="1234440"/>
          </a:xfrm>
          <a:prstGeom prst="roundRect">
            <a:avLst>
              <a:gd name="adj" fmla="val 5926"/>
            </a:avLst>
          </a:prstGeom>
          <a:solidFill>
            <a:srgbClr val="F4F6F7"/>
          </a:solidFill>
          <a:ln w="12700">
            <a:solidFill>
              <a:srgbClr val="F4F6F7"/>
            </a:solidFill>
            <a:prstDash val="solid"/>
          </a:ln>
        </p:spPr>
      </p:sp>
      <p:sp>
        <p:nvSpPr>
          <p:cNvPr id="29" name="Text 23"/>
          <p:cNvSpPr txBox="1"/>
          <p:nvPr/>
        </p:nvSpPr>
        <p:spPr>
          <a:xfrm>
            <a:off x="4429658" y="4937760"/>
            <a:ext cx="1460449" cy="502920"/>
          </a:xfrm>
          <a:prstGeom prst="rect">
            <a:avLst/>
          </a:prstGeom>
          <a:noFill/>
          <a:ln/>
        </p:spPr>
        <p:txBody>
          <a:bodyPr wrap="square" lIns="0" tIns="0" rIns="0" bIns="0" rtlCol="0" anchor="t"/>
          <a:lstStyle/>
          <a:p>
            <a:pPr indent="0" marL="0">
              <a:buNone/>
            </a:pPr>
            <a:r>
              <a:rPr lang="en-US" sz="1300" b="1" dirty="0">
                <a:solidFill>
                  <a:srgbClr val="12343B"/>
                </a:solidFill>
                <a:latin typeface="Calibri" pitchFamily="34" charset="0"/>
                <a:ea typeface="Calibri" pitchFamily="34" charset="-122"/>
                <a:cs typeface="Calibri" pitchFamily="34" charset="-120"/>
              </a:rPr>
              <a:t>Monetary</a:t>
            </a:r>
            <a:endParaRPr lang="en-US" sz="1300" dirty="0"/>
          </a:p>
        </p:txBody>
      </p:sp>
      <p:sp>
        <p:nvSpPr>
          <p:cNvPr id="30" name="Text 24"/>
          <p:cNvSpPr txBox="1"/>
          <p:nvPr/>
        </p:nvSpPr>
        <p:spPr>
          <a:xfrm>
            <a:off x="4429658" y="5440680"/>
            <a:ext cx="1460449" cy="548640"/>
          </a:xfrm>
          <a:prstGeom prst="rect">
            <a:avLst/>
          </a:prstGeom>
          <a:noFill/>
          <a:ln/>
        </p:spPr>
        <p:txBody>
          <a:bodyPr wrap="square" lIns="0" tIns="0" rIns="0" bIns="0" rtlCol="0" anchor="t"/>
          <a:lstStyle/>
          <a:p>
            <a:pPr indent="0" marL="0">
              <a:buNone/>
            </a:pPr>
            <a:r>
              <a:rPr lang="en-US" sz="1150" dirty="0">
                <a:solidFill>
                  <a:srgbClr val="1E2A30"/>
                </a:solidFill>
                <a:latin typeface="Calibri" pitchFamily="34" charset="0"/>
                <a:ea typeface="Calibri" pitchFamily="34" charset="-122"/>
                <a:cs typeface="Calibri" pitchFamily="34" charset="-120"/>
              </a:rPr>
              <a:t>Policy rate, lending rates, reserves</a:t>
            </a:r>
            <a:endParaRPr lang="en-US" sz="1150" dirty="0"/>
          </a:p>
        </p:txBody>
      </p:sp>
      <p:sp>
        <p:nvSpPr>
          <p:cNvPr id="31" name="Shape 25"/>
          <p:cNvSpPr/>
          <p:nvPr/>
        </p:nvSpPr>
        <p:spPr>
          <a:xfrm>
            <a:off x="6164428" y="4828032"/>
            <a:ext cx="1734769" cy="1234440"/>
          </a:xfrm>
          <a:prstGeom prst="roundRect">
            <a:avLst>
              <a:gd name="adj" fmla="val 5926"/>
            </a:avLst>
          </a:prstGeom>
          <a:solidFill>
            <a:srgbClr val="EFF6F5"/>
          </a:solidFill>
          <a:ln w="12700">
            <a:solidFill>
              <a:srgbClr val="EFF6F5"/>
            </a:solidFill>
            <a:prstDash val="solid"/>
          </a:ln>
        </p:spPr>
      </p:sp>
      <p:sp>
        <p:nvSpPr>
          <p:cNvPr id="32" name="Text 26"/>
          <p:cNvSpPr txBox="1"/>
          <p:nvPr/>
        </p:nvSpPr>
        <p:spPr>
          <a:xfrm>
            <a:off x="6301588" y="4937760"/>
            <a:ext cx="1460449" cy="502920"/>
          </a:xfrm>
          <a:prstGeom prst="rect">
            <a:avLst/>
          </a:prstGeom>
          <a:noFill/>
          <a:ln/>
        </p:spPr>
        <p:txBody>
          <a:bodyPr wrap="square" lIns="0" tIns="0" rIns="0" bIns="0" rtlCol="0" anchor="t"/>
          <a:lstStyle/>
          <a:p>
            <a:pPr indent="0" marL="0">
              <a:buNone/>
            </a:pPr>
            <a:r>
              <a:rPr lang="en-US" sz="1300" b="1" dirty="0">
                <a:solidFill>
                  <a:srgbClr val="12343B"/>
                </a:solidFill>
                <a:latin typeface="Calibri" pitchFamily="34" charset="0"/>
                <a:ea typeface="Calibri" pitchFamily="34" charset="-122"/>
                <a:cs typeface="Calibri" pitchFamily="34" charset="-120"/>
              </a:rPr>
              <a:t>Government finances</a:t>
            </a:r>
            <a:endParaRPr lang="en-US" sz="1300" dirty="0"/>
          </a:p>
        </p:txBody>
      </p:sp>
      <p:sp>
        <p:nvSpPr>
          <p:cNvPr id="33" name="Text 27"/>
          <p:cNvSpPr txBox="1"/>
          <p:nvPr/>
        </p:nvSpPr>
        <p:spPr>
          <a:xfrm>
            <a:off x="6301588" y="5440680"/>
            <a:ext cx="1460449" cy="548640"/>
          </a:xfrm>
          <a:prstGeom prst="rect">
            <a:avLst/>
          </a:prstGeom>
          <a:noFill/>
          <a:ln/>
        </p:spPr>
        <p:txBody>
          <a:bodyPr wrap="square" lIns="0" tIns="0" rIns="0" bIns="0" rtlCol="0" anchor="t"/>
          <a:lstStyle/>
          <a:p>
            <a:pPr indent="0" marL="0">
              <a:buNone/>
            </a:pPr>
            <a:r>
              <a:rPr lang="en-US" sz="1150" dirty="0">
                <a:solidFill>
                  <a:srgbClr val="1E2A30"/>
                </a:solidFill>
                <a:latin typeface="Calibri" pitchFamily="34" charset="0"/>
                <a:ea typeface="Calibri" pitchFamily="34" charset="-122"/>
                <a:cs typeface="Calibri" pitchFamily="34" charset="-120"/>
              </a:rPr>
              <a:t>Budget balance, public debt</a:t>
            </a:r>
            <a:endParaRPr lang="en-US" sz="1150" dirty="0"/>
          </a:p>
        </p:txBody>
      </p:sp>
      <p:sp>
        <p:nvSpPr>
          <p:cNvPr id="34" name="Shape 28"/>
          <p:cNvSpPr/>
          <p:nvPr/>
        </p:nvSpPr>
        <p:spPr>
          <a:xfrm>
            <a:off x="8036357" y="4828032"/>
            <a:ext cx="1734769" cy="1234440"/>
          </a:xfrm>
          <a:prstGeom prst="roundRect">
            <a:avLst>
              <a:gd name="adj" fmla="val 5926"/>
            </a:avLst>
          </a:prstGeom>
          <a:solidFill>
            <a:srgbClr val="F4F6F7"/>
          </a:solidFill>
          <a:ln w="12700">
            <a:solidFill>
              <a:srgbClr val="F4F6F7"/>
            </a:solidFill>
            <a:prstDash val="solid"/>
          </a:ln>
        </p:spPr>
      </p:sp>
      <p:sp>
        <p:nvSpPr>
          <p:cNvPr id="35" name="Text 29"/>
          <p:cNvSpPr txBox="1"/>
          <p:nvPr/>
        </p:nvSpPr>
        <p:spPr>
          <a:xfrm>
            <a:off x="8173517" y="4937760"/>
            <a:ext cx="1460449" cy="502920"/>
          </a:xfrm>
          <a:prstGeom prst="rect">
            <a:avLst/>
          </a:prstGeom>
          <a:noFill/>
          <a:ln/>
        </p:spPr>
        <p:txBody>
          <a:bodyPr wrap="square" lIns="0" tIns="0" rIns="0" bIns="0" rtlCol="0" anchor="t"/>
          <a:lstStyle/>
          <a:p>
            <a:pPr indent="0" marL="0">
              <a:buNone/>
            </a:pPr>
            <a:r>
              <a:rPr lang="en-US" sz="1300" b="1" dirty="0">
                <a:solidFill>
                  <a:srgbClr val="12343B"/>
                </a:solidFill>
                <a:latin typeface="Calibri" pitchFamily="34" charset="0"/>
                <a:ea typeface="Calibri" pitchFamily="34" charset="-122"/>
                <a:cs typeface="Calibri" pitchFamily="34" charset="-120"/>
              </a:rPr>
              <a:t>External</a:t>
            </a:r>
            <a:endParaRPr lang="en-US" sz="1300" dirty="0"/>
          </a:p>
        </p:txBody>
      </p:sp>
      <p:sp>
        <p:nvSpPr>
          <p:cNvPr id="36" name="Text 30"/>
          <p:cNvSpPr txBox="1"/>
          <p:nvPr/>
        </p:nvSpPr>
        <p:spPr>
          <a:xfrm>
            <a:off x="8173517" y="5440680"/>
            <a:ext cx="1460449" cy="548640"/>
          </a:xfrm>
          <a:prstGeom prst="rect">
            <a:avLst/>
          </a:prstGeom>
          <a:noFill/>
          <a:ln/>
        </p:spPr>
        <p:txBody>
          <a:bodyPr wrap="square" lIns="0" tIns="0" rIns="0" bIns="0" rtlCol="0" anchor="t"/>
          <a:lstStyle/>
          <a:p>
            <a:pPr indent="0" marL="0">
              <a:buNone/>
            </a:pPr>
            <a:r>
              <a:rPr lang="en-US" sz="1150" dirty="0">
                <a:solidFill>
                  <a:srgbClr val="1E2A30"/>
                </a:solidFill>
                <a:latin typeface="Calibri" pitchFamily="34" charset="0"/>
                <a:ea typeface="Calibri" pitchFamily="34" charset="-122"/>
                <a:cs typeface="Calibri" pitchFamily="34" charset="-120"/>
              </a:rPr>
              <a:t>Exchange rate, trade, current account</a:t>
            </a:r>
            <a:endParaRPr lang="en-US" sz="1150" dirty="0"/>
          </a:p>
        </p:txBody>
      </p:sp>
      <p:sp>
        <p:nvSpPr>
          <p:cNvPr id="37" name="Shape 31"/>
          <p:cNvSpPr/>
          <p:nvPr/>
        </p:nvSpPr>
        <p:spPr>
          <a:xfrm>
            <a:off x="9908286" y="4828032"/>
            <a:ext cx="1734769" cy="1234440"/>
          </a:xfrm>
          <a:prstGeom prst="roundRect">
            <a:avLst>
              <a:gd name="adj" fmla="val 5926"/>
            </a:avLst>
          </a:prstGeom>
          <a:solidFill>
            <a:srgbClr val="EFF6F5"/>
          </a:solidFill>
          <a:ln w="12700">
            <a:solidFill>
              <a:srgbClr val="EFF6F5"/>
            </a:solidFill>
            <a:prstDash val="solid"/>
          </a:ln>
        </p:spPr>
      </p:sp>
      <p:sp>
        <p:nvSpPr>
          <p:cNvPr id="38" name="Text 32"/>
          <p:cNvSpPr txBox="1"/>
          <p:nvPr/>
        </p:nvSpPr>
        <p:spPr>
          <a:xfrm>
            <a:off x="10045446" y="4937760"/>
            <a:ext cx="1460449" cy="502920"/>
          </a:xfrm>
          <a:prstGeom prst="rect">
            <a:avLst/>
          </a:prstGeom>
          <a:noFill/>
          <a:ln/>
        </p:spPr>
        <p:txBody>
          <a:bodyPr wrap="square" lIns="0" tIns="0" rIns="0" bIns="0" rtlCol="0" anchor="t"/>
          <a:lstStyle/>
          <a:p>
            <a:pPr indent="0" marL="0">
              <a:buNone/>
            </a:pPr>
            <a:r>
              <a:rPr lang="en-US" sz="1300" b="1" dirty="0">
                <a:solidFill>
                  <a:srgbClr val="12343B"/>
                </a:solidFill>
                <a:latin typeface="Calibri" pitchFamily="34" charset="0"/>
                <a:ea typeface="Calibri" pitchFamily="34" charset="-122"/>
                <a:cs typeface="Calibri" pitchFamily="34" charset="-120"/>
              </a:rPr>
              <a:t>Labour and population</a:t>
            </a:r>
            <a:endParaRPr lang="en-US" sz="1300" dirty="0"/>
          </a:p>
        </p:txBody>
      </p:sp>
      <p:sp>
        <p:nvSpPr>
          <p:cNvPr id="39" name="Text 33"/>
          <p:cNvSpPr txBox="1"/>
          <p:nvPr/>
        </p:nvSpPr>
        <p:spPr>
          <a:xfrm>
            <a:off x="10045446" y="5440680"/>
            <a:ext cx="1460449" cy="548640"/>
          </a:xfrm>
          <a:prstGeom prst="rect">
            <a:avLst/>
          </a:prstGeom>
          <a:noFill/>
          <a:ln/>
        </p:spPr>
        <p:txBody>
          <a:bodyPr wrap="square" lIns="0" tIns="0" rIns="0" bIns="0" rtlCol="0" anchor="t"/>
          <a:lstStyle/>
          <a:p>
            <a:pPr indent="0" marL="0">
              <a:buNone/>
            </a:pPr>
            <a:r>
              <a:rPr lang="en-US" sz="1150" dirty="0">
                <a:solidFill>
                  <a:srgbClr val="1E2A30"/>
                </a:solidFill>
                <a:latin typeface="Calibri" pitchFamily="34" charset="0"/>
                <a:ea typeface="Calibri" pitchFamily="34" charset="-122"/>
                <a:cs typeface="Calibri" pitchFamily="34" charset="-120"/>
              </a:rPr>
              <a:t>Unemployment, labour force</a:t>
            </a:r>
            <a:endParaRPr lang="en-US" sz="1150" dirty="0"/>
          </a:p>
        </p:txBody>
      </p:sp>
      <p:sp>
        <p:nvSpPr>
          <p:cNvPr id="40" name="Text 34"/>
          <p:cNvSpPr txBox="1"/>
          <p:nvPr/>
        </p:nvSpPr>
        <p:spPr>
          <a:xfrm>
            <a:off x="548640" y="6473952"/>
            <a:ext cx="6400800" cy="228600"/>
          </a:xfrm>
          <a:prstGeom prst="rect">
            <a:avLst/>
          </a:prstGeom>
          <a:noFill/>
          <a:ln/>
        </p:spPr>
        <p:txBody>
          <a:bodyPr wrap="square" lIns="0" tIns="0" rIns="0" bIns="0" rtlCol="0" anchor="t"/>
          <a:lstStyle/>
          <a:p>
            <a:pPr indent="0" marL="0">
              <a:buNone/>
            </a:pPr>
            <a:r>
              <a:rPr lang="en-US" sz="900" dirty="0">
                <a:solidFill>
                  <a:srgbClr val="95A1A8"/>
                </a:solidFill>
                <a:latin typeface="Calibri" pitchFamily="34" charset="0"/>
                <a:ea typeface="Calibri" pitchFamily="34" charset="-122"/>
                <a:cs typeface="Calibri" pitchFamily="34" charset="-120"/>
              </a:rPr>
              <a:t>Macroenvironment Agent · Business Requirements · Board review</a:t>
            </a:r>
            <a:endParaRPr lang="en-US" sz="900" dirty="0"/>
          </a:p>
        </p:txBody>
      </p:sp>
      <p:sp>
        <p:nvSpPr>
          <p:cNvPr id="41" name="Text 35"/>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95A1A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84048"/>
            <a:ext cx="11094415" cy="685800"/>
          </a:xfrm>
          <a:prstGeom prst="rect">
            <a:avLst/>
          </a:prstGeom>
          <a:noFill/>
          <a:ln/>
        </p:spPr>
        <p:txBody>
          <a:bodyPr wrap="square" lIns="0" tIns="0" rIns="0" bIns="0" rtlCol="0" anchor="ctr"/>
          <a:lstStyle/>
          <a:p>
            <a:pPr indent="0" marL="0">
              <a:buNone/>
            </a:pPr>
            <a:r>
              <a:rPr lang="en-US" sz="3000" b="1" dirty="0">
                <a:solidFill>
                  <a:srgbClr val="12343B"/>
                </a:solidFill>
                <a:latin typeface="Cambria" pitchFamily="34" charset="0"/>
                <a:ea typeface="Cambria" pitchFamily="34" charset="-122"/>
                <a:cs typeface="Cambria" pitchFamily="34" charset="-120"/>
              </a:rPr>
              <a:t>How the agent works</a:t>
            </a:r>
            <a:endParaRPr lang="en-US" sz="3000" dirty="0"/>
          </a:p>
        </p:txBody>
      </p:sp>
      <p:sp>
        <p:nvSpPr>
          <p:cNvPr id="3" name="Text 1"/>
          <p:cNvSpPr txBox="1"/>
          <p:nvPr/>
        </p:nvSpPr>
        <p:spPr>
          <a:xfrm>
            <a:off x="548640" y="1069848"/>
            <a:ext cx="11094415" cy="411480"/>
          </a:xfrm>
          <a:prstGeom prst="rect">
            <a:avLst/>
          </a:prstGeom>
          <a:noFill/>
          <a:ln/>
        </p:spPr>
        <p:txBody>
          <a:bodyPr wrap="square" lIns="0" tIns="0" rIns="0" bIns="0" rtlCol="0" anchor="t"/>
          <a:lstStyle/>
          <a:p>
            <a:pPr indent="0" marL="0">
              <a:buNone/>
            </a:pPr>
            <a:r>
              <a:rPr lang="en-US" sz="1500" dirty="0">
                <a:solidFill>
                  <a:srgbClr val="5B6770"/>
                </a:solidFill>
                <a:latin typeface="Calibri" pitchFamily="34" charset="0"/>
                <a:ea typeface="Calibri" pitchFamily="34" charset="-122"/>
                <a:cs typeface="Calibri" pitchFamily="34" charset="-120"/>
              </a:rPr>
              <a:t>Six steps from client request to release</a:t>
            </a:r>
            <a:endParaRPr lang="en-US" sz="1500" dirty="0"/>
          </a:p>
        </p:txBody>
      </p:sp>
      <p:sp>
        <p:nvSpPr>
          <p:cNvPr id="4" name="Shape 2"/>
          <p:cNvSpPr/>
          <p:nvPr/>
        </p:nvSpPr>
        <p:spPr>
          <a:xfrm>
            <a:off x="1473175" y="2331720"/>
            <a:ext cx="9245346" cy="0"/>
          </a:xfrm>
          <a:prstGeom prst="line">
            <a:avLst/>
          </a:prstGeom>
          <a:noFill/>
          <a:ln w="38100">
            <a:solidFill>
              <a:srgbClr val="C9D3D6"/>
            </a:solidFill>
            <a:prstDash val="solid"/>
          </a:ln>
        </p:spPr>
      </p:sp>
      <p:sp>
        <p:nvSpPr>
          <p:cNvPr id="5" name="Shape 3"/>
          <p:cNvSpPr/>
          <p:nvPr/>
        </p:nvSpPr>
        <p:spPr>
          <a:xfrm>
            <a:off x="1015975" y="1874520"/>
            <a:ext cx="914400" cy="914400"/>
          </a:xfrm>
          <a:prstGeom prst="ellipse">
            <a:avLst/>
          </a:prstGeom>
          <a:solidFill>
            <a:srgbClr val="1F7A7A"/>
          </a:solidFill>
          <a:ln w="12700">
            <a:solidFill>
              <a:srgbClr val="1F7A7A"/>
            </a:solidFill>
            <a:prstDash val="solid"/>
          </a:ln>
        </p:spPr>
      </p:sp>
      <p:pic>
        <p:nvPicPr>
          <p:cNvPr id="6" name="Image 0" descr="preencoded.png">    </p:cNvPr>
          <p:cNvPicPr>
            <a:picLocks noChangeAspect="1"/>
          </p:cNvPicPr>
          <p:nvPr/>
        </p:nvPicPr>
        <p:blipFill>
          <a:blip r:embed="rId1"/>
          <a:stretch>
            <a:fillRect/>
          </a:stretch>
        </p:blipFill>
        <p:spPr>
          <a:xfrm>
            <a:off x="1253719" y="2112264"/>
            <a:ext cx="438912" cy="438912"/>
          </a:xfrm>
          <a:prstGeom prst="rect">
            <a:avLst/>
          </a:prstGeom>
        </p:spPr>
      </p:pic>
      <p:sp>
        <p:nvSpPr>
          <p:cNvPr id="7" name="Text 4"/>
          <p:cNvSpPr txBox="1"/>
          <p:nvPr/>
        </p:nvSpPr>
        <p:spPr>
          <a:xfrm>
            <a:off x="548640" y="2926080"/>
            <a:ext cx="1849069" cy="274320"/>
          </a:xfrm>
          <a:prstGeom prst="rect">
            <a:avLst/>
          </a:prstGeom>
          <a:noFill/>
          <a:ln/>
        </p:spPr>
        <p:txBody>
          <a:bodyPr wrap="square" lIns="0" tIns="0" rIns="0" bIns="0" rtlCol="0" anchor="t"/>
          <a:lstStyle/>
          <a:p>
            <a:pPr algn="ctr" indent="0" marL="0">
              <a:buNone/>
            </a:pPr>
            <a:r>
              <a:rPr lang="en-US" sz="1100" b="1" spc="200" kern="0" dirty="0">
                <a:solidFill>
                  <a:srgbClr val="1F7A7A"/>
                </a:solidFill>
                <a:latin typeface="Calibri" pitchFamily="34" charset="0"/>
                <a:ea typeface="Calibri" pitchFamily="34" charset="-122"/>
                <a:cs typeface="Calibri" pitchFamily="34" charset="-120"/>
              </a:rPr>
              <a:t>STEP 1</a:t>
            </a:r>
            <a:endParaRPr lang="en-US" sz="1100" dirty="0"/>
          </a:p>
        </p:txBody>
      </p:sp>
      <p:sp>
        <p:nvSpPr>
          <p:cNvPr id="8" name="Text 5"/>
          <p:cNvSpPr txBox="1"/>
          <p:nvPr/>
        </p:nvSpPr>
        <p:spPr>
          <a:xfrm>
            <a:off x="640080" y="3200400"/>
            <a:ext cx="1666189" cy="640080"/>
          </a:xfrm>
          <a:prstGeom prst="rect">
            <a:avLst/>
          </a:prstGeom>
          <a:noFill/>
          <a:ln/>
        </p:spPr>
        <p:txBody>
          <a:bodyPr wrap="square" lIns="0" tIns="0" rIns="0" bIns="0" rtlCol="0" anchor="t"/>
          <a:lstStyle/>
          <a:p>
            <a:pPr algn="ctr" indent="0" marL="0">
              <a:buNone/>
            </a:pPr>
            <a:r>
              <a:rPr lang="en-US" sz="1500" b="1" dirty="0">
                <a:solidFill>
                  <a:srgbClr val="12343B"/>
                </a:solidFill>
                <a:latin typeface="Calibri" pitchFamily="34" charset="0"/>
                <a:ea typeface="Calibri" pitchFamily="34" charset="-122"/>
                <a:cs typeface="Calibri" pitchFamily="34" charset="-120"/>
              </a:rPr>
              <a:t>Client data capture</a:t>
            </a:r>
            <a:endParaRPr lang="en-US" sz="1500" dirty="0"/>
          </a:p>
        </p:txBody>
      </p:sp>
      <p:sp>
        <p:nvSpPr>
          <p:cNvPr id="9" name="Text 6"/>
          <p:cNvSpPr txBox="1"/>
          <p:nvPr/>
        </p:nvSpPr>
        <p:spPr>
          <a:xfrm>
            <a:off x="685800" y="3886200"/>
            <a:ext cx="1574749" cy="914400"/>
          </a:xfrm>
          <a:prstGeom prst="rect">
            <a:avLst/>
          </a:prstGeom>
          <a:noFill/>
          <a:ln/>
        </p:spPr>
        <p:txBody>
          <a:bodyPr wrap="square" lIns="0" tIns="0" rIns="0" bIns="0" rtlCol="0" anchor="t"/>
          <a:lstStyle/>
          <a:p>
            <a:pPr algn="ctr" indent="0" marL="0">
              <a:buNone/>
            </a:pPr>
            <a:r>
              <a:rPr lang="en-US" sz="1250" dirty="0">
                <a:solidFill>
                  <a:srgbClr val="1E2A30"/>
                </a:solidFill>
                <a:latin typeface="Calibri" pitchFamily="34" charset="0"/>
                <a:ea typeface="Calibri" pitchFamily="34" charset="-122"/>
                <a:cs typeface="Calibri" pitchFamily="34" charset="-120"/>
              </a:rPr>
              <a:t>Checks the four mandatory inputs</a:t>
            </a:r>
            <a:endParaRPr lang="en-US" sz="1250" dirty="0"/>
          </a:p>
        </p:txBody>
      </p:sp>
      <p:sp>
        <p:nvSpPr>
          <p:cNvPr id="10" name="Shape 7"/>
          <p:cNvSpPr/>
          <p:nvPr/>
        </p:nvSpPr>
        <p:spPr>
          <a:xfrm>
            <a:off x="640080" y="4983480"/>
            <a:ext cx="1666189" cy="1005840"/>
          </a:xfrm>
          <a:prstGeom prst="roundRect">
            <a:avLst>
              <a:gd name="adj" fmla="val 7273"/>
            </a:avLst>
          </a:prstGeom>
          <a:solidFill>
            <a:srgbClr val="EFF6F5"/>
          </a:solidFill>
          <a:ln w="12700">
            <a:solidFill>
              <a:srgbClr val="EFF6F5"/>
            </a:solidFill>
            <a:prstDash val="solid"/>
          </a:ln>
        </p:spPr>
      </p:sp>
      <p:sp>
        <p:nvSpPr>
          <p:cNvPr id="11" name="Text 8"/>
          <p:cNvSpPr txBox="1"/>
          <p:nvPr/>
        </p:nvSpPr>
        <p:spPr>
          <a:xfrm>
            <a:off x="731520" y="4983480"/>
            <a:ext cx="1483309" cy="1005840"/>
          </a:xfrm>
          <a:prstGeom prst="rect">
            <a:avLst/>
          </a:prstGeom>
          <a:noFill/>
          <a:ln/>
        </p:spPr>
        <p:txBody>
          <a:bodyPr wrap="square" lIns="0" tIns="0" rIns="0" bIns="0" rtlCol="0" anchor="ctr"/>
          <a:lstStyle/>
          <a:p>
            <a:pPr algn="ctr" indent="0" marL="0">
              <a:buNone/>
            </a:pPr>
            <a:r>
              <a:rPr lang="en-US" sz="1250" b="1" dirty="0">
                <a:solidFill>
                  <a:srgbClr val="1F7A7A"/>
                </a:solidFill>
                <a:latin typeface="Calibri" pitchFamily="34" charset="0"/>
                <a:ea typeface="Calibri" pitchFamily="34" charset="-122"/>
                <a:cs typeface="Calibri" pitchFamily="34" charset="-120"/>
              </a:rPr>
              <a:t>No study starts on an assumption</a:t>
            </a:r>
            <a:endParaRPr lang="en-US" sz="1250" dirty="0"/>
          </a:p>
        </p:txBody>
      </p:sp>
      <p:sp>
        <p:nvSpPr>
          <p:cNvPr id="12" name="Shape 9"/>
          <p:cNvSpPr/>
          <p:nvPr/>
        </p:nvSpPr>
        <p:spPr>
          <a:xfrm>
            <a:off x="2865044" y="1874520"/>
            <a:ext cx="914400" cy="914400"/>
          </a:xfrm>
          <a:prstGeom prst="ellipse">
            <a:avLst/>
          </a:prstGeom>
          <a:solidFill>
            <a:srgbClr val="1F7A7A"/>
          </a:solidFill>
          <a:ln w="12700">
            <a:solidFill>
              <a:srgbClr val="1F7A7A"/>
            </a:solidFill>
            <a:prstDash val="solid"/>
          </a:ln>
        </p:spPr>
      </p:sp>
      <p:pic>
        <p:nvPicPr>
          <p:cNvPr id="13" name="Image 1" descr="preencoded.png">    </p:cNvPr>
          <p:cNvPicPr>
            <a:picLocks noChangeAspect="1"/>
          </p:cNvPicPr>
          <p:nvPr/>
        </p:nvPicPr>
        <p:blipFill>
          <a:blip r:embed="rId2"/>
          <a:stretch>
            <a:fillRect/>
          </a:stretch>
        </p:blipFill>
        <p:spPr>
          <a:xfrm>
            <a:off x="3102788" y="2112264"/>
            <a:ext cx="438912" cy="438912"/>
          </a:xfrm>
          <a:prstGeom prst="rect">
            <a:avLst/>
          </a:prstGeom>
        </p:spPr>
      </p:pic>
      <p:sp>
        <p:nvSpPr>
          <p:cNvPr id="14" name="Text 10"/>
          <p:cNvSpPr txBox="1"/>
          <p:nvPr/>
        </p:nvSpPr>
        <p:spPr>
          <a:xfrm>
            <a:off x="2397709" y="2926080"/>
            <a:ext cx="1849069" cy="274320"/>
          </a:xfrm>
          <a:prstGeom prst="rect">
            <a:avLst/>
          </a:prstGeom>
          <a:noFill/>
          <a:ln/>
        </p:spPr>
        <p:txBody>
          <a:bodyPr wrap="square" lIns="0" tIns="0" rIns="0" bIns="0" rtlCol="0" anchor="t"/>
          <a:lstStyle/>
          <a:p>
            <a:pPr algn="ctr" indent="0" marL="0">
              <a:buNone/>
            </a:pPr>
            <a:r>
              <a:rPr lang="en-US" sz="1100" b="1" spc="200" kern="0" dirty="0">
                <a:solidFill>
                  <a:srgbClr val="1F7A7A"/>
                </a:solidFill>
                <a:latin typeface="Calibri" pitchFamily="34" charset="0"/>
                <a:ea typeface="Calibri" pitchFamily="34" charset="-122"/>
                <a:cs typeface="Calibri" pitchFamily="34" charset="-120"/>
              </a:rPr>
              <a:t>STEP 2</a:t>
            </a:r>
            <a:endParaRPr lang="en-US" sz="1100" dirty="0"/>
          </a:p>
        </p:txBody>
      </p:sp>
      <p:sp>
        <p:nvSpPr>
          <p:cNvPr id="15" name="Text 11"/>
          <p:cNvSpPr txBox="1"/>
          <p:nvPr/>
        </p:nvSpPr>
        <p:spPr>
          <a:xfrm>
            <a:off x="2489149" y="3200400"/>
            <a:ext cx="1666189" cy="640080"/>
          </a:xfrm>
          <a:prstGeom prst="rect">
            <a:avLst/>
          </a:prstGeom>
          <a:noFill/>
          <a:ln/>
        </p:spPr>
        <p:txBody>
          <a:bodyPr wrap="square" lIns="0" tIns="0" rIns="0" bIns="0" rtlCol="0" anchor="t"/>
          <a:lstStyle/>
          <a:p>
            <a:pPr algn="ctr" indent="0" marL="0">
              <a:buNone/>
            </a:pPr>
            <a:r>
              <a:rPr lang="en-US" sz="1500" b="1" dirty="0">
                <a:solidFill>
                  <a:srgbClr val="12343B"/>
                </a:solidFill>
                <a:latin typeface="Calibri" pitchFamily="34" charset="0"/>
                <a:ea typeface="Calibri" pitchFamily="34" charset="-122"/>
                <a:cs typeface="Calibri" pitchFamily="34" charset="-120"/>
              </a:rPr>
              <a:t>Official source extraction</a:t>
            </a:r>
            <a:endParaRPr lang="en-US" sz="1500" dirty="0"/>
          </a:p>
        </p:txBody>
      </p:sp>
      <p:sp>
        <p:nvSpPr>
          <p:cNvPr id="16" name="Text 12"/>
          <p:cNvSpPr txBox="1"/>
          <p:nvPr/>
        </p:nvSpPr>
        <p:spPr>
          <a:xfrm>
            <a:off x="2534869" y="3886200"/>
            <a:ext cx="1574749" cy="914400"/>
          </a:xfrm>
          <a:prstGeom prst="rect">
            <a:avLst/>
          </a:prstGeom>
          <a:noFill/>
          <a:ln/>
        </p:spPr>
        <p:txBody>
          <a:bodyPr wrap="square" lIns="0" tIns="0" rIns="0" bIns="0" rtlCol="0" anchor="t"/>
          <a:lstStyle/>
          <a:p>
            <a:pPr algn="ctr" indent="0" marL="0">
              <a:buNone/>
            </a:pPr>
            <a:r>
              <a:rPr lang="en-US" sz="1250" dirty="0">
                <a:solidFill>
                  <a:srgbClr val="1E2A30"/>
                </a:solidFill>
                <a:latin typeface="Calibri" pitchFamily="34" charset="0"/>
                <a:ea typeface="Calibri" pitchFamily="34" charset="-122"/>
                <a:cs typeface="Calibri" pitchFamily="34" charset="-120"/>
              </a:rPr>
              <a:t>IMF, World Bank, central bank, statistics office</a:t>
            </a:r>
            <a:endParaRPr lang="en-US" sz="1250" dirty="0"/>
          </a:p>
        </p:txBody>
      </p:sp>
      <p:sp>
        <p:nvSpPr>
          <p:cNvPr id="17" name="Shape 13"/>
          <p:cNvSpPr/>
          <p:nvPr/>
        </p:nvSpPr>
        <p:spPr>
          <a:xfrm>
            <a:off x="2489149" y="4983480"/>
            <a:ext cx="1666189" cy="1005840"/>
          </a:xfrm>
          <a:prstGeom prst="roundRect">
            <a:avLst>
              <a:gd name="adj" fmla="val 7273"/>
            </a:avLst>
          </a:prstGeom>
          <a:solidFill>
            <a:srgbClr val="EFF6F5"/>
          </a:solidFill>
          <a:ln w="12700">
            <a:solidFill>
              <a:srgbClr val="EFF6F5"/>
            </a:solidFill>
            <a:prstDash val="solid"/>
          </a:ln>
        </p:spPr>
      </p:sp>
      <p:sp>
        <p:nvSpPr>
          <p:cNvPr id="18" name="Text 14"/>
          <p:cNvSpPr txBox="1"/>
          <p:nvPr/>
        </p:nvSpPr>
        <p:spPr>
          <a:xfrm>
            <a:off x="2580589" y="4983480"/>
            <a:ext cx="1483309" cy="1005840"/>
          </a:xfrm>
          <a:prstGeom prst="rect">
            <a:avLst/>
          </a:prstGeom>
          <a:noFill/>
          <a:ln/>
        </p:spPr>
        <p:txBody>
          <a:bodyPr wrap="square" lIns="0" tIns="0" rIns="0" bIns="0" rtlCol="0" anchor="ctr"/>
          <a:lstStyle/>
          <a:p>
            <a:pPr algn="ctr" indent="0" marL="0">
              <a:buNone/>
            </a:pPr>
            <a:r>
              <a:rPr lang="en-US" sz="1250" b="1" dirty="0">
                <a:solidFill>
                  <a:srgbClr val="1F7A7A"/>
                </a:solidFill>
                <a:latin typeface="Calibri" pitchFamily="34" charset="0"/>
                <a:ea typeface="Calibri" pitchFamily="34" charset="-122"/>
                <a:cs typeface="Calibri" pitchFamily="34" charset="-120"/>
              </a:rPr>
              <a:t>Data from institutions governments cite</a:t>
            </a:r>
            <a:endParaRPr lang="en-US" sz="1250" dirty="0"/>
          </a:p>
        </p:txBody>
      </p:sp>
      <p:sp>
        <p:nvSpPr>
          <p:cNvPr id="19" name="Shape 15"/>
          <p:cNvSpPr/>
          <p:nvPr/>
        </p:nvSpPr>
        <p:spPr>
          <a:xfrm>
            <a:off x="4714113" y="1874520"/>
            <a:ext cx="914400" cy="914400"/>
          </a:xfrm>
          <a:prstGeom prst="ellipse">
            <a:avLst/>
          </a:prstGeom>
          <a:solidFill>
            <a:srgbClr val="B8862B"/>
          </a:solidFill>
          <a:ln w="12700">
            <a:solidFill>
              <a:srgbClr val="B8862B"/>
            </a:solidFill>
            <a:prstDash val="solid"/>
          </a:ln>
        </p:spPr>
      </p:sp>
      <p:pic>
        <p:nvPicPr>
          <p:cNvPr id="20" name="Image 2" descr="preencoded.png">    </p:cNvPr>
          <p:cNvPicPr>
            <a:picLocks noChangeAspect="1"/>
          </p:cNvPicPr>
          <p:nvPr/>
        </p:nvPicPr>
        <p:blipFill>
          <a:blip r:embed="rId3"/>
          <a:stretch>
            <a:fillRect/>
          </a:stretch>
        </p:blipFill>
        <p:spPr>
          <a:xfrm>
            <a:off x="4951857" y="2112264"/>
            <a:ext cx="438912" cy="438912"/>
          </a:xfrm>
          <a:prstGeom prst="rect">
            <a:avLst/>
          </a:prstGeom>
        </p:spPr>
      </p:pic>
      <p:sp>
        <p:nvSpPr>
          <p:cNvPr id="21" name="Text 16"/>
          <p:cNvSpPr txBox="1"/>
          <p:nvPr/>
        </p:nvSpPr>
        <p:spPr>
          <a:xfrm>
            <a:off x="4246778" y="2926080"/>
            <a:ext cx="1849069" cy="274320"/>
          </a:xfrm>
          <a:prstGeom prst="rect">
            <a:avLst/>
          </a:prstGeom>
          <a:noFill/>
          <a:ln/>
        </p:spPr>
        <p:txBody>
          <a:bodyPr wrap="square" lIns="0" tIns="0" rIns="0" bIns="0" rtlCol="0" anchor="t"/>
          <a:lstStyle/>
          <a:p>
            <a:pPr algn="ctr" indent="0" marL="0">
              <a:buNone/>
            </a:pPr>
            <a:r>
              <a:rPr lang="en-US" sz="1100" b="1" spc="200" kern="0" dirty="0">
                <a:solidFill>
                  <a:srgbClr val="B8862B"/>
                </a:solidFill>
                <a:latin typeface="Calibri" pitchFamily="34" charset="0"/>
                <a:ea typeface="Calibri" pitchFamily="34" charset="-122"/>
                <a:cs typeface="Calibri" pitchFamily="34" charset="-120"/>
              </a:rPr>
              <a:t>STEP 3</a:t>
            </a:r>
            <a:endParaRPr lang="en-US" sz="1100" dirty="0"/>
          </a:p>
        </p:txBody>
      </p:sp>
      <p:sp>
        <p:nvSpPr>
          <p:cNvPr id="22" name="Text 17"/>
          <p:cNvSpPr txBox="1"/>
          <p:nvPr/>
        </p:nvSpPr>
        <p:spPr>
          <a:xfrm>
            <a:off x="4338218" y="3200400"/>
            <a:ext cx="1666189" cy="640080"/>
          </a:xfrm>
          <a:prstGeom prst="rect">
            <a:avLst/>
          </a:prstGeom>
          <a:noFill/>
          <a:ln/>
        </p:spPr>
        <p:txBody>
          <a:bodyPr wrap="square" lIns="0" tIns="0" rIns="0" bIns="0" rtlCol="0" anchor="t"/>
          <a:lstStyle/>
          <a:p>
            <a:pPr algn="ctr" indent="0" marL="0">
              <a:buNone/>
            </a:pPr>
            <a:r>
              <a:rPr lang="en-US" sz="1500" b="1" dirty="0">
                <a:solidFill>
                  <a:srgbClr val="12343B"/>
                </a:solidFill>
                <a:latin typeface="Calibri" pitchFamily="34" charset="0"/>
                <a:ea typeface="Calibri" pitchFamily="34" charset="-122"/>
                <a:cs typeface="Calibri" pitchFamily="34" charset="-120"/>
              </a:rPr>
              <a:t>Figure authenticity audit</a:t>
            </a:r>
            <a:endParaRPr lang="en-US" sz="1500" dirty="0"/>
          </a:p>
        </p:txBody>
      </p:sp>
      <p:sp>
        <p:nvSpPr>
          <p:cNvPr id="23" name="Text 18"/>
          <p:cNvSpPr txBox="1"/>
          <p:nvPr/>
        </p:nvSpPr>
        <p:spPr>
          <a:xfrm>
            <a:off x="4383938" y="3886200"/>
            <a:ext cx="1574749" cy="914400"/>
          </a:xfrm>
          <a:prstGeom prst="rect">
            <a:avLst/>
          </a:prstGeom>
          <a:noFill/>
          <a:ln/>
        </p:spPr>
        <p:txBody>
          <a:bodyPr wrap="square" lIns="0" tIns="0" rIns="0" bIns="0" rtlCol="0" anchor="t"/>
          <a:lstStyle/>
          <a:p>
            <a:pPr algn="ctr" indent="0" marL="0">
              <a:buNone/>
            </a:pPr>
            <a:r>
              <a:rPr lang="en-US" sz="1250" dirty="0">
                <a:solidFill>
                  <a:srgbClr val="1E2A30"/>
                </a:solidFill>
                <a:latin typeface="Calibri" pitchFamily="34" charset="0"/>
                <a:ea typeface="Calibri" pitchFamily="34" charset="-122"/>
                <a:cs typeface="Calibri" pitchFamily="34" charset="-120"/>
              </a:rPr>
              <a:t>Source, date, unit, actual/forecast; plausibility check</a:t>
            </a:r>
            <a:endParaRPr lang="en-US" sz="1250" dirty="0"/>
          </a:p>
        </p:txBody>
      </p:sp>
      <p:sp>
        <p:nvSpPr>
          <p:cNvPr id="24" name="Shape 19"/>
          <p:cNvSpPr/>
          <p:nvPr/>
        </p:nvSpPr>
        <p:spPr>
          <a:xfrm>
            <a:off x="4338218" y="4983480"/>
            <a:ext cx="1666189" cy="1005840"/>
          </a:xfrm>
          <a:prstGeom prst="roundRect">
            <a:avLst>
              <a:gd name="adj" fmla="val 7273"/>
            </a:avLst>
          </a:prstGeom>
          <a:solidFill>
            <a:srgbClr val="EFF6F5"/>
          </a:solidFill>
          <a:ln w="12700">
            <a:solidFill>
              <a:srgbClr val="EFF6F5"/>
            </a:solidFill>
            <a:prstDash val="solid"/>
          </a:ln>
        </p:spPr>
      </p:sp>
      <p:sp>
        <p:nvSpPr>
          <p:cNvPr id="25" name="Text 20"/>
          <p:cNvSpPr txBox="1"/>
          <p:nvPr/>
        </p:nvSpPr>
        <p:spPr>
          <a:xfrm>
            <a:off x="4429658" y="4983480"/>
            <a:ext cx="1483309" cy="1005840"/>
          </a:xfrm>
          <a:prstGeom prst="rect">
            <a:avLst/>
          </a:prstGeom>
          <a:noFill/>
          <a:ln/>
        </p:spPr>
        <p:txBody>
          <a:bodyPr wrap="square" lIns="0" tIns="0" rIns="0" bIns="0" rtlCol="0" anchor="ctr"/>
          <a:lstStyle/>
          <a:p>
            <a:pPr algn="ctr" indent="0" marL="0">
              <a:buNone/>
            </a:pPr>
            <a:r>
              <a:rPr lang="en-US" sz="1250" b="1" dirty="0">
                <a:solidFill>
                  <a:srgbClr val="1F7A7A"/>
                </a:solidFill>
                <a:latin typeface="Calibri" pitchFamily="34" charset="0"/>
                <a:ea typeface="Calibri" pitchFamily="34" charset="-122"/>
                <a:cs typeface="Calibri" pitchFamily="34" charset="-120"/>
              </a:rPr>
              <a:t>One agreed number per indicator</a:t>
            </a:r>
            <a:endParaRPr lang="en-US" sz="1250" dirty="0"/>
          </a:p>
        </p:txBody>
      </p:sp>
      <p:sp>
        <p:nvSpPr>
          <p:cNvPr id="26" name="Shape 21"/>
          <p:cNvSpPr/>
          <p:nvPr/>
        </p:nvSpPr>
        <p:spPr>
          <a:xfrm>
            <a:off x="6563182" y="1874520"/>
            <a:ext cx="914400" cy="914400"/>
          </a:xfrm>
          <a:prstGeom prst="ellipse">
            <a:avLst/>
          </a:prstGeom>
          <a:solidFill>
            <a:srgbClr val="1F7A7A"/>
          </a:solidFill>
          <a:ln w="12700">
            <a:solidFill>
              <a:srgbClr val="1F7A7A"/>
            </a:solidFill>
            <a:prstDash val="solid"/>
          </a:ln>
        </p:spPr>
      </p:sp>
      <p:pic>
        <p:nvPicPr>
          <p:cNvPr id="27" name="Image 3" descr="preencoded.png">    </p:cNvPr>
          <p:cNvPicPr>
            <a:picLocks noChangeAspect="1"/>
          </p:cNvPicPr>
          <p:nvPr/>
        </p:nvPicPr>
        <p:blipFill>
          <a:blip r:embed="rId4"/>
          <a:stretch>
            <a:fillRect/>
          </a:stretch>
        </p:blipFill>
        <p:spPr>
          <a:xfrm>
            <a:off x="6800926" y="2112264"/>
            <a:ext cx="438912" cy="438912"/>
          </a:xfrm>
          <a:prstGeom prst="rect">
            <a:avLst/>
          </a:prstGeom>
        </p:spPr>
      </p:pic>
      <p:sp>
        <p:nvSpPr>
          <p:cNvPr id="28" name="Text 22"/>
          <p:cNvSpPr txBox="1"/>
          <p:nvPr/>
        </p:nvSpPr>
        <p:spPr>
          <a:xfrm>
            <a:off x="6095848" y="2926080"/>
            <a:ext cx="1849069" cy="274320"/>
          </a:xfrm>
          <a:prstGeom prst="rect">
            <a:avLst/>
          </a:prstGeom>
          <a:noFill/>
          <a:ln/>
        </p:spPr>
        <p:txBody>
          <a:bodyPr wrap="square" lIns="0" tIns="0" rIns="0" bIns="0" rtlCol="0" anchor="t"/>
          <a:lstStyle/>
          <a:p>
            <a:pPr algn="ctr" indent="0" marL="0">
              <a:buNone/>
            </a:pPr>
            <a:r>
              <a:rPr lang="en-US" sz="1100" b="1" spc="200" kern="0" dirty="0">
                <a:solidFill>
                  <a:srgbClr val="1F7A7A"/>
                </a:solidFill>
                <a:latin typeface="Calibri" pitchFamily="34" charset="0"/>
                <a:ea typeface="Calibri" pitchFamily="34" charset="-122"/>
                <a:cs typeface="Calibri" pitchFamily="34" charset="-120"/>
              </a:rPr>
              <a:t>STEP 4</a:t>
            </a:r>
            <a:endParaRPr lang="en-US" sz="1100" dirty="0"/>
          </a:p>
        </p:txBody>
      </p:sp>
      <p:sp>
        <p:nvSpPr>
          <p:cNvPr id="29" name="Text 23"/>
          <p:cNvSpPr txBox="1"/>
          <p:nvPr/>
        </p:nvSpPr>
        <p:spPr>
          <a:xfrm>
            <a:off x="6187288" y="3200400"/>
            <a:ext cx="1666189" cy="640080"/>
          </a:xfrm>
          <a:prstGeom prst="rect">
            <a:avLst/>
          </a:prstGeom>
          <a:noFill/>
          <a:ln/>
        </p:spPr>
        <p:txBody>
          <a:bodyPr wrap="square" lIns="0" tIns="0" rIns="0" bIns="0" rtlCol="0" anchor="t"/>
          <a:lstStyle/>
          <a:p>
            <a:pPr algn="ctr" indent="0" marL="0">
              <a:buNone/>
            </a:pPr>
            <a:r>
              <a:rPr lang="en-US" sz="1500" b="1" dirty="0">
                <a:solidFill>
                  <a:srgbClr val="12343B"/>
                </a:solidFill>
                <a:latin typeface="Calibri" pitchFamily="34" charset="0"/>
                <a:ea typeface="Calibri" pitchFamily="34" charset="-122"/>
                <a:cs typeface="Calibri" pitchFamily="34" charset="-120"/>
              </a:rPr>
              <a:t>Analysis drafting</a:t>
            </a:r>
            <a:endParaRPr lang="en-US" sz="1500" dirty="0"/>
          </a:p>
        </p:txBody>
      </p:sp>
      <p:sp>
        <p:nvSpPr>
          <p:cNvPr id="30" name="Text 24"/>
          <p:cNvSpPr txBox="1"/>
          <p:nvPr/>
        </p:nvSpPr>
        <p:spPr>
          <a:xfrm>
            <a:off x="6233008" y="3886200"/>
            <a:ext cx="1574749" cy="914400"/>
          </a:xfrm>
          <a:prstGeom prst="rect">
            <a:avLst/>
          </a:prstGeom>
          <a:noFill/>
          <a:ln/>
        </p:spPr>
        <p:txBody>
          <a:bodyPr wrap="square" lIns="0" tIns="0" rIns="0" bIns="0" rtlCol="0" anchor="t"/>
          <a:lstStyle/>
          <a:p>
            <a:pPr algn="ctr" indent="0" marL="0">
              <a:buNone/>
            </a:pPr>
            <a:r>
              <a:rPr lang="en-US" sz="1250" dirty="0">
                <a:solidFill>
                  <a:srgbClr val="1E2A30"/>
                </a:solidFill>
                <a:latin typeface="Calibri" pitchFamily="34" charset="0"/>
                <a:ea typeface="Calibri" pitchFamily="34" charset="-122"/>
                <a:cs typeface="Calibri" pitchFamily="34" charset="-120"/>
              </a:rPr>
              <a:t>Report and matrix written from the register only</a:t>
            </a:r>
            <a:endParaRPr lang="en-US" sz="1250" dirty="0"/>
          </a:p>
        </p:txBody>
      </p:sp>
      <p:sp>
        <p:nvSpPr>
          <p:cNvPr id="31" name="Shape 25"/>
          <p:cNvSpPr/>
          <p:nvPr/>
        </p:nvSpPr>
        <p:spPr>
          <a:xfrm>
            <a:off x="6187288" y="4983480"/>
            <a:ext cx="1666189" cy="1005840"/>
          </a:xfrm>
          <a:prstGeom prst="roundRect">
            <a:avLst>
              <a:gd name="adj" fmla="val 7273"/>
            </a:avLst>
          </a:prstGeom>
          <a:solidFill>
            <a:srgbClr val="EFF6F5"/>
          </a:solidFill>
          <a:ln w="12700">
            <a:solidFill>
              <a:srgbClr val="EFF6F5"/>
            </a:solidFill>
            <a:prstDash val="solid"/>
          </a:ln>
        </p:spPr>
      </p:sp>
      <p:sp>
        <p:nvSpPr>
          <p:cNvPr id="32" name="Text 26"/>
          <p:cNvSpPr txBox="1"/>
          <p:nvPr/>
        </p:nvSpPr>
        <p:spPr>
          <a:xfrm>
            <a:off x="6278728" y="4983480"/>
            <a:ext cx="1483309" cy="1005840"/>
          </a:xfrm>
          <a:prstGeom prst="rect">
            <a:avLst/>
          </a:prstGeom>
          <a:noFill/>
          <a:ln/>
        </p:spPr>
        <p:txBody>
          <a:bodyPr wrap="square" lIns="0" tIns="0" rIns="0" bIns="0" rtlCol="0" anchor="ctr"/>
          <a:lstStyle/>
          <a:p>
            <a:pPr algn="ctr" indent="0" marL="0">
              <a:buNone/>
            </a:pPr>
            <a:r>
              <a:rPr lang="en-US" sz="1250" b="1" dirty="0">
                <a:solidFill>
                  <a:srgbClr val="1F7A7A"/>
                </a:solidFill>
                <a:latin typeface="Calibri" pitchFamily="34" charset="0"/>
                <a:ea typeface="Calibri" pitchFamily="34" charset="-122"/>
                <a:cs typeface="Calibri" pitchFamily="34" charset="-120"/>
              </a:rPr>
              <a:t>No other source of numbers</a:t>
            </a:r>
            <a:endParaRPr lang="en-US" sz="1250" dirty="0"/>
          </a:p>
        </p:txBody>
      </p:sp>
      <p:sp>
        <p:nvSpPr>
          <p:cNvPr id="33" name="Shape 27"/>
          <p:cNvSpPr/>
          <p:nvPr/>
        </p:nvSpPr>
        <p:spPr>
          <a:xfrm>
            <a:off x="8412251" y="1874520"/>
            <a:ext cx="914400" cy="914400"/>
          </a:xfrm>
          <a:prstGeom prst="ellipse">
            <a:avLst/>
          </a:prstGeom>
          <a:solidFill>
            <a:srgbClr val="B8862B"/>
          </a:solidFill>
          <a:ln w="12700">
            <a:solidFill>
              <a:srgbClr val="B8862B"/>
            </a:solidFill>
            <a:prstDash val="solid"/>
          </a:ln>
        </p:spPr>
      </p:sp>
      <p:pic>
        <p:nvPicPr>
          <p:cNvPr id="34" name="Image 4" descr="preencoded.png">    </p:cNvPr>
          <p:cNvPicPr>
            <a:picLocks noChangeAspect="1"/>
          </p:cNvPicPr>
          <p:nvPr/>
        </p:nvPicPr>
        <p:blipFill>
          <a:blip r:embed="rId5"/>
          <a:stretch>
            <a:fillRect/>
          </a:stretch>
        </p:blipFill>
        <p:spPr>
          <a:xfrm>
            <a:off x="8649995" y="2112264"/>
            <a:ext cx="438912" cy="438912"/>
          </a:xfrm>
          <a:prstGeom prst="rect">
            <a:avLst/>
          </a:prstGeom>
        </p:spPr>
      </p:pic>
      <p:sp>
        <p:nvSpPr>
          <p:cNvPr id="35" name="Text 28"/>
          <p:cNvSpPr txBox="1"/>
          <p:nvPr/>
        </p:nvSpPr>
        <p:spPr>
          <a:xfrm>
            <a:off x="7944917" y="2926080"/>
            <a:ext cx="1849069" cy="274320"/>
          </a:xfrm>
          <a:prstGeom prst="rect">
            <a:avLst/>
          </a:prstGeom>
          <a:noFill/>
          <a:ln/>
        </p:spPr>
        <p:txBody>
          <a:bodyPr wrap="square" lIns="0" tIns="0" rIns="0" bIns="0" rtlCol="0" anchor="t"/>
          <a:lstStyle/>
          <a:p>
            <a:pPr algn="ctr" indent="0" marL="0">
              <a:buNone/>
            </a:pPr>
            <a:r>
              <a:rPr lang="en-US" sz="1100" b="1" spc="200" kern="0" dirty="0">
                <a:solidFill>
                  <a:srgbClr val="B8862B"/>
                </a:solidFill>
                <a:latin typeface="Calibri" pitchFamily="34" charset="0"/>
                <a:ea typeface="Calibri" pitchFamily="34" charset="-122"/>
                <a:cs typeface="Calibri" pitchFamily="34" charset="-120"/>
              </a:rPr>
              <a:t>STEP 5</a:t>
            </a:r>
            <a:endParaRPr lang="en-US" sz="1100" dirty="0"/>
          </a:p>
        </p:txBody>
      </p:sp>
      <p:sp>
        <p:nvSpPr>
          <p:cNvPr id="36" name="Text 29"/>
          <p:cNvSpPr txBox="1"/>
          <p:nvPr/>
        </p:nvSpPr>
        <p:spPr>
          <a:xfrm>
            <a:off x="8036357" y="3200400"/>
            <a:ext cx="1666189" cy="640080"/>
          </a:xfrm>
          <a:prstGeom prst="rect">
            <a:avLst/>
          </a:prstGeom>
          <a:noFill/>
          <a:ln/>
        </p:spPr>
        <p:txBody>
          <a:bodyPr wrap="square" lIns="0" tIns="0" rIns="0" bIns="0" rtlCol="0" anchor="t"/>
          <a:lstStyle/>
          <a:p>
            <a:pPr algn="ctr" indent="0" marL="0">
              <a:buNone/>
            </a:pPr>
            <a:r>
              <a:rPr lang="en-US" sz="1500" b="1" dirty="0">
                <a:solidFill>
                  <a:srgbClr val="12343B"/>
                </a:solidFill>
                <a:latin typeface="Calibri" pitchFamily="34" charset="0"/>
                <a:ea typeface="Calibri" pitchFamily="34" charset="-122"/>
                <a:cs typeface="Calibri" pitchFamily="34" charset="-120"/>
              </a:rPr>
              <a:t>Consistency &amp; citation check</a:t>
            </a:r>
            <a:endParaRPr lang="en-US" sz="1500" dirty="0"/>
          </a:p>
        </p:txBody>
      </p:sp>
      <p:sp>
        <p:nvSpPr>
          <p:cNvPr id="37" name="Text 30"/>
          <p:cNvSpPr txBox="1"/>
          <p:nvPr/>
        </p:nvSpPr>
        <p:spPr>
          <a:xfrm>
            <a:off x="8082077" y="3886200"/>
            <a:ext cx="1574749" cy="914400"/>
          </a:xfrm>
          <a:prstGeom prst="rect">
            <a:avLst/>
          </a:prstGeom>
          <a:noFill/>
          <a:ln/>
        </p:spPr>
        <p:txBody>
          <a:bodyPr wrap="square" lIns="0" tIns="0" rIns="0" bIns="0" rtlCol="0" anchor="t"/>
          <a:lstStyle/>
          <a:p>
            <a:pPr algn="ctr" indent="0" marL="0">
              <a:buNone/>
            </a:pPr>
            <a:r>
              <a:rPr lang="en-US" sz="1250" dirty="0">
                <a:solidFill>
                  <a:srgbClr val="1E2A30"/>
                </a:solidFill>
                <a:latin typeface="Calibri" pitchFamily="34" charset="0"/>
                <a:ea typeface="Calibri" pitchFamily="34" charset="-122"/>
                <a:cs typeface="Calibri" pitchFamily="34" charset="-120"/>
              </a:rPr>
              <a:t>Every number and link matched to the register</a:t>
            </a:r>
            <a:endParaRPr lang="en-US" sz="1250" dirty="0"/>
          </a:p>
        </p:txBody>
      </p:sp>
      <p:sp>
        <p:nvSpPr>
          <p:cNvPr id="38" name="Shape 31"/>
          <p:cNvSpPr/>
          <p:nvPr/>
        </p:nvSpPr>
        <p:spPr>
          <a:xfrm>
            <a:off x="8036357" y="4983480"/>
            <a:ext cx="1666189" cy="1005840"/>
          </a:xfrm>
          <a:prstGeom prst="roundRect">
            <a:avLst>
              <a:gd name="adj" fmla="val 7273"/>
            </a:avLst>
          </a:prstGeom>
          <a:solidFill>
            <a:srgbClr val="EFF6F5"/>
          </a:solidFill>
          <a:ln w="12700">
            <a:solidFill>
              <a:srgbClr val="EFF6F5"/>
            </a:solidFill>
            <a:prstDash val="solid"/>
          </a:ln>
        </p:spPr>
      </p:sp>
      <p:sp>
        <p:nvSpPr>
          <p:cNvPr id="39" name="Text 32"/>
          <p:cNvSpPr txBox="1"/>
          <p:nvPr/>
        </p:nvSpPr>
        <p:spPr>
          <a:xfrm>
            <a:off x="8127797" y="4983480"/>
            <a:ext cx="1483309" cy="1005840"/>
          </a:xfrm>
          <a:prstGeom prst="rect">
            <a:avLst/>
          </a:prstGeom>
          <a:noFill/>
          <a:ln/>
        </p:spPr>
        <p:txBody>
          <a:bodyPr wrap="square" lIns="0" tIns="0" rIns="0" bIns="0" rtlCol="0" anchor="ctr"/>
          <a:lstStyle/>
          <a:p>
            <a:pPr algn="ctr" indent="0" marL="0">
              <a:buNone/>
            </a:pPr>
            <a:r>
              <a:rPr lang="en-US" sz="1250" b="1" dirty="0">
                <a:solidFill>
                  <a:srgbClr val="1F7A7A"/>
                </a:solidFill>
                <a:latin typeface="Calibri" pitchFamily="34" charset="0"/>
                <a:ea typeface="Calibri" pitchFamily="34" charset="-122"/>
                <a:cs typeface="Calibri" pitchFamily="34" charset="-120"/>
              </a:rPr>
              <a:t>A mismatch blocks release</a:t>
            </a:r>
            <a:endParaRPr lang="en-US" sz="1250" dirty="0"/>
          </a:p>
        </p:txBody>
      </p:sp>
      <p:sp>
        <p:nvSpPr>
          <p:cNvPr id="40" name="Shape 33"/>
          <p:cNvSpPr/>
          <p:nvPr/>
        </p:nvSpPr>
        <p:spPr>
          <a:xfrm>
            <a:off x="10261321" y="1874520"/>
            <a:ext cx="914400" cy="914400"/>
          </a:xfrm>
          <a:prstGeom prst="ellipse">
            <a:avLst/>
          </a:prstGeom>
          <a:solidFill>
            <a:srgbClr val="1F7A7A"/>
          </a:solidFill>
          <a:ln w="12700">
            <a:solidFill>
              <a:srgbClr val="1F7A7A"/>
            </a:solidFill>
            <a:prstDash val="solid"/>
          </a:ln>
        </p:spPr>
      </p:sp>
      <p:pic>
        <p:nvPicPr>
          <p:cNvPr id="41" name="Image 5" descr="preencoded.png">    </p:cNvPr>
          <p:cNvPicPr>
            <a:picLocks noChangeAspect="1"/>
          </p:cNvPicPr>
          <p:nvPr/>
        </p:nvPicPr>
        <p:blipFill>
          <a:blip r:embed="rId6"/>
          <a:stretch>
            <a:fillRect/>
          </a:stretch>
        </p:blipFill>
        <p:spPr>
          <a:xfrm>
            <a:off x="10499065" y="2112264"/>
            <a:ext cx="438912" cy="438912"/>
          </a:xfrm>
          <a:prstGeom prst="rect">
            <a:avLst/>
          </a:prstGeom>
        </p:spPr>
      </p:pic>
      <p:sp>
        <p:nvSpPr>
          <p:cNvPr id="42" name="Text 34"/>
          <p:cNvSpPr txBox="1"/>
          <p:nvPr/>
        </p:nvSpPr>
        <p:spPr>
          <a:xfrm>
            <a:off x="9793986" y="2926080"/>
            <a:ext cx="1849069" cy="274320"/>
          </a:xfrm>
          <a:prstGeom prst="rect">
            <a:avLst/>
          </a:prstGeom>
          <a:noFill/>
          <a:ln/>
        </p:spPr>
        <p:txBody>
          <a:bodyPr wrap="square" lIns="0" tIns="0" rIns="0" bIns="0" rtlCol="0" anchor="t"/>
          <a:lstStyle/>
          <a:p>
            <a:pPr algn="ctr" indent="0" marL="0">
              <a:buNone/>
            </a:pPr>
            <a:r>
              <a:rPr lang="en-US" sz="1100" b="1" spc="200" kern="0" dirty="0">
                <a:solidFill>
                  <a:srgbClr val="1F7A7A"/>
                </a:solidFill>
                <a:latin typeface="Calibri" pitchFamily="34" charset="0"/>
                <a:ea typeface="Calibri" pitchFamily="34" charset="-122"/>
                <a:cs typeface="Calibri" pitchFamily="34" charset="-120"/>
              </a:rPr>
              <a:t>STEP 6</a:t>
            </a:r>
            <a:endParaRPr lang="en-US" sz="1100" dirty="0"/>
          </a:p>
        </p:txBody>
      </p:sp>
      <p:sp>
        <p:nvSpPr>
          <p:cNvPr id="43" name="Text 35"/>
          <p:cNvSpPr txBox="1"/>
          <p:nvPr/>
        </p:nvSpPr>
        <p:spPr>
          <a:xfrm>
            <a:off x="9885426" y="3200400"/>
            <a:ext cx="1666189" cy="640080"/>
          </a:xfrm>
          <a:prstGeom prst="rect">
            <a:avLst/>
          </a:prstGeom>
          <a:noFill/>
          <a:ln/>
        </p:spPr>
        <p:txBody>
          <a:bodyPr wrap="square" lIns="0" tIns="0" rIns="0" bIns="0" rtlCol="0" anchor="t"/>
          <a:lstStyle/>
          <a:p>
            <a:pPr algn="ctr" indent="0" marL="0">
              <a:buNone/>
            </a:pPr>
            <a:r>
              <a:rPr lang="en-US" sz="1500" b="1" dirty="0">
                <a:solidFill>
                  <a:srgbClr val="12343B"/>
                </a:solidFill>
                <a:latin typeface="Calibri" pitchFamily="34" charset="0"/>
                <a:ea typeface="Calibri" pitchFamily="34" charset="-122"/>
                <a:cs typeface="Calibri" pitchFamily="34" charset="-120"/>
              </a:rPr>
              <a:t>Final document assembly</a:t>
            </a:r>
            <a:endParaRPr lang="en-US" sz="1500" dirty="0"/>
          </a:p>
        </p:txBody>
      </p:sp>
      <p:sp>
        <p:nvSpPr>
          <p:cNvPr id="44" name="Text 36"/>
          <p:cNvSpPr txBox="1"/>
          <p:nvPr/>
        </p:nvSpPr>
        <p:spPr>
          <a:xfrm>
            <a:off x="9931146" y="3886200"/>
            <a:ext cx="1574749" cy="914400"/>
          </a:xfrm>
          <a:prstGeom prst="rect">
            <a:avLst/>
          </a:prstGeom>
          <a:noFill/>
          <a:ln/>
        </p:spPr>
        <p:txBody>
          <a:bodyPr wrap="square" lIns="0" tIns="0" rIns="0" bIns="0" rtlCol="0" anchor="t"/>
          <a:lstStyle/>
          <a:p>
            <a:pPr algn="ctr" indent="0" marL="0">
              <a:buNone/>
            </a:pPr>
            <a:r>
              <a:rPr lang="en-US" sz="1250" dirty="0">
                <a:solidFill>
                  <a:srgbClr val="1E2A30"/>
                </a:solidFill>
                <a:latin typeface="Calibri" pitchFamily="34" charset="0"/>
                <a:ea typeface="Calibri" pitchFamily="34" charset="-122"/>
                <a:cs typeface="Calibri" pitchFamily="34" charset="-120"/>
              </a:rPr>
              <a:t>Three deliverables produced; analyst sign-off</a:t>
            </a:r>
            <a:endParaRPr lang="en-US" sz="1250" dirty="0"/>
          </a:p>
        </p:txBody>
      </p:sp>
      <p:sp>
        <p:nvSpPr>
          <p:cNvPr id="45" name="Shape 37"/>
          <p:cNvSpPr/>
          <p:nvPr/>
        </p:nvSpPr>
        <p:spPr>
          <a:xfrm>
            <a:off x="9885426" y="4983480"/>
            <a:ext cx="1666189" cy="1005840"/>
          </a:xfrm>
          <a:prstGeom prst="roundRect">
            <a:avLst>
              <a:gd name="adj" fmla="val 7273"/>
            </a:avLst>
          </a:prstGeom>
          <a:solidFill>
            <a:srgbClr val="EFF6F5"/>
          </a:solidFill>
          <a:ln w="12700">
            <a:solidFill>
              <a:srgbClr val="EFF6F5"/>
            </a:solidFill>
            <a:prstDash val="solid"/>
          </a:ln>
        </p:spPr>
      </p:sp>
      <p:sp>
        <p:nvSpPr>
          <p:cNvPr id="46" name="Text 38"/>
          <p:cNvSpPr txBox="1"/>
          <p:nvPr/>
        </p:nvSpPr>
        <p:spPr>
          <a:xfrm>
            <a:off x="9976866" y="4983480"/>
            <a:ext cx="1483309" cy="1005840"/>
          </a:xfrm>
          <a:prstGeom prst="rect">
            <a:avLst/>
          </a:prstGeom>
          <a:noFill/>
          <a:ln/>
        </p:spPr>
        <p:txBody>
          <a:bodyPr wrap="square" lIns="0" tIns="0" rIns="0" bIns="0" rtlCol="0" anchor="ctr"/>
          <a:lstStyle/>
          <a:p>
            <a:pPr algn="ctr" indent="0" marL="0">
              <a:buNone/>
            </a:pPr>
            <a:r>
              <a:rPr lang="en-US" sz="1250" b="1" dirty="0">
                <a:solidFill>
                  <a:srgbClr val="1F7A7A"/>
                </a:solidFill>
                <a:latin typeface="Calibri" pitchFamily="34" charset="0"/>
                <a:ea typeface="Calibri" pitchFamily="34" charset="-122"/>
                <a:cs typeface="Calibri" pitchFamily="34" charset="-120"/>
              </a:rPr>
              <a:t>Three documents that agree</a:t>
            </a:r>
            <a:endParaRPr lang="en-US" sz="1250" dirty="0"/>
          </a:p>
        </p:txBody>
      </p:sp>
      <p:sp>
        <p:nvSpPr>
          <p:cNvPr id="47" name="Text 39"/>
          <p:cNvSpPr txBox="1"/>
          <p:nvPr/>
        </p:nvSpPr>
        <p:spPr>
          <a:xfrm>
            <a:off x="548640" y="4617720"/>
            <a:ext cx="4572000" cy="274320"/>
          </a:xfrm>
          <a:prstGeom prst="rect">
            <a:avLst/>
          </a:prstGeom>
          <a:noFill/>
          <a:ln/>
        </p:spPr>
        <p:txBody>
          <a:bodyPr wrap="square" lIns="0" tIns="0" rIns="0" bIns="0" rtlCol="0" anchor="t"/>
          <a:lstStyle/>
          <a:p>
            <a:pPr indent="0" marL="0">
              <a:buNone/>
            </a:pPr>
            <a:r>
              <a:rPr lang="en-US" sz="1100" b="1" spc="100" kern="0" dirty="0">
                <a:solidFill>
                  <a:srgbClr val="5B6770"/>
                </a:solidFill>
                <a:latin typeface="Calibri" pitchFamily="34" charset="0"/>
                <a:ea typeface="Calibri" pitchFamily="34" charset="-122"/>
                <a:cs typeface="Calibri" pitchFamily="34" charset="-120"/>
              </a:rPr>
              <a:t>What management can rely on</a:t>
            </a:r>
            <a:endParaRPr lang="en-US" sz="1100" dirty="0"/>
          </a:p>
        </p:txBody>
      </p:sp>
      <p:sp>
        <p:nvSpPr>
          <p:cNvPr id="48" name="Text 40"/>
          <p:cNvSpPr txBox="1"/>
          <p:nvPr/>
        </p:nvSpPr>
        <p:spPr>
          <a:xfrm>
            <a:off x="548640" y="6473952"/>
            <a:ext cx="6400800" cy="228600"/>
          </a:xfrm>
          <a:prstGeom prst="rect">
            <a:avLst/>
          </a:prstGeom>
          <a:noFill/>
          <a:ln/>
        </p:spPr>
        <p:txBody>
          <a:bodyPr wrap="square" lIns="0" tIns="0" rIns="0" bIns="0" rtlCol="0" anchor="t"/>
          <a:lstStyle/>
          <a:p>
            <a:pPr indent="0" marL="0">
              <a:buNone/>
            </a:pPr>
            <a:r>
              <a:rPr lang="en-US" sz="900" dirty="0">
                <a:solidFill>
                  <a:srgbClr val="95A1A8"/>
                </a:solidFill>
                <a:latin typeface="Calibri" pitchFamily="34" charset="0"/>
                <a:ea typeface="Calibri" pitchFamily="34" charset="-122"/>
                <a:cs typeface="Calibri" pitchFamily="34" charset="-120"/>
              </a:rPr>
              <a:t>Macroenvironment Agent · Business Requirements · Board review</a:t>
            </a:r>
            <a:endParaRPr lang="en-US" sz="900" dirty="0"/>
          </a:p>
        </p:txBody>
      </p:sp>
      <p:sp>
        <p:nvSpPr>
          <p:cNvPr id="49" name="Text 41"/>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95A1A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84048"/>
            <a:ext cx="11094415" cy="685800"/>
          </a:xfrm>
          <a:prstGeom prst="rect">
            <a:avLst/>
          </a:prstGeom>
          <a:noFill/>
          <a:ln/>
        </p:spPr>
        <p:txBody>
          <a:bodyPr wrap="square" lIns="0" tIns="0" rIns="0" bIns="0" rtlCol="0" anchor="ctr"/>
          <a:lstStyle/>
          <a:p>
            <a:pPr indent="0" marL="0">
              <a:buNone/>
            </a:pPr>
            <a:r>
              <a:rPr lang="en-US" sz="3000" b="1" dirty="0">
                <a:solidFill>
                  <a:srgbClr val="12343B"/>
                </a:solidFill>
                <a:latin typeface="Cambria" pitchFamily="34" charset="0"/>
                <a:ea typeface="Cambria" pitchFamily="34" charset="-122"/>
                <a:cs typeface="Cambria" pitchFamily="34" charset="-120"/>
              </a:rPr>
              <a:t>Scope: what the agent will and will not do</a:t>
            </a:r>
            <a:endParaRPr lang="en-US" sz="3000" dirty="0"/>
          </a:p>
        </p:txBody>
      </p:sp>
      <p:sp>
        <p:nvSpPr>
          <p:cNvPr id="3" name="Text 1"/>
          <p:cNvSpPr txBox="1"/>
          <p:nvPr/>
        </p:nvSpPr>
        <p:spPr>
          <a:xfrm>
            <a:off x="548640" y="1069848"/>
            <a:ext cx="11094415" cy="411480"/>
          </a:xfrm>
          <a:prstGeom prst="rect">
            <a:avLst/>
          </a:prstGeom>
          <a:noFill/>
          <a:ln/>
        </p:spPr>
        <p:txBody>
          <a:bodyPr wrap="square" lIns="0" tIns="0" rIns="0" bIns="0" rtlCol="0" anchor="t"/>
          <a:lstStyle/>
          <a:p>
            <a:pPr indent="0" marL="0">
              <a:buNone/>
            </a:pPr>
            <a:r>
              <a:rPr lang="en-US" sz="1500" dirty="0">
                <a:solidFill>
                  <a:srgbClr val="5B6770"/>
                </a:solidFill>
                <a:latin typeface="Calibri" pitchFamily="34" charset="0"/>
                <a:ea typeface="Calibri" pitchFamily="34" charset="-122"/>
                <a:cs typeface="Calibri" pitchFamily="34" charset="-120"/>
              </a:rPr>
              <a:t>The blueprint boundary for the development team. Anything outside needs a separate decision.</a:t>
            </a:r>
            <a:endParaRPr lang="en-US" sz="1500" dirty="0"/>
          </a:p>
        </p:txBody>
      </p:sp>
      <p:sp>
        <p:nvSpPr>
          <p:cNvPr id="4" name="Shape 2"/>
          <p:cNvSpPr/>
          <p:nvPr/>
        </p:nvSpPr>
        <p:spPr>
          <a:xfrm>
            <a:off x="548640" y="1737360"/>
            <a:ext cx="5440680" cy="4526280"/>
          </a:xfrm>
          <a:prstGeom prst="roundRect">
            <a:avLst>
              <a:gd name="adj" fmla="val 1616"/>
            </a:avLst>
          </a:prstGeom>
          <a:solidFill>
            <a:srgbClr val="EFF6F5"/>
          </a:solidFill>
          <a:ln w="12700">
            <a:solidFill>
              <a:srgbClr val="EFF6F5"/>
            </a:solidFill>
            <a:prstDash val="solid"/>
          </a:ln>
        </p:spPr>
      </p:sp>
      <p:sp>
        <p:nvSpPr>
          <p:cNvPr id="5" name="Shape 3"/>
          <p:cNvSpPr/>
          <p:nvPr/>
        </p:nvSpPr>
        <p:spPr>
          <a:xfrm>
            <a:off x="548640" y="1737360"/>
            <a:ext cx="5440680" cy="566928"/>
          </a:xfrm>
          <a:prstGeom prst="roundRect">
            <a:avLst>
              <a:gd name="adj" fmla="val 12903"/>
            </a:avLst>
          </a:prstGeom>
          <a:solidFill>
            <a:srgbClr val="1F7A7A"/>
          </a:solidFill>
          <a:ln w="12700">
            <a:solidFill>
              <a:srgbClr val="1F7A7A"/>
            </a:solidFill>
            <a:prstDash val="solid"/>
          </a:ln>
        </p:spPr>
      </p:sp>
      <p:sp>
        <p:nvSpPr>
          <p:cNvPr id="6" name="Shape 4"/>
          <p:cNvSpPr/>
          <p:nvPr/>
        </p:nvSpPr>
        <p:spPr>
          <a:xfrm>
            <a:off x="548640" y="2103120"/>
            <a:ext cx="5440680" cy="201168"/>
          </a:xfrm>
          <a:prstGeom prst="rect">
            <a:avLst/>
          </a:prstGeom>
          <a:solidFill>
            <a:srgbClr val="1F7A7A"/>
          </a:solidFill>
          <a:ln w="12700">
            <a:solidFill>
              <a:srgbClr val="1F7A7A"/>
            </a:solidFill>
            <a:prstDash val="solid"/>
          </a:ln>
        </p:spPr>
      </p:sp>
      <p:sp>
        <p:nvSpPr>
          <p:cNvPr id="7" name="Text 5"/>
          <p:cNvSpPr txBox="1"/>
          <p:nvPr/>
        </p:nvSpPr>
        <p:spPr>
          <a:xfrm>
            <a:off x="822960" y="1737360"/>
            <a:ext cx="4892040" cy="56692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The agent WILL</a:t>
            </a:r>
            <a:endParaRPr lang="en-US" sz="1700" dirty="0"/>
          </a:p>
        </p:txBody>
      </p:sp>
      <p:pic>
        <p:nvPicPr>
          <p:cNvPr id="8" name="Image 0" descr="preencoded.png">    </p:cNvPr>
          <p:cNvPicPr>
            <a:picLocks noChangeAspect="1"/>
          </p:cNvPicPr>
          <p:nvPr/>
        </p:nvPicPr>
        <p:blipFill>
          <a:blip r:embed="rId1"/>
          <a:stretch>
            <a:fillRect/>
          </a:stretch>
        </p:blipFill>
        <p:spPr>
          <a:xfrm>
            <a:off x="822960" y="2560320"/>
            <a:ext cx="201168" cy="201168"/>
          </a:xfrm>
          <a:prstGeom prst="rect">
            <a:avLst/>
          </a:prstGeom>
        </p:spPr>
      </p:pic>
      <p:sp>
        <p:nvSpPr>
          <p:cNvPr id="9" name="Text 6"/>
          <p:cNvSpPr txBox="1"/>
          <p:nvPr/>
        </p:nvSpPr>
        <p:spPr>
          <a:xfrm>
            <a:off x="1188720" y="2487168"/>
            <a:ext cx="4572000" cy="384048"/>
          </a:xfrm>
          <a:prstGeom prst="rect">
            <a:avLst/>
          </a:prstGeom>
          <a:noFill/>
          <a:ln/>
        </p:spPr>
        <p:txBody>
          <a:bodyPr wrap="square" lIns="0" tIns="0" rIns="0" bIns="0" rtlCol="0" anchor="ctr"/>
          <a:lstStyle/>
          <a:p>
            <a:pPr indent="0" marL="0">
              <a:buNone/>
            </a:pPr>
            <a:r>
              <a:rPr lang="en-US" sz="1400" dirty="0">
                <a:solidFill>
                  <a:srgbClr val="1E2A30"/>
                </a:solidFill>
                <a:latin typeface="Calibri" pitchFamily="34" charset="0"/>
                <a:ea typeface="Calibri" pitchFamily="34" charset="-122"/>
                <a:cs typeface="Calibri" pitchFamily="34" charset="-120"/>
              </a:rPr>
              <a:t>Study one target country per request</a:t>
            </a:r>
            <a:endParaRPr lang="en-US" sz="1400" dirty="0"/>
          </a:p>
        </p:txBody>
      </p:sp>
      <p:pic>
        <p:nvPicPr>
          <p:cNvPr id="10" name="Image 1" descr="preencoded.png">    </p:cNvPr>
          <p:cNvPicPr>
            <a:picLocks noChangeAspect="1"/>
          </p:cNvPicPr>
          <p:nvPr/>
        </p:nvPicPr>
        <p:blipFill>
          <a:blip r:embed="rId2"/>
          <a:stretch>
            <a:fillRect/>
          </a:stretch>
        </p:blipFill>
        <p:spPr>
          <a:xfrm>
            <a:off x="822960" y="3017520"/>
            <a:ext cx="201168" cy="201168"/>
          </a:xfrm>
          <a:prstGeom prst="rect">
            <a:avLst/>
          </a:prstGeom>
        </p:spPr>
      </p:pic>
      <p:sp>
        <p:nvSpPr>
          <p:cNvPr id="11" name="Text 7"/>
          <p:cNvSpPr txBox="1"/>
          <p:nvPr/>
        </p:nvSpPr>
        <p:spPr>
          <a:xfrm>
            <a:off x="1188720" y="2944368"/>
            <a:ext cx="4572000" cy="384048"/>
          </a:xfrm>
          <a:prstGeom prst="rect">
            <a:avLst/>
          </a:prstGeom>
          <a:noFill/>
          <a:ln/>
        </p:spPr>
        <p:txBody>
          <a:bodyPr wrap="square" lIns="0" tIns="0" rIns="0" bIns="0" rtlCol="0" anchor="ctr"/>
          <a:lstStyle/>
          <a:p>
            <a:pPr indent="0" marL="0">
              <a:buNone/>
            </a:pPr>
            <a:r>
              <a:rPr lang="en-US" sz="1400" dirty="0">
                <a:solidFill>
                  <a:srgbClr val="1E2A30"/>
                </a:solidFill>
                <a:latin typeface="Calibri" pitchFamily="34" charset="0"/>
                <a:ea typeface="Calibri" pitchFamily="34" charset="-122"/>
                <a:cs typeface="Calibri" pitchFamily="34" charset="-120"/>
              </a:rPr>
              <a:t>Use official sources only for economic figures</a:t>
            </a:r>
            <a:endParaRPr lang="en-US" sz="1400" dirty="0"/>
          </a:p>
        </p:txBody>
      </p:sp>
      <p:pic>
        <p:nvPicPr>
          <p:cNvPr id="12" name="Image 2" descr="preencoded.png">    </p:cNvPr>
          <p:cNvPicPr>
            <a:picLocks noChangeAspect="1"/>
          </p:cNvPicPr>
          <p:nvPr/>
        </p:nvPicPr>
        <p:blipFill>
          <a:blip r:embed="rId3"/>
          <a:stretch>
            <a:fillRect/>
          </a:stretch>
        </p:blipFill>
        <p:spPr>
          <a:xfrm>
            <a:off x="822960" y="3474720"/>
            <a:ext cx="201168" cy="201168"/>
          </a:xfrm>
          <a:prstGeom prst="rect">
            <a:avLst/>
          </a:prstGeom>
        </p:spPr>
      </p:pic>
      <p:sp>
        <p:nvSpPr>
          <p:cNvPr id="13" name="Text 8"/>
          <p:cNvSpPr txBox="1"/>
          <p:nvPr/>
        </p:nvSpPr>
        <p:spPr>
          <a:xfrm>
            <a:off x="1188720" y="3401568"/>
            <a:ext cx="4572000" cy="384048"/>
          </a:xfrm>
          <a:prstGeom prst="rect">
            <a:avLst/>
          </a:prstGeom>
          <a:noFill/>
          <a:ln/>
        </p:spPr>
        <p:txBody>
          <a:bodyPr wrap="square" lIns="0" tIns="0" rIns="0" bIns="0" rtlCol="0" anchor="ctr"/>
          <a:lstStyle/>
          <a:p>
            <a:pPr indent="0" marL="0">
              <a:buNone/>
            </a:pPr>
            <a:r>
              <a:rPr lang="en-US" sz="1400" dirty="0">
                <a:solidFill>
                  <a:srgbClr val="1E2A30"/>
                </a:solidFill>
                <a:latin typeface="Calibri" pitchFamily="34" charset="0"/>
                <a:ea typeface="Calibri" pitchFamily="34" charset="-122"/>
                <a:cs typeface="Calibri" pitchFamily="34" charset="-120"/>
              </a:rPr>
              <a:t>Deliver three documents that agree with each other</a:t>
            </a:r>
            <a:endParaRPr lang="en-US" sz="1400" dirty="0"/>
          </a:p>
        </p:txBody>
      </p:sp>
      <p:pic>
        <p:nvPicPr>
          <p:cNvPr id="14" name="Image 3" descr="preencoded.png">    </p:cNvPr>
          <p:cNvPicPr>
            <a:picLocks noChangeAspect="1"/>
          </p:cNvPicPr>
          <p:nvPr/>
        </p:nvPicPr>
        <p:blipFill>
          <a:blip r:embed="rId4"/>
          <a:stretch>
            <a:fillRect/>
          </a:stretch>
        </p:blipFill>
        <p:spPr>
          <a:xfrm>
            <a:off x="822960" y="3931920"/>
            <a:ext cx="201168" cy="201168"/>
          </a:xfrm>
          <a:prstGeom prst="rect">
            <a:avLst/>
          </a:prstGeom>
        </p:spPr>
      </p:pic>
      <p:sp>
        <p:nvSpPr>
          <p:cNvPr id="15" name="Text 9"/>
          <p:cNvSpPr txBox="1"/>
          <p:nvPr/>
        </p:nvSpPr>
        <p:spPr>
          <a:xfrm>
            <a:off x="1188720" y="3858768"/>
            <a:ext cx="4572000" cy="384048"/>
          </a:xfrm>
          <a:prstGeom prst="rect">
            <a:avLst/>
          </a:prstGeom>
          <a:noFill/>
          <a:ln/>
        </p:spPr>
        <p:txBody>
          <a:bodyPr wrap="square" lIns="0" tIns="0" rIns="0" bIns="0" rtlCol="0" anchor="ctr"/>
          <a:lstStyle/>
          <a:p>
            <a:pPr indent="0" marL="0">
              <a:buNone/>
            </a:pPr>
            <a:r>
              <a:rPr lang="en-US" sz="1400" dirty="0">
                <a:solidFill>
                  <a:srgbClr val="1E2A30"/>
                </a:solidFill>
                <a:latin typeface="Calibri" pitchFamily="34" charset="0"/>
                <a:ea typeface="Calibri" pitchFamily="34" charset="-122"/>
                <a:cs typeface="Calibri" pitchFamily="34" charset="-120"/>
              </a:rPr>
              <a:t>Label every figure with source, date and status</a:t>
            </a:r>
            <a:endParaRPr lang="en-US" sz="1400" dirty="0"/>
          </a:p>
        </p:txBody>
      </p:sp>
      <p:pic>
        <p:nvPicPr>
          <p:cNvPr id="16" name="Image 4" descr="preencoded.png">    </p:cNvPr>
          <p:cNvPicPr>
            <a:picLocks noChangeAspect="1"/>
          </p:cNvPicPr>
          <p:nvPr/>
        </p:nvPicPr>
        <p:blipFill>
          <a:blip r:embed="rId5"/>
          <a:stretch>
            <a:fillRect/>
          </a:stretch>
        </p:blipFill>
        <p:spPr>
          <a:xfrm>
            <a:off x="822960" y="4389120"/>
            <a:ext cx="201168" cy="201168"/>
          </a:xfrm>
          <a:prstGeom prst="rect">
            <a:avLst/>
          </a:prstGeom>
        </p:spPr>
      </p:pic>
      <p:sp>
        <p:nvSpPr>
          <p:cNvPr id="17" name="Text 10"/>
          <p:cNvSpPr txBox="1"/>
          <p:nvPr/>
        </p:nvSpPr>
        <p:spPr>
          <a:xfrm>
            <a:off x="1188720" y="4315968"/>
            <a:ext cx="4572000" cy="384048"/>
          </a:xfrm>
          <a:prstGeom prst="rect">
            <a:avLst/>
          </a:prstGeom>
          <a:noFill/>
          <a:ln/>
        </p:spPr>
        <p:txBody>
          <a:bodyPr wrap="square" lIns="0" tIns="0" rIns="0" bIns="0" rtlCol="0" anchor="ctr"/>
          <a:lstStyle/>
          <a:p>
            <a:pPr indent="0" marL="0">
              <a:buNone/>
            </a:pPr>
            <a:r>
              <a:rPr lang="en-US" sz="1400" dirty="0">
                <a:solidFill>
                  <a:srgbClr val="1E2A30"/>
                </a:solidFill>
                <a:latin typeface="Calibri" pitchFamily="34" charset="0"/>
                <a:ea typeface="Calibri" pitchFamily="34" charset="-122"/>
                <a:cs typeface="Calibri" pitchFamily="34" charset="-120"/>
              </a:rPr>
              <a:t>Say openly when a figure is missing</a:t>
            </a:r>
            <a:endParaRPr lang="en-US" sz="1400" dirty="0"/>
          </a:p>
        </p:txBody>
      </p:sp>
      <p:pic>
        <p:nvPicPr>
          <p:cNvPr id="18" name="Image 5" descr="preencoded.png">    </p:cNvPr>
          <p:cNvPicPr>
            <a:picLocks noChangeAspect="1"/>
          </p:cNvPicPr>
          <p:nvPr/>
        </p:nvPicPr>
        <p:blipFill>
          <a:blip r:embed="rId6"/>
          <a:stretch>
            <a:fillRect/>
          </a:stretch>
        </p:blipFill>
        <p:spPr>
          <a:xfrm>
            <a:off x="822960" y="4846320"/>
            <a:ext cx="201168" cy="201168"/>
          </a:xfrm>
          <a:prstGeom prst="rect">
            <a:avLst/>
          </a:prstGeom>
        </p:spPr>
      </p:pic>
      <p:sp>
        <p:nvSpPr>
          <p:cNvPr id="19" name="Text 11"/>
          <p:cNvSpPr txBox="1"/>
          <p:nvPr/>
        </p:nvSpPr>
        <p:spPr>
          <a:xfrm>
            <a:off x="1188720" y="4773168"/>
            <a:ext cx="4572000" cy="384048"/>
          </a:xfrm>
          <a:prstGeom prst="rect">
            <a:avLst/>
          </a:prstGeom>
          <a:noFill/>
          <a:ln/>
        </p:spPr>
        <p:txBody>
          <a:bodyPr wrap="square" lIns="0" tIns="0" rIns="0" bIns="0" rtlCol="0" anchor="ctr"/>
          <a:lstStyle/>
          <a:p>
            <a:pPr indent="0" marL="0">
              <a:buNone/>
            </a:pPr>
            <a:r>
              <a:rPr lang="en-US" sz="1400" dirty="0">
                <a:solidFill>
                  <a:srgbClr val="1E2A30"/>
                </a:solidFill>
                <a:latin typeface="Calibri" pitchFamily="34" charset="0"/>
                <a:ea typeface="Calibri" pitchFamily="34" charset="-122"/>
                <a:cs typeface="Calibri" pitchFamily="34" charset="-120"/>
              </a:rPr>
              <a:t>Use client material as labelled context</a:t>
            </a:r>
            <a:endParaRPr lang="en-US" sz="1400" dirty="0"/>
          </a:p>
        </p:txBody>
      </p:sp>
      <p:pic>
        <p:nvPicPr>
          <p:cNvPr id="20" name="Image 6" descr="preencoded.png">    </p:cNvPr>
          <p:cNvPicPr>
            <a:picLocks noChangeAspect="1"/>
          </p:cNvPicPr>
          <p:nvPr/>
        </p:nvPicPr>
        <p:blipFill>
          <a:blip r:embed="rId7"/>
          <a:stretch>
            <a:fillRect/>
          </a:stretch>
        </p:blipFill>
        <p:spPr>
          <a:xfrm>
            <a:off x="822960" y="5303520"/>
            <a:ext cx="201168" cy="201168"/>
          </a:xfrm>
          <a:prstGeom prst="rect">
            <a:avLst/>
          </a:prstGeom>
        </p:spPr>
      </p:pic>
      <p:sp>
        <p:nvSpPr>
          <p:cNvPr id="21" name="Text 12"/>
          <p:cNvSpPr txBox="1"/>
          <p:nvPr/>
        </p:nvSpPr>
        <p:spPr>
          <a:xfrm>
            <a:off x="1188720" y="5230368"/>
            <a:ext cx="4572000" cy="384048"/>
          </a:xfrm>
          <a:prstGeom prst="rect">
            <a:avLst/>
          </a:prstGeom>
          <a:noFill/>
          <a:ln/>
        </p:spPr>
        <p:txBody>
          <a:bodyPr wrap="square" lIns="0" tIns="0" rIns="0" bIns="0" rtlCol="0" anchor="ctr"/>
          <a:lstStyle/>
          <a:p>
            <a:pPr indent="0" marL="0">
              <a:buNone/>
            </a:pPr>
            <a:r>
              <a:rPr lang="en-US" sz="1400" dirty="0">
                <a:solidFill>
                  <a:srgbClr val="1E2A30"/>
                </a:solidFill>
                <a:latin typeface="Calibri" pitchFamily="34" charset="0"/>
                <a:ea typeface="Calibri" pitchFamily="34" charset="-122"/>
                <a:cs typeface="Calibri" pitchFamily="34" charset="-120"/>
              </a:rPr>
              <a:t>Explain the likely effect on the client's sector</a:t>
            </a:r>
            <a:endParaRPr lang="en-US" sz="1400" dirty="0"/>
          </a:p>
        </p:txBody>
      </p:sp>
      <p:pic>
        <p:nvPicPr>
          <p:cNvPr id="22" name="Image 7" descr="preencoded.png">    </p:cNvPr>
          <p:cNvPicPr>
            <a:picLocks noChangeAspect="1"/>
          </p:cNvPicPr>
          <p:nvPr/>
        </p:nvPicPr>
        <p:blipFill>
          <a:blip r:embed="rId8"/>
          <a:stretch>
            <a:fillRect/>
          </a:stretch>
        </p:blipFill>
        <p:spPr>
          <a:xfrm>
            <a:off x="822960" y="5760720"/>
            <a:ext cx="201168" cy="201168"/>
          </a:xfrm>
          <a:prstGeom prst="rect">
            <a:avLst/>
          </a:prstGeom>
        </p:spPr>
      </p:pic>
      <p:sp>
        <p:nvSpPr>
          <p:cNvPr id="23" name="Text 13"/>
          <p:cNvSpPr txBox="1"/>
          <p:nvPr/>
        </p:nvSpPr>
        <p:spPr>
          <a:xfrm>
            <a:off x="1188720" y="5687568"/>
            <a:ext cx="4572000" cy="384048"/>
          </a:xfrm>
          <a:prstGeom prst="rect">
            <a:avLst/>
          </a:prstGeom>
          <a:noFill/>
          <a:ln/>
        </p:spPr>
        <p:txBody>
          <a:bodyPr wrap="square" lIns="0" tIns="0" rIns="0" bIns="0" rtlCol="0" anchor="ctr"/>
          <a:lstStyle/>
          <a:p>
            <a:pPr indent="0" marL="0">
              <a:buNone/>
            </a:pPr>
            <a:r>
              <a:rPr lang="en-US" sz="1400" dirty="0">
                <a:solidFill>
                  <a:srgbClr val="1E2A30"/>
                </a:solidFill>
                <a:latin typeface="Calibri" pitchFamily="34" charset="0"/>
                <a:ea typeface="Calibri" pitchFamily="34" charset="-122"/>
                <a:cs typeface="Calibri" pitchFamily="34" charset="-120"/>
              </a:rPr>
              <a:t>Stop and ask when a mandatory input is missing</a:t>
            </a:r>
            <a:endParaRPr lang="en-US" sz="1400" dirty="0"/>
          </a:p>
        </p:txBody>
      </p:sp>
      <p:sp>
        <p:nvSpPr>
          <p:cNvPr id="24" name="Shape 14"/>
          <p:cNvSpPr/>
          <p:nvPr/>
        </p:nvSpPr>
        <p:spPr>
          <a:xfrm>
            <a:off x="6172200" y="1737360"/>
            <a:ext cx="5440680" cy="4526280"/>
          </a:xfrm>
          <a:prstGeom prst="roundRect">
            <a:avLst>
              <a:gd name="adj" fmla="val 1616"/>
            </a:avLst>
          </a:prstGeom>
          <a:solidFill>
            <a:srgbClr val="F6E1DD"/>
          </a:solidFill>
          <a:ln w="12700">
            <a:solidFill>
              <a:srgbClr val="F6E1DD"/>
            </a:solidFill>
            <a:prstDash val="solid"/>
          </a:ln>
        </p:spPr>
      </p:sp>
      <p:sp>
        <p:nvSpPr>
          <p:cNvPr id="25" name="Shape 15"/>
          <p:cNvSpPr/>
          <p:nvPr/>
        </p:nvSpPr>
        <p:spPr>
          <a:xfrm>
            <a:off x="6172200" y="1737360"/>
            <a:ext cx="5440680" cy="566928"/>
          </a:xfrm>
          <a:prstGeom prst="roundRect">
            <a:avLst>
              <a:gd name="adj" fmla="val 12903"/>
            </a:avLst>
          </a:prstGeom>
          <a:solidFill>
            <a:srgbClr val="A8443A"/>
          </a:solidFill>
          <a:ln w="12700">
            <a:solidFill>
              <a:srgbClr val="A8443A"/>
            </a:solidFill>
            <a:prstDash val="solid"/>
          </a:ln>
        </p:spPr>
      </p:sp>
      <p:sp>
        <p:nvSpPr>
          <p:cNvPr id="26" name="Shape 16"/>
          <p:cNvSpPr/>
          <p:nvPr/>
        </p:nvSpPr>
        <p:spPr>
          <a:xfrm>
            <a:off x="6172200" y="2103120"/>
            <a:ext cx="5440680" cy="201168"/>
          </a:xfrm>
          <a:prstGeom prst="rect">
            <a:avLst/>
          </a:prstGeom>
          <a:solidFill>
            <a:srgbClr val="A8443A"/>
          </a:solidFill>
          <a:ln w="12700">
            <a:solidFill>
              <a:srgbClr val="A8443A"/>
            </a:solidFill>
            <a:prstDash val="solid"/>
          </a:ln>
        </p:spPr>
      </p:sp>
      <p:sp>
        <p:nvSpPr>
          <p:cNvPr id="27" name="Text 17"/>
          <p:cNvSpPr txBox="1"/>
          <p:nvPr/>
        </p:nvSpPr>
        <p:spPr>
          <a:xfrm>
            <a:off x="6446520" y="1737360"/>
            <a:ext cx="4892040" cy="56692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The agent will NOT</a:t>
            </a:r>
            <a:endParaRPr lang="en-US" sz="1700" dirty="0"/>
          </a:p>
        </p:txBody>
      </p:sp>
      <p:pic>
        <p:nvPicPr>
          <p:cNvPr id="28" name="Image 8" descr="preencoded.png">    </p:cNvPr>
          <p:cNvPicPr>
            <a:picLocks noChangeAspect="1"/>
          </p:cNvPicPr>
          <p:nvPr/>
        </p:nvPicPr>
        <p:blipFill>
          <a:blip r:embed="rId9"/>
          <a:stretch>
            <a:fillRect/>
          </a:stretch>
        </p:blipFill>
        <p:spPr>
          <a:xfrm>
            <a:off x="6446520" y="2560320"/>
            <a:ext cx="201168" cy="201168"/>
          </a:xfrm>
          <a:prstGeom prst="rect">
            <a:avLst/>
          </a:prstGeom>
        </p:spPr>
      </p:pic>
      <p:sp>
        <p:nvSpPr>
          <p:cNvPr id="29" name="Text 18"/>
          <p:cNvSpPr txBox="1"/>
          <p:nvPr/>
        </p:nvSpPr>
        <p:spPr>
          <a:xfrm>
            <a:off x="6812280" y="2487168"/>
            <a:ext cx="4572000" cy="384048"/>
          </a:xfrm>
          <a:prstGeom prst="rect">
            <a:avLst/>
          </a:prstGeom>
          <a:noFill/>
          <a:ln/>
        </p:spPr>
        <p:txBody>
          <a:bodyPr wrap="square" lIns="0" tIns="0" rIns="0" bIns="0" rtlCol="0" anchor="ctr"/>
          <a:lstStyle/>
          <a:p>
            <a:pPr indent="0" marL="0">
              <a:buNone/>
            </a:pPr>
            <a:r>
              <a:rPr lang="en-US" sz="1400" dirty="0">
                <a:solidFill>
                  <a:srgbClr val="1E2A30"/>
                </a:solidFill>
                <a:latin typeface="Calibri" pitchFamily="34" charset="0"/>
                <a:ea typeface="Calibri" pitchFamily="34" charset="-122"/>
                <a:cs typeface="Calibri" pitchFamily="34" charset="-120"/>
              </a:rPr>
              <a:t>Invent, guess or silently estimate figures</a:t>
            </a:r>
            <a:endParaRPr lang="en-US" sz="1400" dirty="0"/>
          </a:p>
        </p:txBody>
      </p:sp>
      <p:pic>
        <p:nvPicPr>
          <p:cNvPr id="30" name="Image 9" descr="preencoded.png">    </p:cNvPr>
          <p:cNvPicPr>
            <a:picLocks noChangeAspect="1"/>
          </p:cNvPicPr>
          <p:nvPr/>
        </p:nvPicPr>
        <p:blipFill>
          <a:blip r:embed="rId10"/>
          <a:stretch>
            <a:fillRect/>
          </a:stretch>
        </p:blipFill>
        <p:spPr>
          <a:xfrm>
            <a:off x="6446520" y="3017520"/>
            <a:ext cx="201168" cy="201168"/>
          </a:xfrm>
          <a:prstGeom prst="rect">
            <a:avLst/>
          </a:prstGeom>
        </p:spPr>
      </p:pic>
      <p:sp>
        <p:nvSpPr>
          <p:cNvPr id="31" name="Text 19"/>
          <p:cNvSpPr txBox="1"/>
          <p:nvPr/>
        </p:nvSpPr>
        <p:spPr>
          <a:xfrm>
            <a:off x="6812280" y="2944368"/>
            <a:ext cx="4572000" cy="384048"/>
          </a:xfrm>
          <a:prstGeom prst="rect">
            <a:avLst/>
          </a:prstGeom>
          <a:noFill/>
          <a:ln/>
        </p:spPr>
        <p:txBody>
          <a:bodyPr wrap="square" lIns="0" tIns="0" rIns="0" bIns="0" rtlCol="0" anchor="ctr"/>
          <a:lstStyle/>
          <a:p>
            <a:pPr indent="0" marL="0">
              <a:buNone/>
            </a:pPr>
            <a:r>
              <a:rPr lang="en-US" sz="1400" dirty="0">
                <a:solidFill>
                  <a:srgbClr val="1E2A30"/>
                </a:solidFill>
                <a:latin typeface="Calibri" pitchFamily="34" charset="0"/>
                <a:ea typeface="Calibri" pitchFamily="34" charset="-122"/>
                <a:cs typeface="Calibri" pitchFamily="34" charset="-120"/>
              </a:rPr>
              <a:t>Use news, blogs or unofficial aggregators as data</a:t>
            </a:r>
            <a:endParaRPr lang="en-US" sz="1400" dirty="0"/>
          </a:p>
        </p:txBody>
      </p:sp>
      <p:pic>
        <p:nvPicPr>
          <p:cNvPr id="32" name="Image 10" descr="preencoded.png">    </p:cNvPr>
          <p:cNvPicPr>
            <a:picLocks noChangeAspect="1"/>
          </p:cNvPicPr>
          <p:nvPr/>
        </p:nvPicPr>
        <p:blipFill>
          <a:blip r:embed="rId11"/>
          <a:stretch>
            <a:fillRect/>
          </a:stretch>
        </p:blipFill>
        <p:spPr>
          <a:xfrm>
            <a:off x="6446520" y="3474720"/>
            <a:ext cx="201168" cy="201168"/>
          </a:xfrm>
          <a:prstGeom prst="rect">
            <a:avLst/>
          </a:prstGeom>
        </p:spPr>
      </p:pic>
      <p:sp>
        <p:nvSpPr>
          <p:cNvPr id="33" name="Text 20"/>
          <p:cNvSpPr txBox="1"/>
          <p:nvPr/>
        </p:nvSpPr>
        <p:spPr>
          <a:xfrm>
            <a:off x="6812280" y="3401568"/>
            <a:ext cx="4572000" cy="384048"/>
          </a:xfrm>
          <a:prstGeom prst="rect">
            <a:avLst/>
          </a:prstGeom>
          <a:noFill/>
          <a:ln/>
        </p:spPr>
        <p:txBody>
          <a:bodyPr wrap="square" lIns="0" tIns="0" rIns="0" bIns="0" rtlCol="0" anchor="ctr"/>
          <a:lstStyle/>
          <a:p>
            <a:pPr indent="0" marL="0">
              <a:buNone/>
            </a:pPr>
            <a:r>
              <a:rPr lang="en-US" sz="1400" dirty="0">
                <a:solidFill>
                  <a:srgbClr val="1E2A30"/>
                </a:solidFill>
                <a:latin typeface="Calibri" pitchFamily="34" charset="0"/>
                <a:ea typeface="Calibri" pitchFamily="34" charset="-122"/>
                <a:cs typeface="Calibri" pitchFamily="34" charset="-120"/>
              </a:rPr>
              <a:t>Present its own estimates as official forecasts</a:t>
            </a:r>
            <a:endParaRPr lang="en-US" sz="1400" dirty="0"/>
          </a:p>
        </p:txBody>
      </p:sp>
      <p:pic>
        <p:nvPicPr>
          <p:cNvPr id="34" name="Image 11" descr="preencoded.png">    </p:cNvPr>
          <p:cNvPicPr>
            <a:picLocks noChangeAspect="1"/>
          </p:cNvPicPr>
          <p:nvPr/>
        </p:nvPicPr>
        <p:blipFill>
          <a:blip r:embed="rId12"/>
          <a:stretch>
            <a:fillRect/>
          </a:stretch>
        </p:blipFill>
        <p:spPr>
          <a:xfrm>
            <a:off x="6446520" y="3931920"/>
            <a:ext cx="201168" cy="201168"/>
          </a:xfrm>
          <a:prstGeom prst="rect">
            <a:avLst/>
          </a:prstGeom>
        </p:spPr>
      </p:pic>
      <p:sp>
        <p:nvSpPr>
          <p:cNvPr id="35" name="Text 21"/>
          <p:cNvSpPr txBox="1"/>
          <p:nvPr/>
        </p:nvSpPr>
        <p:spPr>
          <a:xfrm>
            <a:off x="6812280" y="3858768"/>
            <a:ext cx="4572000" cy="384048"/>
          </a:xfrm>
          <a:prstGeom prst="rect">
            <a:avLst/>
          </a:prstGeom>
          <a:noFill/>
          <a:ln/>
        </p:spPr>
        <p:txBody>
          <a:bodyPr wrap="square" lIns="0" tIns="0" rIns="0" bIns="0" rtlCol="0" anchor="ctr"/>
          <a:lstStyle/>
          <a:p>
            <a:pPr indent="0" marL="0">
              <a:buNone/>
            </a:pPr>
            <a:r>
              <a:rPr lang="en-US" sz="1400" dirty="0">
                <a:solidFill>
                  <a:srgbClr val="1E2A30"/>
                </a:solidFill>
                <a:latin typeface="Calibri" pitchFamily="34" charset="0"/>
                <a:ea typeface="Calibri" pitchFamily="34" charset="-122"/>
                <a:cs typeface="Calibri" pitchFamily="34" charset="-120"/>
              </a:rPr>
              <a:t>Extend forecasts beyond the official horizon</a:t>
            </a:r>
            <a:endParaRPr lang="en-US" sz="1400" dirty="0"/>
          </a:p>
        </p:txBody>
      </p:sp>
      <p:pic>
        <p:nvPicPr>
          <p:cNvPr id="36" name="Image 12" descr="preencoded.png">    </p:cNvPr>
          <p:cNvPicPr>
            <a:picLocks noChangeAspect="1"/>
          </p:cNvPicPr>
          <p:nvPr/>
        </p:nvPicPr>
        <p:blipFill>
          <a:blip r:embed="rId13"/>
          <a:stretch>
            <a:fillRect/>
          </a:stretch>
        </p:blipFill>
        <p:spPr>
          <a:xfrm>
            <a:off x="6446520" y="4389120"/>
            <a:ext cx="201168" cy="201168"/>
          </a:xfrm>
          <a:prstGeom prst="rect">
            <a:avLst/>
          </a:prstGeom>
        </p:spPr>
      </p:pic>
      <p:sp>
        <p:nvSpPr>
          <p:cNvPr id="37" name="Text 22"/>
          <p:cNvSpPr txBox="1"/>
          <p:nvPr/>
        </p:nvSpPr>
        <p:spPr>
          <a:xfrm>
            <a:off x="6812280" y="4315968"/>
            <a:ext cx="4572000" cy="384048"/>
          </a:xfrm>
          <a:prstGeom prst="rect">
            <a:avLst/>
          </a:prstGeom>
          <a:noFill/>
          <a:ln/>
        </p:spPr>
        <p:txBody>
          <a:bodyPr wrap="square" lIns="0" tIns="0" rIns="0" bIns="0" rtlCol="0" anchor="ctr"/>
          <a:lstStyle/>
          <a:p>
            <a:pPr indent="0" marL="0">
              <a:buNone/>
            </a:pPr>
            <a:r>
              <a:rPr lang="en-US" sz="1400" dirty="0">
                <a:solidFill>
                  <a:srgbClr val="1E2A30"/>
                </a:solidFill>
                <a:latin typeface="Calibri" pitchFamily="34" charset="0"/>
                <a:ea typeface="Calibri" pitchFamily="34" charset="-122"/>
                <a:cs typeface="Calibri" pitchFamily="34" charset="-120"/>
              </a:rPr>
              <a:t>Give investment, legal, tax or accounting advice</a:t>
            </a:r>
            <a:endParaRPr lang="en-US" sz="1400" dirty="0"/>
          </a:p>
        </p:txBody>
      </p:sp>
      <p:pic>
        <p:nvPicPr>
          <p:cNvPr id="38" name="Image 13" descr="preencoded.png">    </p:cNvPr>
          <p:cNvPicPr>
            <a:picLocks noChangeAspect="1"/>
          </p:cNvPicPr>
          <p:nvPr/>
        </p:nvPicPr>
        <p:blipFill>
          <a:blip r:embed="rId14"/>
          <a:stretch>
            <a:fillRect/>
          </a:stretch>
        </p:blipFill>
        <p:spPr>
          <a:xfrm>
            <a:off x="6446520" y="4846320"/>
            <a:ext cx="201168" cy="201168"/>
          </a:xfrm>
          <a:prstGeom prst="rect">
            <a:avLst/>
          </a:prstGeom>
        </p:spPr>
      </p:pic>
      <p:sp>
        <p:nvSpPr>
          <p:cNvPr id="39" name="Text 23"/>
          <p:cNvSpPr txBox="1"/>
          <p:nvPr/>
        </p:nvSpPr>
        <p:spPr>
          <a:xfrm>
            <a:off x="6812280" y="4773168"/>
            <a:ext cx="4572000" cy="384048"/>
          </a:xfrm>
          <a:prstGeom prst="rect">
            <a:avLst/>
          </a:prstGeom>
          <a:noFill/>
          <a:ln/>
        </p:spPr>
        <p:txBody>
          <a:bodyPr wrap="square" lIns="0" tIns="0" rIns="0" bIns="0" rtlCol="0" anchor="ctr"/>
          <a:lstStyle/>
          <a:p>
            <a:pPr indent="0" marL="0">
              <a:buNone/>
            </a:pPr>
            <a:r>
              <a:rPr lang="en-US" sz="1400" dirty="0">
                <a:solidFill>
                  <a:srgbClr val="1E2A30"/>
                </a:solidFill>
                <a:latin typeface="Calibri" pitchFamily="34" charset="0"/>
                <a:ea typeface="Calibri" pitchFamily="34" charset="-122"/>
                <a:cs typeface="Calibri" pitchFamily="34" charset="-120"/>
              </a:rPr>
              <a:t>Do company valuations or financial models</a:t>
            </a:r>
            <a:endParaRPr lang="en-US" sz="1400" dirty="0"/>
          </a:p>
        </p:txBody>
      </p:sp>
      <p:pic>
        <p:nvPicPr>
          <p:cNvPr id="40" name="Image 14" descr="preencoded.png">    </p:cNvPr>
          <p:cNvPicPr>
            <a:picLocks noChangeAspect="1"/>
          </p:cNvPicPr>
          <p:nvPr/>
        </p:nvPicPr>
        <p:blipFill>
          <a:blip r:embed="rId15"/>
          <a:stretch>
            <a:fillRect/>
          </a:stretch>
        </p:blipFill>
        <p:spPr>
          <a:xfrm>
            <a:off x="6446520" y="5303520"/>
            <a:ext cx="201168" cy="201168"/>
          </a:xfrm>
          <a:prstGeom prst="rect">
            <a:avLst/>
          </a:prstGeom>
        </p:spPr>
      </p:pic>
      <p:sp>
        <p:nvSpPr>
          <p:cNvPr id="41" name="Text 24"/>
          <p:cNvSpPr txBox="1"/>
          <p:nvPr/>
        </p:nvSpPr>
        <p:spPr>
          <a:xfrm>
            <a:off x="6812280" y="5230368"/>
            <a:ext cx="4572000" cy="384048"/>
          </a:xfrm>
          <a:prstGeom prst="rect">
            <a:avLst/>
          </a:prstGeom>
          <a:noFill/>
          <a:ln/>
        </p:spPr>
        <p:txBody>
          <a:bodyPr wrap="square" lIns="0" tIns="0" rIns="0" bIns="0" rtlCol="0" anchor="ctr"/>
          <a:lstStyle/>
          <a:p>
            <a:pPr indent="0" marL="0">
              <a:buNone/>
            </a:pPr>
            <a:r>
              <a:rPr lang="en-US" sz="1400" dirty="0">
                <a:solidFill>
                  <a:srgbClr val="1E2A30"/>
                </a:solidFill>
                <a:latin typeface="Calibri" pitchFamily="34" charset="0"/>
                <a:ea typeface="Calibri" pitchFamily="34" charset="-122"/>
                <a:cs typeface="Calibri" pitchFamily="34" charset="-120"/>
              </a:rPr>
              <a:t>Provide real-time market data or monitoring</a:t>
            </a:r>
            <a:endParaRPr lang="en-US" sz="1400" dirty="0"/>
          </a:p>
        </p:txBody>
      </p:sp>
      <p:pic>
        <p:nvPicPr>
          <p:cNvPr id="42" name="Image 15" descr="preencoded.png">    </p:cNvPr>
          <p:cNvPicPr>
            <a:picLocks noChangeAspect="1"/>
          </p:cNvPicPr>
          <p:nvPr/>
        </p:nvPicPr>
        <p:blipFill>
          <a:blip r:embed="rId16"/>
          <a:stretch>
            <a:fillRect/>
          </a:stretch>
        </p:blipFill>
        <p:spPr>
          <a:xfrm>
            <a:off x="6446520" y="5760720"/>
            <a:ext cx="201168" cy="201168"/>
          </a:xfrm>
          <a:prstGeom prst="rect">
            <a:avLst/>
          </a:prstGeom>
        </p:spPr>
      </p:pic>
      <p:sp>
        <p:nvSpPr>
          <p:cNvPr id="43" name="Text 25"/>
          <p:cNvSpPr txBox="1"/>
          <p:nvPr/>
        </p:nvSpPr>
        <p:spPr>
          <a:xfrm>
            <a:off x="6812280" y="5687568"/>
            <a:ext cx="4572000" cy="384048"/>
          </a:xfrm>
          <a:prstGeom prst="rect">
            <a:avLst/>
          </a:prstGeom>
          <a:noFill/>
          <a:ln/>
        </p:spPr>
        <p:txBody>
          <a:bodyPr wrap="square" lIns="0" tIns="0" rIns="0" bIns="0" rtlCol="0" anchor="ctr"/>
          <a:lstStyle/>
          <a:p>
            <a:pPr indent="0" marL="0">
              <a:buNone/>
            </a:pPr>
            <a:r>
              <a:rPr lang="en-US" sz="1400" dirty="0">
                <a:solidFill>
                  <a:srgbClr val="1E2A30"/>
                </a:solidFill>
                <a:latin typeface="Calibri" pitchFamily="34" charset="0"/>
                <a:ea typeface="Calibri" pitchFamily="34" charset="-122"/>
                <a:cs typeface="Calibri" pitchFamily="34" charset="-120"/>
              </a:rPr>
              <a:t>Replace review by a qualified analyst</a:t>
            </a:r>
            <a:endParaRPr lang="en-US" sz="1400" dirty="0"/>
          </a:p>
        </p:txBody>
      </p:sp>
      <p:sp>
        <p:nvSpPr>
          <p:cNvPr id="44" name="Text 26"/>
          <p:cNvSpPr txBox="1"/>
          <p:nvPr/>
        </p:nvSpPr>
        <p:spPr>
          <a:xfrm>
            <a:off x="548640" y="6473952"/>
            <a:ext cx="6400800" cy="228600"/>
          </a:xfrm>
          <a:prstGeom prst="rect">
            <a:avLst/>
          </a:prstGeom>
          <a:noFill/>
          <a:ln/>
        </p:spPr>
        <p:txBody>
          <a:bodyPr wrap="square" lIns="0" tIns="0" rIns="0" bIns="0" rtlCol="0" anchor="t"/>
          <a:lstStyle/>
          <a:p>
            <a:pPr indent="0" marL="0">
              <a:buNone/>
            </a:pPr>
            <a:r>
              <a:rPr lang="en-US" sz="900" dirty="0">
                <a:solidFill>
                  <a:srgbClr val="95A1A8"/>
                </a:solidFill>
                <a:latin typeface="Calibri" pitchFamily="34" charset="0"/>
                <a:ea typeface="Calibri" pitchFamily="34" charset="-122"/>
                <a:cs typeface="Calibri" pitchFamily="34" charset="-120"/>
              </a:rPr>
              <a:t>Macroenvironment Agent · Business Requirements · Board review</a:t>
            </a:r>
            <a:endParaRPr lang="en-US" sz="900" dirty="0"/>
          </a:p>
        </p:txBody>
      </p:sp>
      <p:sp>
        <p:nvSpPr>
          <p:cNvPr id="45" name="Text 27"/>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95A1A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84048"/>
            <a:ext cx="11094415" cy="685800"/>
          </a:xfrm>
          <a:prstGeom prst="rect">
            <a:avLst/>
          </a:prstGeom>
          <a:noFill/>
          <a:ln/>
        </p:spPr>
        <p:txBody>
          <a:bodyPr wrap="square" lIns="0" tIns="0" rIns="0" bIns="0" rtlCol="0" anchor="ctr"/>
          <a:lstStyle/>
          <a:p>
            <a:pPr indent="0" marL="0">
              <a:buNone/>
            </a:pPr>
            <a:r>
              <a:rPr lang="en-US" sz="3000" b="1" dirty="0">
                <a:solidFill>
                  <a:srgbClr val="12343B"/>
                </a:solidFill>
                <a:latin typeface="Cambria" pitchFamily="34" charset="0"/>
                <a:ea typeface="Cambria" pitchFamily="34" charset="-122"/>
                <a:cs typeface="Cambria" pitchFamily="34" charset="-120"/>
              </a:rPr>
              <a:t>How we will know it works</a:t>
            </a:r>
            <a:endParaRPr lang="en-US" sz="3000" dirty="0"/>
          </a:p>
        </p:txBody>
      </p:sp>
      <p:sp>
        <p:nvSpPr>
          <p:cNvPr id="3" name="Text 1"/>
          <p:cNvSpPr txBox="1"/>
          <p:nvPr/>
        </p:nvSpPr>
        <p:spPr>
          <a:xfrm>
            <a:off x="548640" y="1069848"/>
            <a:ext cx="11094415" cy="411480"/>
          </a:xfrm>
          <a:prstGeom prst="rect">
            <a:avLst/>
          </a:prstGeom>
          <a:noFill/>
          <a:ln/>
        </p:spPr>
        <p:txBody>
          <a:bodyPr wrap="square" lIns="0" tIns="0" rIns="0" bIns="0" rtlCol="0" anchor="t"/>
          <a:lstStyle/>
          <a:p>
            <a:pPr indent="0" marL="0">
              <a:buNone/>
            </a:pPr>
            <a:r>
              <a:rPr lang="en-US" sz="1500" dirty="0">
                <a:solidFill>
                  <a:srgbClr val="5B6770"/>
                </a:solidFill>
                <a:latin typeface="Calibri" pitchFamily="34" charset="0"/>
                <a:ea typeface="Calibri" pitchFamily="34" charset="-122"/>
                <a:cs typeface="Calibri" pitchFamily="34" charset="-120"/>
              </a:rPr>
              <a:t>Acceptance criteria for the built agent</a:t>
            </a:r>
            <a:endParaRPr lang="en-US" sz="1500" dirty="0"/>
          </a:p>
        </p:txBody>
      </p:sp>
      <p:sp>
        <p:nvSpPr>
          <p:cNvPr id="4" name="Shape 2"/>
          <p:cNvSpPr/>
          <p:nvPr/>
        </p:nvSpPr>
        <p:spPr>
          <a:xfrm>
            <a:off x="548640" y="1783080"/>
            <a:ext cx="3566160" cy="1691640"/>
          </a:xfrm>
          <a:prstGeom prst="roundRect">
            <a:avLst>
              <a:gd name="adj" fmla="val 4324"/>
            </a:avLst>
          </a:prstGeom>
          <a:solidFill>
            <a:srgbClr val="F4F6F7"/>
          </a:solidFill>
          <a:ln w="12700">
            <a:solidFill>
              <a:srgbClr val="F4F6F7"/>
            </a:solidFill>
            <a:prstDash val="solid"/>
          </a:ln>
        </p:spPr>
      </p:sp>
      <p:sp>
        <p:nvSpPr>
          <p:cNvPr id="5" name="Text 3"/>
          <p:cNvSpPr txBox="1"/>
          <p:nvPr/>
        </p:nvSpPr>
        <p:spPr>
          <a:xfrm>
            <a:off x="822960" y="1965960"/>
            <a:ext cx="3017520" cy="731520"/>
          </a:xfrm>
          <a:prstGeom prst="rect">
            <a:avLst/>
          </a:prstGeom>
          <a:noFill/>
          <a:ln/>
        </p:spPr>
        <p:txBody>
          <a:bodyPr wrap="square" lIns="0" tIns="0" rIns="0" bIns="0" rtlCol="0" anchor="t"/>
          <a:lstStyle/>
          <a:p>
            <a:pPr indent="0" marL="0">
              <a:buNone/>
            </a:pPr>
            <a:r>
              <a:rPr lang="en-US" sz="3800" b="1" dirty="0">
                <a:solidFill>
                  <a:srgbClr val="B8862B"/>
                </a:solidFill>
                <a:latin typeface="Cambria" pitchFamily="34" charset="0"/>
                <a:ea typeface="Cambria" pitchFamily="34" charset="-122"/>
                <a:cs typeface="Cambria" pitchFamily="34" charset="-120"/>
              </a:rPr>
              <a:t>100%</a:t>
            </a:r>
            <a:endParaRPr lang="en-US" sz="3800" dirty="0"/>
          </a:p>
        </p:txBody>
      </p:sp>
      <p:sp>
        <p:nvSpPr>
          <p:cNvPr id="6" name="Text 4"/>
          <p:cNvSpPr txBox="1"/>
          <p:nvPr/>
        </p:nvSpPr>
        <p:spPr>
          <a:xfrm>
            <a:off x="822960" y="2697480"/>
            <a:ext cx="3017520" cy="685800"/>
          </a:xfrm>
          <a:prstGeom prst="rect">
            <a:avLst/>
          </a:prstGeom>
          <a:noFill/>
          <a:ln/>
        </p:spPr>
        <p:txBody>
          <a:bodyPr wrap="square" lIns="0" tIns="0" rIns="0" bIns="0" rtlCol="0" anchor="t"/>
          <a:lstStyle/>
          <a:p>
            <a:pPr indent="0" marL="0">
              <a:buNone/>
            </a:pPr>
            <a:r>
              <a:rPr lang="en-US" sz="1400" dirty="0">
                <a:solidFill>
                  <a:srgbClr val="12343B"/>
                </a:solidFill>
                <a:latin typeface="Calibri" pitchFamily="34" charset="0"/>
                <a:ea typeface="Calibri" pitchFamily="34" charset="-122"/>
                <a:cs typeface="Calibri" pitchFamily="34" charset="-120"/>
              </a:rPr>
              <a:t>of figures show their source and date</a:t>
            </a:r>
            <a:endParaRPr lang="en-US" sz="1400" dirty="0"/>
          </a:p>
        </p:txBody>
      </p:sp>
      <p:sp>
        <p:nvSpPr>
          <p:cNvPr id="7" name="Shape 5"/>
          <p:cNvSpPr/>
          <p:nvPr/>
        </p:nvSpPr>
        <p:spPr>
          <a:xfrm>
            <a:off x="4297680" y="1783080"/>
            <a:ext cx="3566160" cy="1691640"/>
          </a:xfrm>
          <a:prstGeom prst="roundRect">
            <a:avLst>
              <a:gd name="adj" fmla="val 4324"/>
            </a:avLst>
          </a:prstGeom>
          <a:solidFill>
            <a:srgbClr val="EFF6F5"/>
          </a:solidFill>
          <a:ln w="12700">
            <a:solidFill>
              <a:srgbClr val="EFF6F5"/>
            </a:solidFill>
            <a:prstDash val="solid"/>
          </a:ln>
        </p:spPr>
      </p:sp>
      <p:sp>
        <p:nvSpPr>
          <p:cNvPr id="8" name="Text 6"/>
          <p:cNvSpPr txBox="1"/>
          <p:nvPr/>
        </p:nvSpPr>
        <p:spPr>
          <a:xfrm>
            <a:off x="4572000" y="1965960"/>
            <a:ext cx="3017520" cy="731520"/>
          </a:xfrm>
          <a:prstGeom prst="rect">
            <a:avLst/>
          </a:prstGeom>
          <a:noFill/>
          <a:ln/>
        </p:spPr>
        <p:txBody>
          <a:bodyPr wrap="square" lIns="0" tIns="0" rIns="0" bIns="0" rtlCol="0" anchor="t"/>
          <a:lstStyle/>
          <a:p>
            <a:pPr indent="0" marL="0">
              <a:buNone/>
            </a:pPr>
            <a:r>
              <a:rPr lang="en-US" sz="3800" b="1" dirty="0">
                <a:solidFill>
                  <a:srgbClr val="B8862B"/>
                </a:solidFill>
                <a:latin typeface="Cambria" pitchFamily="34" charset="0"/>
                <a:ea typeface="Cambria" pitchFamily="34" charset="-122"/>
                <a:cs typeface="Cambria" pitchFamily="34" charset="-120"/>
              </a:rPr>
              <a:t>Zero</a:t>
            </a:r>
            <a:endParaRPr lang="en-US" sz="3800" dirty="0"/>
          </a:p>
        </p:txBody>
      </p:sp>
      <p:sp>
        <p:nvSpPr>
          <p:cNvPr id="9" name="Text 7"/>
          <p:cNvSpPr txBox="1"/>
          <p:nvPr/>
        </p:nvSpPr>
        <p:spPr>
          <a:xfrm>
            <a:off x="4572000" y="2697480"/>
            <a:ext cx="3017520" cy="685800"/>
          </a:xfrm>
          <a:prstGeom prst="rect">
            <a:avLst/>
          </a:prstGeom>
          <a:noFill/>
          <a:ln/>
        </p:spPr>
        <p:txBody>
          <a:bodyPr wrap="square" lIns="0" tIns="0" rIns="0" bIns="0" rtlCol="0" anchor="t"/>
          <a:lstStyle/>
          <a:p>
            <a:pPr indent="0" marL="0">
              <a:buNone/>
            </a:pPr>
            <a:r>
              <a:rPr lang="en-US" sz="1400" dirty="0">
                <a:solidFill>
                  <a:srgbClr val="12343B"/>
                </a:solidFill>
                <a:latin typeface="Calibri" pitchFamily="34" charset="0"/>
                <a:ea typeface="Calibri" pitchFamily="34" charset="-122"/>
                <a:cs typeface="Calibri" pitchFamily="34" charset="-120"/>
              </a:rPr>
              <a:t>differences for the same figure across the three documents</a:t>
            </a:r>
            <a:endParaRPr lang="en-US" sz="1400" dirty="0"/>
          </a:p>
        </p:txBody>
      </p:sp>
      <p:sp>
        <p:nvSpPr>
          <p:cNvPr id="10" name="Shape 8"/>
          <p:cNvSpPr/>
          <p:nvPr/>
        </p:nvSpPr>
        <p:spPr>
          <a:xfrm>
            <a:off x="8046720" y="1783080"/>
            <a:ext cx="3566160" cy="1691640"/>
          </a:xfrm>
          <a:prstGeom prst="roundRect">
            <a:avLst>
              <a:gd name="adj" fmla="val 4324"/>
            </a:avLst>
          </a:prstGeom>
          <a:solidFill>
            <a:srgbClr val="F4F6F7"/>
          </a:solidFill>
          <a:ln w="12700">
            <a:solidFill>
              <a:srgbClr val="F4F6F7"/>
            </a:solidFill>
            <a:prstDash val="solid"/>
          </a:ln>
        </p:spPr>
      </p:sp>
      <p:sp>
        <p:nvSpPr>
          <p:cNvPr id="11" name="Text 9"/>
          <p:cNvSpPr txBox="1"/>
          <p:nvPr/>
        </p:nvSpPr>
        <p:spPr>
          <a:xfrm>
            <a:off x="8321040" y="1965960"/>
            <a:ext cx="3017520" cy="731520"/>
          </a:xfrm>
          <a:prstGeom prst="rect">
            <a:avLst/>
          </a:prstGeom>
          <a:noFill/>
          <a:ln/>
        </p:spPr>
        <p:txBody>
          <a:bodyPr wrap="square" lIns="0" tIns="0" rIns="0" bIns="0" rtlCol="0" anchor="t"/>
          <a:lstStyle/>
          <a:p>
            <a:pPr indent="0" marL="0">
              <a:buNone/>
            </a:pPr>
            <a:r>
              <a:rPr lang="en-US" sz="3800" b="1" dirty="0">
                <a:solidFill>
                  <a:srgbClr val="B8862B"/>
                </a:solidFill>
                <a:latin typeface="Cambria" pitchFamily="34" charset="0"/>
                <a:ea typeface="Cambria" pitchFamily="34" charset="-122"/>
                <a:cs typeface="Cambria" pitchFamily="34" charset="-120"/>
              </a:rPr>
              <a:t>100%</a:t>
            </a:r>
            <a:endParaRPr lang="en-US" sz="3800" dirty="0"/>
          </a:p>
        </p:txBody>
      </p:sp>
      <p:sp>
        <p:nvSpPr>
          <p:cNvPr id="12" name="Text 10"/>
          <p:cNvSpPr txBox="1"/>
          <p:nvPr/>
        </p:nvSpPr>
        <p:spPr>
          <a:xfrm>
            <a:off x="8321040" y="2697480"/>
            <a:ext cx="3017520" cy="685800"/>
          </a:xfrm>
          <a:prstGeom prst="rect">
            <a:avLst/>
          </a:prstGeom>
          <a:noFill/>
          <a:ln/>
        </p:spPr>
        <p:txBody>
          <a:bodyPr wrap="square" lIns="0" tIns="0" rIns="0" bIns="0" rtlCol="0" anchor="t"/>
          <a:lstStyle/>
          <a:p>
            <a:pPr indent="0" marL="0">
              <a:buNone/>
            </a:pPr>
            <a:r>
              <a:rPr lang="en-US" sz="1400" dirty="0">
                <a:solidFill>
                  <a:srgbClr val="12343B"/>
                </a:solidFill>
                <a:latin typeface="Calibri" pitchFamily="34" charset="0"/>
                <a:ea typeface="Calibri" pitchFamily="34" charset="-122"/>
                <a:cs typeface="Calibri" pitchFamily="34" charset="-120"/>
              </a:rPr>
              <a:t>of figures labelled actual or forecast</a:t>
            </a:r>
            <a:endParaRPr lang="en-US" sz="1400" dirty="0"/>
          </a:p>
        </p:txBody>
      </p:sp>
      <p:sp>
        <p:nvSpPr>
          <p:cNvPr id="13" name="Shape 11"/>
          <p:cNvSpPr/>
          <p:nvPr/>
        </p:nvSpPr>
        <p:spPr>
          <a:xfrm>
            <a:off x="548640" y="3657600"/>
            <a:ext cx="3566160" cy="1691640"/>
          </a:xfrm>
          <a:prstGeom prst="roundRect">
            <a:avLst>
              <a:gd name="adj" fmla="val 4324"/>
            </a:avLst>
          </a:prstGeom>
          <a:solidFill>
            <a:srgbClr val="EFF6F5"/>
          </a:solidFill>
          <a:ln w="12700">
            <a:solidFill>
              <a:srgbClr val="EFF6F5"/>
            </a:solidFill>
            <a:prstDash val="solid"/>
          </a:ln>
        </p:spPr>
      </p:sp>
      <p:sp>
        <p:nvSpPr>
          <p:cNvPr id="14" name="Text 12"/>
          <p:cNvSpPr txBox="1"/>
          <p:nvPr/>
        </p:nvSpPr>
        <p:spPr>
          <a:xfrm>
            <a:off x="822960" y="3840480"/>
            <a:ext cx="3017520" cy="731520"/>
          </a:xfrm>
          <a:prstGeom prst="rect">
            <a:avLst/>
          </a:prstGeom>
          <a:noFill/>
          <a:ln/>
        </p:spPr>
        <p:txBody>
          <a:bodyPr wrap="square" lIns="0" tIns="0" rIns="0" bIns="0" rtlCol="0" anchor="t"/>
          <a:lstStyle/>
          <a:p>
            <a:pPr indent="0" marL="0">
              <a:buNone/>
            </a:pPr>
            <a:r>
              <a:rPr lang="en-US" sz="3800" b="1" dirty="0">
                <a:solidFill>
                  <a:srgbClr val="B8862B"/>
                </a:solidFill>
                <a:latin typeface="Cambria" pitchFamily="34" charset="0"/>
                <a:ea typeface="Cambria" pitchFamily="34" charset="-122"/>
                <a:cs typeface="Cambria" pitchFamily="34" charset="-120"/>
              </a:rPr>
              <a:t>Zero</a:t>
            </a:r>
            <a:endParaRPr lang="en-US" sz="3800" dirty="0"/>
          </a:p>
        </p:txBody>
      </p:sp>
      <p:sp>
        <p:nvSpPr>
          <p:cNvPr id="15" name="Text 13"/>
          <p:cNvSpPr txBox="1"/>
          <p:nvPr/>
        </p:nvSpPr>
        <p:spPr>
          <a:xfrm>
            <a:off x="822960" y="4572000"/>
            <a:ext cx="3017520" cy="685800"/>
          </a:xfrm>
          <a:prstGeom prst="rect">
            <a:avLst/>
          </a:prstGeom>
          <a:noFill/>
          <a:ln/>
        </p:spPr>
        <p:txBody>
          <a:bodyPr wrap="square" lIns="0" tIns="0" rIns="0" bIns="0" rtlCol="0" anchor="t"/>
          <a:lstStyle/>
          <a:p>
            <a:pPr indent="0" marL="0">
              <a:buNone/>
            </a:pPr>
            <a:r>
              <a:rPr lang="en-US" sz="1400" dirty="0">
                <a:solidFill>
                  <a:srgbClr val="12343B"/>
                </a:solidFill>
                <a:latin typeface="Calibri" pitchFamily="34" charset="0"/>
                <a:ea typeface="Calibri" pitchFamily="34" charset="-122"/>
                <a:cs typeface="Calibri" pitchFamily="34" charset="-120"/>
              </a:rPr>
              <a:t>estimates or client figures shown without their label</a:t>
            </a:r>
            <a:endParaRPr lang="en-US" sz="1400" dirty="0"/>
          </a:p>
        </p:txBody>
      </p:sp>
      <p:sp>
        <p:nvSpPr>
          <p:cNvPr id="16" name="Shape 14"/>
          <p:cNvSpPr/>
          <p:nvPr/>
        </p:nvSpPr>
        <p:spPr>
          <a:xfrm>
            <a:off x="4297680" y="3657600"/>
            <a:ext cx="3566160" cy="1691640"/>
          </a:xfrm>
          <a:prstGeom prst="roundRect">
            <a:avLst>
              <a:gd name="adj" fmla="val 4324"/>
            </a:avLst>
          </a:prstGeom>
          <a:solidFill>
            <a:srgbClr val="F4F6F7"/>
          </a:solidFill>
          <a:ln w="12700">
            <a:solidFill>
              <a:srgbClr val="F4F6F7"/>
            </a:solidFill>
            <a:prstDash val="solid"/>
          </a:ln>
        </p:spPr>
      </p:sp>
      <p:sp>
        <p:nvSpPr>
          <p:cNvPr id="17" name="Text 15"/>
          <p:cNvSpPr txBox="1"/>
          <p:nvPr/>
        </p:nvSpPr>
        <p:spPr>
          <a:xfrm>
            <a:off x="4572000" y="3840480"/>
            <a:ext cx="3017520" cy="731520"/>
          </a:xfrm>
          <a:prstGeom prst="rect">
            <a:avLst/>
          </a:prstGeom>
          <a:noFill/>
          <a:ln/>
        </p:spPr>
        <p:txBody>
          <a:bodyPr wrap="square" lIns="0" tIns="0" rIns="0" bIns="0" rtlCol="0" anchor="t"/>
          <a:lstStyle/>
          <a:p>
            <a:pPr indent="0" marL="0">
              <a:buNone/>
            </a:pPr>
            <a:r>
              <a:rPr lang="en-US" sz="3800" b="1" dirty="0">
                <a:solidFill>
                  <a:srgbClr val="B8862B"/>
                </a:solidFill>
                <a:latin typeface="Cambria" pitchFamily="34" charset="0"/>
                <a:ea typeface="Cambria" pitchFamily="34" charset="-122"/>
                <a:cs typeface="Cambria" pitchFamily="34" charset="-120"/>
              </a:rPr>
              <a:t>100%</a:t>
            </a:r>
            <a:endParaRPr lang="en-US" sz="3800" dirty="0"/>
          </a:p>
        </p:txBody>
      </p:sp>
      <p:sp>
        <p:nvSpPr>
          <p:cNvPr id="18" name="Text 16"/>
          <p:cNvSpPr txBox="1"/>
          <p:nvPr/>
        </p:nvSpPr>
        <p:spPr>
          <a:xfrm>
            <a:off x="4572000" y="4572000"/>
            <a:ext cx="3017520" cy="685800"/>
          </a:xfrm>
          <a:prstGeom prst="rect">
            <a:avLst/>
          </a:prstGeom>
          <a:noFill/>
          <a:ln/>
        </p:spPr>
        <p:txBody>
          <a:bodyPr wrap="square" lIns="0" tIns="0" rIns="0" bIns="0" rtlCol="0" anchor="t"/>
          <a:lstStyle/>
          <a:p>
            <a:pPr indent="0" marL="0">
              <a:buNone/>
            </a:pPr>
            <a:r>
              <a:rPr lang="en-US" sz="1400" dirty="0">
                <a:solidFill>
                  <a:srgbClr val="12343B"/>
                </a:solidFill>
                <a:latin typeface="Calibri" pitchFamily="34" charset="0"/>
                <a:ea typeface="Calibri" pitchFamily="34" charset="-122"/>
                <a:cs typeface="Calibri" pitchFamily="34" charset="-120"/>
              </a:rPr>
              <a:t>of runs with a missing mandatory input stopped before analysis</a:t>
            </a:r>
            <a:endParaRPr lang="en-US" sz="1400" dirty="0"/>
          </a:p>
        </p:txBody>
      </p:sp>
      <p:sp>
        <p:nvSpPr>
          <p:cNvPr id="19" name="Shape 17"/>
          <p:cNvSpPr/>
          <p:nvPr/>
        </p:nvSpPr>
        <p:spPr>
          <a:xfrm>
            <a:off x="8046720" y="3657600"/>
            <a:ext cx="3566160" cy="1691640"/>
          </a:xfrm>
          <a:prstGeom prst="roundRect">
            <a:avLst>
              <a:gd name="adj" fmla="val 4324"/>
            </a:avLst>
          </a:prstGeom>
          <a:solidFill>
            <a:srgbClr val="EFF6F5"/>
          </a:solidFill>
          <a:ln w="12700">
            <a:solidFill>
              <a:srgbClr val="EFF6F5"/>
            </a:solidFill>
            <a:prstDash val="solid"/>
          </a:ln>
        </p:spPr>
      </p:sp>
      <p:sp>
        <p:nvSpPr>
          <p:cNvPr id="20" name="Text 18"/>
          <p:cNvSpPr txBox="1"/>
          <p:nvPr/>
        </p:nvSpPr>
        <p:spPr>
          <a:xfrm>
            <a:off x="8321040" y="3840480"/>
            <a:ext cx="3017520" cy="731520"/>
          </a:xfrm>
          <a:prstGeom prst="rect">
            <a:avLst/>
          </a:prstGeom>
          <a:noFill/>
          <a:ln/>
        </p:spPr>
        <p:txBody>
          <a:bodyPr wrap="square" lIns="0" tIns="0" rIns="0" bIns="0" rtlCol="0" anchor="t"/>
          <a:lstStyle/>
          <a:p>
            <a:pPr indent="0" marL="0">
              <a:buNone/>
            </a:pPr>
            <a:r>
              <a:rPr lang="en-US" sz="3800" b="1" dirty="0">
                <a:solidFill>
                  <a:srgbClr val="B8862B"/>
                </a:solidFill>
                <a:latin typeface="Cambria" pitchFamily="34" charset="0"/>
                <a:ea typeface="Cambria" pitchFamily="34" charset="-122"/>
                <a:cs typeface="Cambria" pitchFamily="34" charset="-120"/>
              </a:rPr>
              <a:t>100+</a:t>
            </a:r>
            <a:endParaRPr lang="en-US" sz="3800" dirty="0"/>
          </a:p>
        </p:txBody>
      </p:sp>
      <p:sp>
        <p:nvSpPr>
          <p:cNvPr id="21" name="Text 19"/>
          <p:cNvSpPr txBox="1"/>
          <p:nvPr/>
        </p:nvSpPr>
        <p:spPr>
          <a:xfrm>
            <a:off x="8321040" y="4572000"/>
            <a:ext cx="3017520" cy="685800"/>
          </a:xfrm>
          <a:prstGeom prst="rect">
            <a:avLst/>
          </a:prstGeom>
          <a:noFill/>
          <a:ln/>
        </p:spPr>
        <p:txBody>
          <a:bodyPr wrap="square" lIns="0" tIns="0" rIns="0" bIns="0" rtlCol="0" anchor="t"/>
          <a:lstStyle/>
          <a:p>
            <a:pPr indent="0" marL="0">
              <a:buNone/>
            </a:pPr>
            <a:r>
              <a:rPr lang="en-US" sz="1400" dirty="0">
                <a:solidFill>
                  <a:srgbClr val="12343B"/>
                </a:solidFill>
                <a:latin typeface="Calibri" pitchFamily="34" charset="0"/>
                <a:ea typeface="Calibri" pitchFamily="34" charset="-122"/>
                <a:cs typeface="Calibri" pitchFamily="34" charset="-120"/>
              </a:rPr>
              <a:t>rows in the Key Indicators Database across six groups</a:t>
            </a:r>
            <a:endParaRPr lang="en-US" sz="1400" dirty="0"/>
          </a:p>
        </p:txBody>
      </p:sp>
      <p:sp>
        <p:nvSpPr>
          <p:cNvPr id="22" name="Shape 20"/>
          <p:cNvSpPr/>
          <p:nvPr/>
        </p:nvSpPr>
        <p:spPr>
          <a:xfrm>
            <a:off x="548640" y="5577840"/>
            <a:ext cx="11094415" cy="594360"/>
          </a:xfrm>
          <a:prstGeom prst="roundRect">
            <a:avLst>
              <a:gd name="adj" fmla="val 12308"/>
            </a:avLst>
          </a:prstGeom>
          <a:solidFill>
            <a:srgbClr val="12343B"/>
          </a:solidFill>
          <a:ln w="12700">
            <a:solidFill>
              <a:srgbClr val="12343B"/>
            </a:solidFill>
            <a:prstDash val="solid"/>
          </a:ln>
        </p:spPr>
      </p:sp>
      <p:sp>
        <p:nvSpPr>
          <p:cNvPr id="23" name="Text 21"/>
          <p:cNvSpPr txBox="1"/>
          <p:nvPr/>
        </p:nvSpPr>
        <p:spPr>
          <a:xfrm>
            <a:off x="822960" y="5577840"/>
            <a:ext cx="10058400" cy="594360"/>
          </a:xfrm>
          <a:prstGeom prst="rect">
            <a:avLst/>
          </a:prstGeom>
          <a:noFill/>
          <a:ln/>
        </p:spPr>
        <p:txBody>
          <a:bodyPr wrap="square" lIns="0" tIns="0" rIns="0" bIns="0" rtlCol="0" anchor="ctr"/>
          <a:lstStyle/>
          <a:p>
            <a:pPr indent="0" marL="0">
              <a:buNone/>
            </a:pPr>
            <a:r>
              <a:rPr lang="en-US" sz="1500" b="1" dirty="0">
                <a:solidFill>
                  <a:srgbClr val="E2B863"/>
                </a:solidFill>
                <a:latin typeface="Calibri" pitchFamily="34" charset="0"/>
                <a:ea typeface="Calibri" pitchFamily="34" charset="-122"/>
                <a:cs typeface="Calibri" pitchFamily="34" charset="-120"/>
              </a:rPr>
              <a:t>And: </a:t>
            </a:r>
            <a:pPr indent="0" marL="0">
              <a:buNone/>
            </a:pPr>
            <a:r>
              <a:rPr lang="en-US" sz="1500" dirty="0">
                <a:solidFill>
                  <a:srgbClr val="FFFFFF"/>
                </a:solidFill>
                <a:latin typeface="Calibri" pitchFamily="34" charset="0"/>
                <a:ea typeface="Calibri" pitchFamily="34" charset="-122"/>
                <a:cs typeface="Calibri" pitchFamily="34" charset="-120"/>
              </a:rPr>
              <a:t>no study is released without a named analyst's sign-off.</a:t>
            </a:r>
            <a:endParaRPr lang="en-US" sz="1500" dirty="0"/>
          </a:p>
        </p:txBody>
      </p:sp>
      <p:sp>
        <p:nvSpPr>
          <p:cNvPr id="24" name="Text 22"/>
          <p:cNvSpPr txBox="1"/>
          <p:nvPr/>
        </p:nvSpPr>
        <p:spPr>
          <a:xfrm>
            <a:off x="548640" y="6473952"/>
            <a:ext cx="6400800" cy="228600"/>
          </a:xfrm>
          <a:prstGeom prst="rect">
            <a:avLst/>
          </a:prstGeom>
          <a:noFill/>
          <a:ln/>
        </p:spPr>
        <p:txBody>
          <a:bodyPr wrap="square" lIns="0" tIns="0" rIns="0" bIns="0" rtlCol="0" anchor="t"/>
          <a:lstStyle/>
          <a:p>
            <a:pPr indent="0" marL="0">
              <a:buNone/>
            </a:pPr>
            <a:r>
              <a:rPr lang="en-US" sz="900" dirty="0">
                <a:solidFill>
                  <a:srgbClr val="95A1A8"/>
                </a:solidFill>
                <a:latin typeface="Calibri" pitchFamily="34" charset="0"/>
                <a:ea typeface="Calibri" pitchFamily="34" charset="-122"/>
                <a:cs typeface="Calibri" pitchFamily="34" charset="-120"/>
              </a:rPr>
              <a:t>Macroenvironment Agent · Business Requirements · Board review</a:t>
            </a:r>
            <a:endParaRPr lang="en-US" sz="900" dirty="0"/>
          </a:p>
        </p:txBody>
      </p:sp>
      <p:sp>
        <p:nvSpPr>
          <p:cNvPr id="25" name="Text 23"/>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95A1A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343B"/>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Decisions requested from the Board</a:t>
            </a:r>
            <a:endParaRPr lang="en-US" sz="3200" dirty="0"/>
          </a:p>
        </p:txBody>
      </p:sp>
      <p:sp>
        <p:nvSpPr>
          <p:cNvPr id="3" name="Shape 1"/>
          <p:cNvSpPr/>
          <p:nvPr/>
        </p:nvSpPr>
        <p:spPr>
          <a:xfrm>
            <a:off x="548640" y="1554480"/>
            <a:ext cx="640080" cy="640080"/>
          </a:xfrm>
          <a:prstGeom prst="ellipse">
            <a:avLst/>
          </a:prstGeom>
          <a:solidFill>
            <a:srgbClr val="B8862B"/>
          </a:solidFill>
          <a:ln w="12700">
            <a:solidFill>
              <a:srgbClr val="B8862B"/>
            </a:solidFill>
            <a:prstDash val="solid"/>
          </a:ln>
        </p:spPr>
      </p:sp>
      <p:sp>
        <p:nvSpPr>
          <p:cNvPr id="4" name="Text 2"/>
          <p:cNvSpPr txBox="1"/>
          <p:nvPr/>
        </p:nvSpPr>
        <p:spPr>
          <a:xfrm>
            <a:off x="548640" y="15544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5" name="Text 3"/>
          <p:cNvSpPr txBox="1"/>
          <p:nvPr/>
        </p:nvSpPr>
        <p:spPr>
          <a:xfrm>
            <a:off x="1463040" y="1554480"/>
            <a:ext cx="5669280" cy="64008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Approve the scope: what the agent will and will not do</a:t>
            </a:r>
            <a:endParaRPr lang="en-US" sz="1800" dirty="0"/>
          </a:p>
        </p:txBody>
      </p:sp>
      <p:sp>
        <p:nvSpPr>
          <p:cNvPr id="6" name="Shape 4"/>
          <p:cNvSpPr/>
          <p:nvPr/>
        </p:nvSpPr>
        <p:spPr>
          <a:xfrm>
            <a:off x="548640" y="2468880"/>
            <a:ext cx="640080" cy="640080"/>
          </a:xfrm>
          <a:prstGeom prst="ellipse">
            <a:avLst/>
          </a:prstGeom>
          <a:solidFill>
            <a:srgbClr val="B8862B"/>
          </a:solidFill>
          <a:ln w="12700">
            <a:solidFill>
              <a:srgbClr val="B8862B"/>
            </a:solidFill>
            <a:prstDash val="solid"/>
          </a:ln>
        </p:spPr>
      </p:sp>
      <p:sp>
        <p:nvSpPr>
          <p:cNvPr id="7" name="Text 5"/>
          <p:cNvSpPr txBox="1"/>
          <p:nvPr/>
        </p:nvSpPr>
        <p:spPr>
          <a:xfrm>
            <a:off x="548640" y="24688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8" name="Text 6"/>
          <p:cNvSpPr txBox="1"/>
          <p:nvPr/>
        </p:nvSpPr>
        <p:spPr>
          <a:xfrm>
            <a:off x="1463040" y="2468880"/>
            <a:ext cx="5669280" cy="64008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Confirm the Authenticity Core as a fixed requirement</a:t>
            </a:r>
            <a:endParaRPr lang="en-US" sz="1800" dirty="0"/>
          </a:p>
        </p:txBody>
      </p:sp>
      <p:sp>
        <p:nvSpPr>
          <p:cNvPr id="9" name="Shape 7"/>
          <p:cNvSpPr/>
          <p:nvPr/>
        </p:nvSpPr>
        <p:spPr>
          <a:xfrm>
            <a:off x="548640" y="3383280"/>
            <a:ext cx="640080" cy="640080"/>
          </a:xfrm>
          <a:prstGeom prst="ellipse">
            <a:avLst/>
          </a:prstGeom>
          <a:solidFill>
            <a:srgbClr val="B8862B"/>
          </a:solidFill>
          <a:ln w="12700">
            <a:solidFill>
              <a:srgbClr val="B8862B"/>
            </a:solidFill>
            <a:prstDash val="solid"/>
          </a:ln>
        </p:spPr>
      </p:sp>
      <p:sp>
        <p:nvSpPr>
          <p:cNvPr id="10" name="Text 8"/>
          <p:cNvSpPr txBox="1"/>
          <p:nvPr/>
        </p:nvSpPr>
        <p:spPr>
          <a:xfrm>
            <a:off x="548640" y="33832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1" name="Text 9"/>
          <p:cNvSpPr txBox="1"/>
          <p:nvPr/>
        </p:nvSpPr>
        <p:spPr>
          <a:xfrm>
            <a:off x="1463040" y="3383280"/>
            <a:ext cx="5669280" cy="64008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Authorise the development team to begin architecture mapping</a:t>
            </a:r>
            <a:endParaRPr lang="en-US" sz="1800" dirty="0"/>
          </a:p>
        </p:txBody>
      </p:sp>
      <p:sp>
        <p:nvSpPr>
          <p:cNvPr id="12" name="Shape 10"/>
          <p:cNvSpPr/>
          <p:nvPr/>
        </p:nvSpPr>
        <p:spPr>
          <a:xfrm>
            <a:off x="7452360" y="1463040"/>
            <a:ext cx="4190695" cy="4663440"/>
          </a:xfrm>
          <a:prstGeom prst="roundRect">
            <a:avLst>
              <a:gd name="adj" fmla="val 1746"/>
            </a:avLst>
          </a:prstGeom>
          <a:solidFill>
            <a:srgbClr val="1D4A52"/>
          </a:solidFill>
          <a:ln w="12700">
            <a:solidFill>
              <a:srgbClr val="1D4A52"/>
            </a:solidFill>
            <a:prstDash val="solid"/>
          </a:ln>
        </p:spPr>
      </p:sp>
      <p:sp>
        <p:nvSpPr>
          <p:cNvPr id="13" name="Text 11"/>
          <p:cNvSpPr txBox="1"/>
          <p:nvPr/>
        </p:nvSpPr>
        <p:spPr>
          <a:xfrm>
            <a:off x="7726680" y="1645920"/>
            <a:ext cx="3642055" cy="640080"/>
          </a:xfrm>
          <a:prstGeom prst="rect">
            <a:avLst/>
          </a:prstGeom>
          <a:noFill/>
          <a:ln/>
        </p:spPr>
        <p:txBody>
          <a:bodyPr wrap="square" lIns="0" tIns="0" rIns="0" bIns="0" rtlCol="0" anchor="t"/>
          <a:lstStyle/>
          <a:p>
            <a:pPr indent="0" marL="0">
              <a:buNone/>
            </a:pPr>
            <a:r>
              <a:rPr lang="en-US" sz="1600" b="1" dirty="0">
                <a:solidFill>
                  <a:srgbClr val="E2B863"/>
                </a:solidFill>
                <a:latin typeface="Calibri" pitchFamily="34" charset="0"/>
                <a:ea typeface="Calibri" pitchFamily="34" charset="-122"/>
                <a:cs typeface="Calibri" pitchFamily="34" charset="-120"/>
              </a:rPr>
              <a:t>To settle during architecture mapping</a:t>
            </a:r>
            <a:endParaRPr lang="en-US" sz="1600" dirty="0"/>
          </a:p>
        </p:txBody>
      </p:sp>
      <p:sp>
        <p:nvSpPr>
          <p:cNvPr id="14" name="Shape 12"/>
          <p:cNvSpPr/>
          <p:nvPr/>
        </p:nvSpPr>
        <p:spPr>
          <a:xfrm>
            <a:off x="7744968" y="2496312"/>
            <a:ext cx="128016" cy="128016"/>
          </a:xfrm>
          <a:prstGeom prst="ellipse">
            <a:avLst/>
          </a:prstGeom>
          <a:solidFill>
            <a:srgbClr val="8FB3B2"/>
          </a:solidFill>
          <a:ln w="12700">
            <a:solidFill>
              <a:srgbClr val="8FB3B2"/>
            </a:solidFill>
            <a:prstDash val="solid"/>
          </a:ln>
        </p:spPr>
      </p:sp>
      <p:sp>
        <p:nvSpPr>
          <p:cNvPr id="15" name="Text 13"/>
          <p:cNvSpPr txBox="1"/>
          <p:nvPr/>
        </p:nvSpPr>
        <p:spPr>
          <a:xfrm>
            <a:off x="8046720" y="2377440"/>
            <a:ext cx="3367735" cy="5943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Priority order when two official sources disagree</a:t>
            </a:r>
            <a:endParaRPr lang="en-US" sz="1400" dirty="0"/>
          </a:p>
        </p:txBody>
      </p:sp>
      <p:sp>
        <p:nvSpPr>
          <p:cNvPr id="16" name="Shape 14"/>
          <p:cNvSpPr/>
          <p:nvPr/>
        </p:nvSpPr>
        <p:spPr>
          <a:xfrm>
            <a:off x="7744968" y="3209544"/>
            <a:ext cx="128016" cy="128016"/>
          </a:xfrm>
          <a:prstGeom prst="ellipse">
            <a:avLst/>
          </a:prstGeom>
          <a:solidFill>
            <a:srgbClr val="8FB3B2"/>
          </a:solidFill>
          <a:ln w="12700">
            <a:solidFill>
              <a:srgbClr val="8FB3B2"/>
            </a:solidFill>
            <a:prstDash val="solid"/>
          </a:ln>
        </p:spPr>
      </p:sp>
      <p:sp>
        <p:nvSpPr>
          <p:cNvPr id="17" name="Text 15"/>
          <p:cNvSpPr txBox="1"/>
          <p:nvPr/>
        </p:nvSpPr>
        <p:spPr>
          <a:xfrm>
            <a:off x="8046720" y="3090672"/>
            <a:ext cx="3367735" cy="5943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Countries and sectors for the first pilot</a:t>
            </a:r>
            <a:endParaRPr lang="en-US" sz="1400" dirty="0"/>
          </a:p>
        </p:txBody>
      </p:sp>
      <p:sp>
        <p:nvSpPr>
          <p:cNvPr id="18" name="Shape 16"/>
          <p:cNvSpPr/>
          <p:nvPr/>
        </p:nvSpPr>
        <p:spPr>
          <a:xfrm>
            <a:off x="7744968" y="3922776"/>
            <a:ext cx="128016" cy="128016"/>
          </a:xfrm>
          <a:prstGeom prst="ellipse">
            <a:avLst/>
          </a:prstGeom>
          <a:solidFill>
            <a:srgbClr val="8FB3B2"/>
          </a:solidFill>
          <a:ln w="12700">
            <a:solidFill>
              <a:srgbClr val="8FB3B2"/>
            </a:solidFill>
            <a:prstDash val="solid"/>
          </a:ln>
        </p:spPr>
      </p:sp>
      <p:sp>
        <p:nvSpPr>
          <p:cNvPr id="19" name="Text 17"/>
          <p:cNvSpPr txBox="1"/>
          <p:nvPr/>
        </p:nvSpPr>
        <p:spPr>
          <a:xfrm>
            <a:off x="8046720" y="3803904"/>
            <a:ext cx="3367735" cy="5943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Who signs off each study before release</a:t>
            </a:r>
            <a:endParaRPr lang="en-US" sz="1400" dirty="0"/>
          </a:p>
        </p:txBody>
      </p:sp>
      <p:sp>
        <p:nvSpPr>
          <p:cNvPr id="20" name="Shape 18"/>
          <p:cNvSpPr/>
          <p:nvPr/>
        </p:nvSpPr>
        <p:spPr>
          <a:xfrm>
            <a:off x="7744968" y="4636008"/>
            <a:ext cx="128016" cy="128016"/>
          </a:xfrm>
          <a:prstGeom prst="ellipse">
            <a:avLst/>
          </a:prstGeom>
          <a:solidFill>
            <a:srgbClr val="8FB3B2"/>
          </a:solidFill>
          <a:ln w="12700">
            <a:solidFill>
              <a:srgbClr val="8FB3B2"/>
            </a:solidFill>
            <a:prstDash val="solid"/>
          </a:ln>
        </p:spPr>
      </p:sp>
      <p:sp>
        <p:nvSpPr>
          <p:cNvPr id="21" name="Text 19"/>
          <p:cNvSpPr txBox="1"/>
          <p:nvPr/>
        </p:nvSpPr>
        <p:spPr>
          <a:xfrm>
            <a:off x="8046720" y="4517136"/>
            <a:ext cx="3367735" cy="5943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Languages of the deliverables</a:t>
            </a:r>
            <a:endParaRPr lang="en-US" sz="1400" dirty="0"/>
          </a:p>
        </p:txBody>
      </p:sp>
      <p:sp>
        <p:nvSpPr>
          <p:cNvPr id="22" name="Shape 20"/>
          <p:cNvSpPr/>
          <p:nvPr/>
        </p:nvSpPr>
        <p:spPr>
          <a:xfrm>
            <a:off x="7744968" y="5349240"/>
            <a:ext cx="128016" cy="128016"/>
          </a:xfrm>
          <a:prstGeom prst="ellipse">
            <a:avLst/>
          </a:prstGeom>
          <a:solidFill>
            <a:srgbClr val="8FB3B2"/>
          </a:solidFill>
          <a:ln w="12700">
            <a:solidFill>
              <a:srgbClr val="8FB3B2"/>
            </a:solidFill>
            <a:prstDash val="solid"/>
          </a:ln>
        </p:spPr>
      </p:sp>
      <p:sp>
        <p:nvSpPr>
          <p:cNvPr id="23" name="Text 21"/>
          <p:cNvSpPr txBox="1"/>
          <p:nvPr/>
        </p:nvSpPr>
        <p:spPr>
          <a:xfrm>
            <a:off x="8046720" y="5230368"/>
            <a:ext cx="3367735" cy="5943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Plausibility thresholds for each indicator</a:t>
            </a:r>
            <a:endParaRPr lang="en-US" sz="1400" dirty="0"/>
          </a:p>
        </p:txBody>
      </p:sp>
      <p:sp>
        <p:nvSpPr>
          <p:cNvPr id="24" name="Text 22"/>
          <p:cNvSpPr txBox="1"/>
          <p:nvPr/>
        </p:nvSpPr>
        <p:spPr>
          <a:xfrm>
            <a:off x="548640" y="5120640"/>
            <a:ext cx="6400800" cy="731520"/>
          </a:xfrm>
          <a:prstGeom prst="rect">
            <a:avLst/>
          </a:prstGeom>
          <a:noFill/>
          <a:ln/>
        </p:spPr>
        <p:txBody>
          <a:bodyPr wrap="square" lIns="0" tIns="0" rIns="0" bIns="0" rtlCol="0" anchor="t"/>
          <a:lstStyle/>
          <a:p>
            <a:pPr indent="0" marL="0">
              <a:buNone/>
            </a:pPr>
            <a:r>
              <a:rPr lang="en-US" sz="1500" i="1" dirty="0">
                <a:solidFill>
                  <a:srgbClr val="8FB3B2"/>
                </a:solidFill>
                <a:latin typeface="Calibri" pitchFamily="34" charset="0"/>
                <a:ea typeface="Calibri" pitchFamily="34" charset="-122"/>
                <a:cs typeface="Calibri" pitchFamily="34" charset="-120"/>
              </a:rPr>
              <a:t>Next phase: architecture mapping, using this document as the blueprint.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Macroenvironment Agent – Business Requirements</dc:title>
  <dc:subject>PptxGenJS Presentation</dc:subject>
  <dc:creator>PptxGenJS</dc:creator>
  <cp:lastModifiedBy>PptxGenJS</cp:lastModifiedBy>
  <cp:revision>1</cp:revision>
  <dcterms:created xsi:type="dcterms:W3CDTF">2026-09-29T08:10:50Z</dcterms:created>
  <dcterms:modified xsi:type="dcterms:W3CDTF">2026-09-29T08:10:50Z</dcterms:modified>
</cp:coreProperties>
</file>