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agree what the agent captures, how it behaves when the client has no corporate documents, and what the finished manual looks like, so development can start architecture mapping.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only one thing is remembered: the agent documents reality and labels every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4937760" cy="4937760"/>
          </a:xfrm>
          <a:prstGeom prst="ellipse">
            <a:avLst/>
          </a:prstGeom>
          <a:solidFill>
            <a:srgbClr val="1A4A52"/>
          </a:solidFill>
          <a:ln w="12700">
            <a:solidFill>
              <a:srgbClr val="1A4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2011680"/>
            <a:ext cx="3108960" cy="3108960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743200"/>
            <a:ext cx="1188720" cy="1554480"/>
          </a:xfrm>
          <a:prstGeom prst="rect">
            <a:avLst/>
          </a:prstGeom>
          <a:solidFill>
            <a:srgbClr val="DDEDEB"/>
          </a:solidFill>
          <a:ln w="12700">
            <a:solidFill>
              <a:srgbClr val="DDED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2606040"/>
            <a:ext cx="1188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74352" y="2880360"/>
            <a:ext cx="548640" cy="64008"/>
          </a:xfrm>
          <a:prstGeom prst="rect">
            <a:avLst/>
          </a:prstGeom>
          <a:solidFill>
            <a:srgbClr val="B8862B"/>
          </a:solidFill>
          <a:ln w="12700">
            <a:solidFill>
              <a:srgbClr val="C9D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74352" y="3108960"/>
            <a:ext cx="868680" cy="64008"/>
          </a:xfrm>
          <a:prstGeom prst="rect">
            <a:avLst/>
          </a:prstGeom>
          <a:solidFill>
            <a:srgbClr val="C9D6D6"/>
          </a:solidFill>
          <a:ln w="12700">
            <a:solidFill>
              <a:srgbClr val="C9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74352" y="3337560"/>
            <a:ext cx="868680" cy="64008"/>
          </a:xfrm>
          <a:prstGeom prst="rect">
            <a:avLst/>
          </a:prstGeom>
          <a:solidFill>
            <a:srgbClr val="C9D6D6"/>
          </a:solidFill>
          <a:ln w="12700">
            <a:solidFill>
              <a:srgbClr val="C9D6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74352" y="3566160"/>
            <a:ext cx="868680" cy="64008"/>
          </a:xfrm>
          <a:prstGeom prst="rect">
            <a:avLst/>
          </a:prstGeom>
          <a:solidFill>
            <a:srgbClr val="C9D6D6"/>
          </a:solidFill>
          <a:ln w="12700">
            <a:solidFill>
              <a:srgbClr val="C9D6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74352" y="3794760"/>
            <a:ext cx="868680" cy="64008"/>
          </a:xfrm>
          <a:prstGeom prst="rect">
            <a:avLst/>
          </a:prstGeom>
          <a:solidFill>
            <a:srgbClr val="C9D6D6"/>
          </a:solidFill>
          <a:ln w="12700">
            <a:solidFill>
              <a:srgbClr val="C9D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2B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PHASE &amp; PRODUCT ARCHITECTURE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8288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Manuals Agent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8580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consulting · Process documentation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 for review: inputs, compensation logic and the structure of the manual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September 2026  ·  Draft for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at a glance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process manual, built from what process owners confirm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Manuals Agent · Business Requirements ·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40135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interviews process owners with a structured questionnaire, reads any corporate documents the client has, and produces a full manual: BPMN flowcharts, a step-by-step narrative, a RACI matrix, policies and business rules, a risk and control matrix, and the blank forms staff use to prove the work was done.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520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79476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stops depending on a few people, every component describes the same process in the same words, and small clients without documents still get a usable manual.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1417320"/>
            <a:ext cx="2468880" cy="155448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645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67512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input blocks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1417320"/>
            <a:ext cx="2468880" cy="155448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1645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32688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corporate inputs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3154680"/>
            <a:ext cx="2468880" cy="155448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3832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67512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blocks per procedure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0" y="3154680"/>
            <a:ext cx="2468880" cy="155448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33832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32688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content tagged by origin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257800"/>
            <a:ext cx="11185855" cy="777240"/>
          </a:xfrm>
          <a:prstGeom prst="rect">
            <a:avLst/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2578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B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above all: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describes the client's real operation. Anything the agent proposes is marked as a proposal until a named person accepts it.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need 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processes by hand is slow, and manuals that describe the wrong reality are not used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Manuals Agent · Business Requirements ·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40135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2940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AGENT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810512"/>
            <a:ext cx="457200" cy="457200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1691640"/>
            <a:ext cx="4754880" cy="694944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69164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sits with a few people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89320" y="1874520"/>
            <a:ext cx="457200" cy="329184"/>
          </a:xfrm>
          <a:prstGeom prst="rightArrow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1691640"/>
            <a:ext cx="5059375" cy="694944"/>
          </a:xfrm>
          <a:prstGeom prst="rect">
            <a:avLst/>
          </a:prstGeom>
          <a:solidFill>
            <a:srgbClr val="EFF6F5"/>
          </a:solidFill>
          <a:ln w="12700">
            <a:solidFill>
              <a:srgbClr val="EFF6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691640"/>
            <a:ext cx="47393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questionnaire with each process owner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679192"/>
            <a:ext cx="457200" cy="457200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2560320"/>
            <a:ext cx="4754880" cy="694944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256032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manuals describe a company that no longer exists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89320" y="2743200"/>
            <a:ext cx="457200" cy="329184"/>
          </a:xfrm>
          <a:prstGeom prst="rightArrow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2560320"/>
            <a:ext cx="5059375" cy="694944"/>
          </a:xfrm>
          <a:prstGeom prst="rect">
            <a:avLst/>
          </a:prstGeom>
          <a:solidFill>
            <a:srgbClr val="EFF6F5"/>
          </a:solidFill>
          <a:ln w="12700">
            <a:solidFill>
              <a:srgbClr val="EFF6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560320"/>
            <a:ext cx="47393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documents read as history, checked against owners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547872"/>
            <a:ext cx="457200" cy="457200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97280" y="3429000"/>
            <a:ext cx="4754880" cy="694944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342900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firms have no chart, profiles or policies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89320" y="3611880"/>
            <a:ext cx="457200" cy="329184"/>
          </a:xfrm>
          <a:prstGeom prst="rightArrow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3429000"/>
            <a:ext cx="5059375" cy="694944"/>
          </a:xfrm>
          <a:prstGeom prst="rect">
            <a:avLst/>
          </a:prstGeom>
          <a:solidFill>
            <a:srgbClr val="EFF6F5"/>
          </a:solidFill>
          <a:ln w="12700">
            <a:solidFill>
              <a:srgbClr val="EFF6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3429000"/>
            <a:ext cx="47393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baseline proposed, clearly marked for validation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" y="4416552"/>
            <a:ext cx="457200" cy="457200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97280" y="4297680"/>
            <a:ext cx="4754880" cy="694944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429768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Flowchart, narrative and RACI contradict each other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989320" y="4480560"/>
            <a:ext cx="457200" cy="329184"/>
          </a:xfrm>
          <a:prstGeom prst="rightArrow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29400" y="4297680"/>
            <a:ext cx="5059375" cy="694944"/>
          </a:xfrm>
          <a:prstGeom prst="rect">
            <a:avLst/>
          </a:prstGeom>
          <a:solidFill>
            <a:srgbClr val="EFF6F5"/>
          </a:solidFill>
          <a:ln w="12700">
            <a:solidFill>
              <a:srgbClr val="EFF6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4297680"/>
            <a:ext cx="47393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built from one register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" y="5285232"/>
            <a:ext cx="457200" cy="457200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97280" y="5166360"/>
            <a:ext cx="4754880" cy="694944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80160" y="516636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documented, but not risks or evidence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989320" y="5349240"/>
            <a:ext cx="457200" cy="329184"/>
          </a:xfrm>
          <a:prstGeom prst="rightArrow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29400" y="5166360"/>
            <a:ext cx="5059375" cy="694944"/>
          </a:xfrm>
          <a:prstGeom prst="rect">
            <a:avLst/>
          </a:prstGeom>
          <a:solidFill>
            <a:srgbClr val="EFF6F5"/>
          </a:solidFill>
          <a:ln w="12700">
            <a:solidFill>
              <a:srgbClr val="EFF6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12280" y="5166360"/>
            <a:ext cx="47393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controls and evidence forms for every procedure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recognised practice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followed formats that auditors, certifiers and staff already know, rather than inventing one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Manuals Agent · Business Requirements ·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40135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593592" cy="489204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0876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standards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 / ISO 10013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350008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of documented information; guidance on structure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81528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2.0 (ISO/IEC 19510)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374136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notation, descriptive level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10565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COSO 2013 · IIA Three Lines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398264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control activities, lines of responsibility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12978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APQC PCF · SIPOC · RACI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422392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catalogue, one-page view, one accountable per step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79392" y="1371600"/>
            <a:ext cx="3593592" cy="489204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150876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American practice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07992" y="205740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technical guides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07992" y="2350008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SRE, Secretaría de Salud, SCJN, UNAM, CONALEP (Mexico)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07992" y="3081528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07992" y="3374136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scope, operating policies, narrative table, flowchart, records, change history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07992" y="410565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07992" y="4398264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location, retention period, responsible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07992" y="512978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Fincowsky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07992" y="5422392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"Organización de empresas": manuals as a core tool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55864" y="1371600"/>
            <a:ext cx="3593592" cy="4892040"/>
          </a:xfrm>
          <a:prstGeom prst="rect">
            <a:avLst/>
          </a:prstGeom>
          <a:solidFill>
            <a:srgbClr val="12343B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84464" y="150876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B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size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84464" y="205740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and small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84464" y="2350008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Know-how in people's heads; few documents; duties cannot always be separated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84464" y="3081528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84464" y="3374136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policies and profiles, often out of date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84464" y="410565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 regulated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84464" y="4398264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architecture, internal audit, document control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84464" y="512978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84464" y="5422392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structure, different depth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reality first: one register for every fact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step, role, rule, system and control is recorded once, with its origin. Every component reads from it.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Manuals Agent · Business Requirements ·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40135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6" name="Image 0" descr="/tmp/claude-0/-home-user-Files/ee6286fd-c3b2-4b14-8095-789c5721c374/scratchpad/figs/out/f1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656" y="1325880"/>
            <a:ext cx="1027638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rules applied to every item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development team designs around them, not the other way round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Manuals Agent · Business Requirements ·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40135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593592" cy="224028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owner's account comes first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work is done today comes from the process owner. Old manuals and reference practice never overwrite it.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79392" y="1417320"/>
            <a:ext cx="3593592" cy="224028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07992" y="1645920"/>
            <a:ext cx="502920" cy="502920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07992" y="2286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carries its origin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07992" y="28346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Confirmed, Client document, or Proposed.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55864" y="1417320"/>
            <a:ext cx="3593592" cy="224028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84464" y="1645920"/>
            <a:ext cx="502920" cy="502920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84464" y="2286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 are never passed off as fact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84464" y="28346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until a named person accepts, adjusts or rejects them.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840480"/>
            <a:ext cx="3593592" cy="224028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069080"/>
            <a:ext cx="502920" cy="502920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are recorded, not hidden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5257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follows the owner; the difference goes to the gap log.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79392" y="3840480"/>
            <a:ext cx="3593592" cy="224028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07992" y="4069080"/>
            <a:ext cx="502920" cy="502920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07992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07992" y="47091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legal statement without a source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07992" y="5257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duties, deadlines and retention periods only when the client confirms them.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55864" y="3840480"/>
            <a:ext cx="3593592" cy="224028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84464" y="4069080"/>
            <a:ext cx="502920" cy="502920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84464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84464" y="47091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fact, used everywhere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84464" y="5257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role, step or limit reads the same in every component.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inputs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blocks are mandatory. If one is missing for a process, the agent asks for it instead of assuming.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Manuals Agent · Business Requirements ·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40135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593592" cy="3749040"/>
          </a:xfrm>
          <a:prstGeom prst="rect">
            <a:avLst/>
          </a:prstGeom>
          <a:solidFill>
            <a:srgbClr val="EFF6F5"/>
          </a:solidFill>
          <a:ln w="19050">
            <a:solidFill>
              <a:srgbClr val="1F7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72768"/>
            <a:ext cx="457200" cy="457200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536192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owner questionnaire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work is really done today (As-Is)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1821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boundaries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roles and decisions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outputs and handoffs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Systems, volume, records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Problems, risks and rules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9392" y="1371600"/>
            <a:ext cx="3593592" cy="3749040"/>
          </a:xfrm>
          <a:prstGeom prst="rect">
            <a:avLst/>
          </a:prstGeom>
          <a:solidFill>
            <a:srgbClr val="EFF6F5"/>
          </a:solidFill>
          <a:ln w="19050">
            <a:solidFill>
              <a:srgbClr val="1F7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7992" y="1572768"/>
            <a:ext cx="457200" cy="457200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7992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02352" y="1536192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objectives and KPIs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07992" y="219456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area must achieve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07992" y="2651760"/>
            <a:ext cx="31821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stated objective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card: formula, source, frequency, target, owner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KPIs yet? Candidates proposed; targets left to the client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55864" y="1371600"/>
            <a:ext cx="3593592" cy="3749040"/>
          </a:xfrm>
          <a:prstGeom prst="rect">
            <a:avLst/>
          </a:prstGeom>
          <a:solidFill>
            <a:srgbClr val="EFF6F5"/>
          </a:solidFill>
          <a:ln w="19050">
            <a:solidFill>
              <a:srgbClr val="1F7A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84464" y="1572768"/>
            <a:ext cx="457200" cy="457200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4464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78824" y="1536192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inventory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84464" y="219456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used at each step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84464" y="2651760"/>
            <a:ext cx="31821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and systems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Machinery and equipment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tools: spreadsheets, messaging, paper forms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5303520"/>
            <a:ext cx="11185855" cy="868680"/>
          </a:xfrm>
          <a:prstGeom prst="rect">
            <a:avLst/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5303520"/>
            <a:ext cx="73152" cy="868680"/>
          </a:xfrm>
          <a:prstGeom prst="rect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303520"/>
            <a:ext cx="10728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gate.  </a:t>
            </a:r>
            <a:pPr indent="0" marL="0">
              <a:buNone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procedure is drafted until questionnaire blocks 1 to 6 are answered: owner, start and end, steps and roles, decisions, handoffs and systems ("none" is a valid answer).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inputs: corporate context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describe what someone once decided; the questionnaire describes what happens now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Manuals Agent · Business Requirements ·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40135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4864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7A7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manuals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Adds: Structure, historical rules, form codes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as history. Checked item by item against the owners; differences go to the gap log.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4864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7A7A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4652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46520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Adds: Titles, reporting lines, duties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23317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RACI roles. Duties done but not described, or described but not done, are flagged.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54864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7A7A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7724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chart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4343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Adds: Official positions and units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4709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the role catalogue for flowchart lanes and RACI columns.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3749040"/>
            <a:ext cx="54864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7A7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44652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regulations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46520" y="4343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Adds: Policies, limits, delegation of authority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46520" y="4709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policies and rules, cited by clause. Conflicts with practice are raised, not settled silently.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Compensation logic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optional input is missing, the agent drafts a sized, sector-appropriate proposal and marks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Manuals Agent · Business Requirements ·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40135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6" name="Image 0" descr="/tmp/claude-0/-home-user-Files/ee6286fd-c3b2-4b14-8095-789c5721c374/scratchpad/figs/out/f2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83" y="1325880"/>
            <a:ext cx="946672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proposes, and what it never does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 give the client something concrete to react to; the client decides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Manuals Agent · Business Requirements ·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40135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WHEN MISSING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486400" cy="804672"/>
          </a:xfrm>
          <a:prstGeom prst="rect">
            <a:avLst/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647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profiles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09397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from confirmed steps; competencies proposed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5486400" cy="804672"/>
          </a:xfrm>
          <a:prstGeom prst="rect">
            <a:avLst/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97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chart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0266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chart from interviews; reference structure by size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557016"/>
            <a:ext cx="5486400" cy="804672"/>
          </a:xfrm>
          <a:prstGeom prst="rect">
            <a:avLst/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301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policies and rules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95935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Authorisation, segregation of duties, records, access, exceptions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489704"/>
            <a:ext cx="5486400" cy="804672"/>
          </a:xfrm>
          <a:prstGeom prst="rect">
            <a:avLst/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6285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8920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 five per objective, with formula and source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5486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proposal carries its reason and its basis, and is decided in the Validation Record: accept, adjust or reject.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1371600"/>
            <a:ext cx="5287975" cy="4754880"/>
          </a:xfrm>
          <a:prstGeom prst="rect">
            <a:avLst/>
          </a:prstGeom>
          <a:solidFill>
            <a:srgbClr val="F6E1DD"/>
          </a:solidFill>
          <a:ln w="12700">
            <a:solidFill>
              <a:srgbClr val="F6E1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proposed by the agent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67512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0" y="21031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about how the client works today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32320" y="2834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of people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0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0" y="3566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Pay, grading or performance judgements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32320" y="4297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obligations, deadlines or retention periods stated as fact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75120" y="5029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32320" y="5029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amounts, thresholds or indicator targets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deliverable: one structure for every manual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changes the depth of each part, never the order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Manuals Agent · Business Requirements ·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40135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6" name="Image 0" descr="/tmp/claude-0/-home-user-Files/ee6286fd-c3b2-4b14-8095-789c5721c374/scratchpad/figs/out/f5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279" y="1371600"/>
            <a:ext cx="1073113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Flowcharts: BPMN 2.0, descriptive level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style rules keep every diagram readable and consistent with the narrative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Manuals Agent · Business Requirements ·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40135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6" name="Image 0" descr="/tmp/claude-0/-home-user-Files/ee6286fd-c3b2-4b14-8095-789c5721c374/scratchpad/figs/out/f7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7589520" cy="42098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1325880"/>
            <a:ext cx="3367735" cy="4846320"/>
          </a:xfrm>
          <a:prstGeom prst="rect">
            <a:avLst/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B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49640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B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869680" y="19659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Lanes are positions, never names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549640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B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869680" y="26517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verb + object, numbered like the narrative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549640" y="3337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B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869680" y="3337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 asked as questions; every exit labelled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549640" y="4023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B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869680" y="40233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 event per outcome, named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549640" y="4709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B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869680" y="47091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flags link to the risk matrix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549640" y="5394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B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69680" y="53949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.bpmn XML plus image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Narrative, RACI, policies and rules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formats that share the same step numbers and role names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Manuals Agent · Business Requirements ·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40135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593592" cy="640080"/>
          </a:xfrm>
          <a:prstGeom prst="rect">
            <a:avLst/>
          </a:prstGeom>
          <a:solidFill>
            <a:srgbClr val="1F7A7A"/>
          </a:solidFill>
          <a:ln w="12700">
            <a:solidFill>
              <a:srgbClr val="1234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narrative (5W1H)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3593592" cy="411480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94560"/>
            <a:ext cx="318211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step, numbered as the flowchart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· Who · How · When · Where · Output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 per step; decisions written as conditions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vague words unless defined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79392" y="1371600"/>
            <a:ext cx="3593592" cy="640080"/>
          </a:xfrm>
          <a:prstGeom prst="rect">
            <a:avLst/>
          </a:prstGeom>
          <a:solidFill>
            <a:srgbClr val="1A5157"/>
          </a:solidFill>
          <a:ln w="12700">
            <a:solidFill>
              <a:srgbClr val="123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371600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matrix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79392" y="2011680"/>
            <a:ext cx="3593592" cy="411480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2194560"/>
            <a:ext cx="318211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steps, columns = positions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A per step; at least one 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lane appears in the RACI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Segregation-of-duties conflicts flagged; compensating control shown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55864" y="1371600"/>
            <a:ext cx="3593592" cy="640080"/>
          </a:xfrm>
          <a:prstGeom prst="rect">
            <a:avLst/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4464" y="1371600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and business rules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55864" y="2011680"/>
            <a:ext cx="3593592" cy="411480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2194560"/>
            <a:ext cx="318211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= commitment; rule = testable condition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statement, type, applies to, source, owner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and who may authorise them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left blank for the client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and control matrix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control is tied to a step, an owner and the form that proves it ran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Manuals Agent · Business Requirements ·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40135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6" name="Image 0" descr="/tmp/claude-0/-home-user-Files/ee6286fd-c3b2-4b14-8095-789c5721c374/scratchpad/figs/out/f8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675120" cy="271530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371600"/>
            <a:ext cx="4190695" cy="475488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668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records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26680" y="1920240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event, cause, consequence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and inherent rating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who, what, when, how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/ detective / corrective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 automated; frequency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and evidence form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control; line of responsibility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rating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54406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duties cannot be separated (common in small firms), the matrix shows the compensating control.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Annexes: the forms staff fill 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standard formats, one design: header, code, instructions, fields, sign-off, retention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Manuals Agent · Business Requirements ·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40135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651760" cy="77724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checklist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77724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3716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9080" y="13716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267712"/>
            <a:ext cx="2651760" cy="77724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67712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26771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form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91840" y="2267712"/>
            <a:ext cx="2651760" cy="77724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267712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69080" y="226771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and incident log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163824"/>
            <a:ext cx="2651760" cy="77724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63824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163824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evidence log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91840" y="3163824"/>
            <a:ext cx="2651760" cy="77724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163824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69080" y="3163824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tracking sheet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4059936"/>
            <a:ext cx="2651760" cy="77724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59936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4059936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retention schedule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291840" y="4059936"/>
            <a:ext cx="2651760" cy="77724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4059936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69080" y="4059936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 and revision history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" y="4956048"/>
            <a:ext cx="2651760" cy="77724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95604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F-09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80160" y="49560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Read-and-understood record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291840" y="4956048"/>
            <a:ext cx="2651760" cy="77724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495604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F-10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069080" y="49560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record</a:t>
            </a:r>
            <a:endParaRPr lang="en-US" sz="1250" dirty="0"/>
          </a:p>
        </p:txBody>
      </p:sp>
      <p:pic>
        <p:nvPicPr>
          <p:cNvPr id="36" name="Image 0" descr="/tmp/claude-0/-home-user-Files/ee6286fd-c3b2-4b14-8095-789c5721c374/scratchpad/figs/out/f9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371600"/>
            <a:ext cx="5379415" cy="2000470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6309360" y="4617720"/>
            <a:ext cx="5379415" cy="1508760"/>
          </a:xfrm>
          <a:prstGeom prst="rect">
            <a:avLst/>
          </a:prstGeom>
          <a:solidFill>
            <a:srgbClr val="EFF6F5"/>
          </a:solidFill>
          <a:ln w="12700">
            <a:solidFill>
              <a:srgbClr val="EFF6F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92240" y="4681728"/>
            <a:ext cx="5013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rules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READ-DO for rare or complex tasks, DO-CONFIRM for routine work. A defined pause point. Five to nine critical items. One page.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agent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steps from set-up to release; two of them are gates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Manuals Agent · Business Requirements ·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40135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6" name="Image 0" descr="/tmp/claude-0/-home-user-Files/ee6286fd-c3b2-4b14-8095-789c5721c374/scratchpad/figs/out/f10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11185855" cy="24897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617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MANAGEMENT CAN RELY 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4937760"/>
            <a:ext cx="1503927" cy="1097280"/>
          </a:xfrm>
          <a:prstGeom prst="rect">
            <a:avLst/>
          </a:prstGeom>
          <a:solidFill>
            <a:srgbClr val="EFF6F5"/>
          </a:solidFill>
          <a:ln w="12700">
            <a:solidFill>
              <a:srgbClr val="EFF6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4937760"/>
            <a:ext cx="135762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depth from the start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116575" y="4937760"/>
            <a:ext cx="1503927" cy="1097280"/>
          </a:xfrm>
          <a:prstGeom prst="rect">
            <a:avLst/>
          </a:prstGeom>
          <a:solidFill>
            <a:srgbClr val="EFF6F5"/>
          </a:solidFill>
          <a:ln w="12700">
            <a:solidFill>
              <a:srgbClr val="EFF6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89727" y="4937760"/>
            <a:ext cx="135762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traceable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730229" y="4937760"/>
            <a:ext cx="1503927" cy="1097280"/>
          </a:xfrm>
          <a:prstGeom prst="rect">
            <a:avLst/>
          </a:prstGeom>
          <a:solidFill>
            <a:srgbClr val="EFF6F5"/>
          </a:solidFill>
          <a:ln w="12700">
            <a:solidFill>
              <a:srgbClr val="EFF6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03381" y="4937760"/>
            <a:ext cx="135762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drafting on assumptions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343884" y="4937760"/>
            <a:ext cx="1503927" cy="1097280"/>
          </a:xfrm>
          <a:prstGeom prst="rect">
            <a:avLst/>
          </a:prstGeom>
          <a:solidFill>
            <a:srgbClr val="EFF6F5"/>
          </a:solidFill>
          <a:ln w="12700">
            <a:solidFill>
              <a:srgbClr val="EFF6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17036" y="4937760"/>
            <a:ext cx="135762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agreed version of each fact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957539" y="4937760"/>
            <a:ext cx="1503927" cy="1097280"/>
          </a:xfrm>
          <a:prstGeom prst="rect">
            <a:avLst/>
          </a:prstGeom>
          <a:solidFill>
            <a:srgbClr val="EFF6F5"/>
          </a:solidFill>
          <a:ln w="12700">
            <a:solidFill>
              <a:srgbClr val="EFF6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30691" y="4937760"/>
            <a:ext cx="135762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decides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571194" y="4937760"/>
            <a:ext cx="1503927" cy="1097280"/>
          </a:xfrm>
          <a:prstGeom prst="rect">
            <a:avLst/>
          </a:prstGeom>
          <a:solidFill>
            <a:srgbClr val="EFF6F5"/>
          </a:solidFill>
          <a:ln w="12700">
            <a:solidFill>
              <a:srgbClr val="EFF6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44346" y="4937760"/>
            <a:ext cx="135762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agree by construction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0184848" y="4937760"/>
            <a:ext cx="1503927" cy="1097280"/>
          </a:xfrm>
          <a:prstGeom prst="rect">
            <a:avLst/>
          </a:prstGeom>
          <a:solidFill>
            <a:srgbClr val="EFF6F5"/>
          </a:solidFill>
          <a:ln w="12700">
            <a:solidFill>
              <a:srgbClr val="EFF6F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258000" y="4937760"/>
            <a:ext cx="135762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and approved by people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structure, three depths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is proportionate: short and usable for a micro business, audit-ready for a regulated group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Manuals Agent · Business Requirements ·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40135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6" name="Image 0" descr="/tmp/claude-0/-home-user-Files/ee6286fd-c3b2-4b14-8095-789c5721c374/scratchpad/figs/out/f11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11185855" cy="394126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Scope: what the agent will and will not 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 boundary for the development team. Anything outside needs a separate decision.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Manuals Agent · Business Requirements ·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40135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501488" cy="502920"/>
          </a:xfrm>
          <a:prstGeom prst="rect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513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WILL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5501488" cy="4297680"/>
          </a:xfrm>
          <a:prstGeom prst="rect">
            <a:avLst/>
          </a:prstGeom>
          <a:solidFill>
            <a:srgbClr val="EFF6F5"/>
          </a:solidFill>
          <a:ln w="12700">
            <a:solidFill>
              <a:srgbClr val="EFF6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116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01168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current operation, as confirmed by owners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52374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523744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ask when a required input is missing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035808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every item taken from a client document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54787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547872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missing charts, profiles, policies, controls and KPIs, clearly marked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05993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59936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BPMN, 5W1H narrative, RACI, rules, risk matrix, KPIs and forms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457200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components consistent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508406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5084064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conflicts and improvement ideas separately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59612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5596128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manual to the company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87288" y="1371600"/>
            <a:ext cx="5501488" cy="502920"/>
          </a:xfrm>
          <a:prstGeom prst="rect">
            <a:avLst/>
          </a:prstGeom>
          <a:solidFill>
            <a:srgbClr val="A8443A"/>
          </a:solidFill>
          <a:ln w="12700">
            <a:solidFill>
              <a:srgbClr val="A844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5888" y="1371600"/>
            <a:ext cx="513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will NOT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87288" y="1874520"/>
            <a:ext cx="5501488" cy="4297680"/>
          </a:xfrm>
          <a:prstGeom prst="rect">
            <a:avLst/>
          </a:prstGeom>
          <a:solidFill>
            <a:srgbClr val="F6E1DD"/>
          </a:solidFill>
          <a:ln w="12700">
            <a:solidFill>
              <a:srgbClr val="F6E1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5888" y="20116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35928" y="201168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 proposal as current practice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15888" y="252374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35928" y="2523744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 steps, roles, systems or timings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15888" y="303580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35928" y="3035808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individuals in flowcharts, RACI or controls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15888" y="354787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35928" y="3547872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pay, grading or performance judgements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15888" y="405993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35928" y="4059936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legal duties or retention periods without confirmation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15888" y="45720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35928" y="457200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approval amounts, thresholds or KPI targets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15888" y="508406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35928" y="5084064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processes beyond accepted improvements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15888" y="559612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735928" y="5596128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 compliance or replace client and consultant sign-off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will know it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for the built agent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Manuals Agent · Business Requirements ·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40135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593592" cy="182880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drafted with an incomplete required input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79392" y="1371600"/>
            <a:ext cx="3593592" cy="182880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5544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53712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working-draft items carry an origin tag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55864" y="1371600"/>
            <a:ext cx="3593592" cy="182880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0184" y="15544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330184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proposals in policies, accountabilities or controls in an approved edition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383280"/>
            <a:ext cx="3593592" cy="182880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566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77240" y="4297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flowchart tasks match a narrative step in number and wording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79392" y="3383280"/>
            <a:ext cx="3593592" cy="182880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3566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553712" y="4297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steps have exactly one Accountable role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55864" y="3383280"/>
            <a:ext cx="3593592" cy="1828800"/>
          </a:xfrm>
          <a:prstGeom prst="rect">
            <a:avLst/>
          </a:prstGeom>
          <a:solidFill>
            <a:srgbClr val="F5F8F8"/>
          </a:solidFill>
          <a:ln w="12700">
            <a:solidFill>
              <a:srgbClr val="F5F8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0184" y="3566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330184" y="4297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controls link to a step and an existing evidence form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5486400"/>
            <a:ext cx="11185855" cy="640080"/>
          </a:xfrm>
          <a:prstGeom prst="rect">
            <a:avLst/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48640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B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.bpmn file validates, no individual is named, and no manual is released without named client approval.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requested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548640" cy="548640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15544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input model: three required blocks, four optional inputs and the completeness gate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548640" cy="548640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65176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"client reality first" rules and the limits on what the agent may propose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840480"/>
            <a:ext cx="548640" cy="548640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374904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manual structure and output standards as the development blueprint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5394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phase: architecture mapping, using the BRD as the blueprint.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89520" y="1188720"/>
            <a:ext cx="4099255" cy="4846320"/>
          </a:xfrm>
          <a:prstGeom prst="rect">
            <a:avLst/>
          </a:prstGeom>
          <a:solidFill>
            <a:srgbClr val="1A4A52"/>
          </a:solidFill>
          <a:ln w="12700">
            <a:solidFill>
              <a:srgbClr val="1A4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1325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B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settle during architecture mapping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18120" y="1828800"/>
            <a:ext cx="3657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bands per country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and upkeep of the reference practice library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delivery: guided session, online form, or both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risk scale for small clients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signs the approved edition at the client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of the manual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 to validate BPMN files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Manuals Agent: Business Requirements</dc:title>
  <dc:subject>PptxGenJS Presentation</dc:subject>
  <dc:creator>PptxGenJS</dc:creator>
  <cp:lastModifiedBy>PptxGenJS</cp:lastModifiedBy>
  <cp:revision>1</cp:revision>
  <dcterms:created xsi:type="dcterms:W3CDTF">2026-09-29T12:12:50Z</dcterms:created>
  <dcterms:modified xsi:type="dcterms:W3CDTF">2026-09-29T12:12:50Z</dcterms:modified>
</cp:coreProperties>
</file>